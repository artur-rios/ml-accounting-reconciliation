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56" r:id="rId5"/>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59" r:id="rId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9E0"/>
    <a:srgbClr val="4E4E4F"/>
    <a:srgbClr val="171717"/>
    <a:srgbClr val="03A6AD"/>
    <a:srgbClr val="21409A"/>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344703-7D70-4FC7-AE44-DA5CCA88C3B6}" v="8" dt="2025-07-21T17:26:54.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126" autoAdjust="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t>F1-macro, cenário exato</a:t>
            </a:r>
          </a:p>
        </c:rich>
      </c:tx>
      <c:layout/>
      <c:overlay val="0"/>
    </c:title>
    <c:autoTitleDeleted val="0"/>
    <c:plotArea>
      <c:barChart>
        <c:barDir val="col"/>
        <c:grouping val="clustered"/>
        <c:ser>
          <c:idx val="0"/>
          <c:order val="0"/>
          <c:tx>
            <c:strRef>
              <c:f>Sheet1!$B$1</c:f>
              <c:strCache>
                <c:ptCount val="1"/>
                <c:pt idx="0">
                  <c:v>Random Forest</c:v>
                </c:pt>
              </c:strCache>
            </c:strRef>
          </c:tx>
          <c:spPr>
            <a:solidFill>
              <a:srgbClr val="0F5E66"/>
            </a:solidFill>
          </c:spPr>
          <c:dLbls>
            <c:dLbl>
              <c:idx val="0"/>
              <c:tx>
                <c:rich>
                  <a:bodyPr/>
                  <a:lstStyle/>
                  <a:p>
                    <a:r>
                      <a:rPr sz="1000">
                        <a:solidFill>
                          <a:srgbClr val="232322"/>
                        </a:solidFill>
                      </a:rPr>
                      <a:t>1,00</a:t>
                    </a:r>
                  </a:p>
                </c:rich>
              </c:tx>
              <c:dLblPos val="outEnd"/>
              <c:showLegendKey val="0"/>
              <c:showVal val="1"/>
              <c:showCatName val="0"/>
              <c:showSerName val="0"/>
              <c:showPercent val="0"/>
              <c:showBubbleSize val="0"/>
            </c:dLbl>
            <c:dLbl>
              <c:idx val="1"/>
              <c:tx>
                <c:rich>
                  <a:bodyPr/>
                  <a:lstStyle/>
                  <a:p>
                    <a:r>
                      <a:rPr sz="1000">
                        <a:solidFill>
                          <a:srgbClr val="232322"/>
                        </a:solidFill>
                      </a:rPr>
                      <a:t>1,00</a:t>
                    </a:r>
                  </a:p>
                </c:rich>
              </c:tx>
              <c:dLblPos val="outEnd"/>
              <c:showLegendKey val="0"/>
              <c:showVal val="1"/>
              <c:showCatName val="0"/>
              <c:showSerName val="0"/>
              <c:showPercent val="0"/>
              <c:showBubbleSize val="0"/>
            </c:dLbl>
            <c:dLbl>
              <c:idx val="2"/>
              <c:tx>
                <c:rich>
                  <a:bodyPr/>
                  <a:lstStyle/>
                  <a:p>
                    <a:r>
                      <a:rPr sz="1000">
                        <a:solidFill>
                          <a:srgbClr val="232322"/>
                        </a:solidFill>
                      </a:rPr>
                      <a:t>0,76</a:t>
                    </a:r>
                  </a:p>
                </c:rich>
              </c:tx>
              <c:dLblPos val="outEnd"/>
              <c:showLegendKey val="0"/>
              <c:showVal val="1"/>
              <c:showCatName val="0"/>
              <c:showSerName val="0"/>
              <c:showPercent val="0"/>
              <c:showBubbleSize val="0"/>
            </c:dLbl>
            <c:dLbl>
              <c:idx val="3"/>
              <c:tx>
                <c:rich>
                  <a:bodyPr/>
                  <a:lstStyle/>
                  <a:p>
                    <a:r>
                      <a:rPr sz="1000">
                        <a:solidFill>
                          <a:srgbClr val="232322"/>
                        </a:solidFill>
                      </a:rPr>
                      <a:t>0,50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Original</c:v>
                </c:pt>
                <c:pt idx="1">
                  <c:v>Sem sentinela</c:v>
                </c:pt>
                <c:pt idx="2">
                  <c:v>Sem vazamento</c:v>
                </c:pt>
                <c:pt idx="3">
                  <c:v>Sem vazamento
nem ISS</c:v>
                </c:pt>
              </c:strCache>
            </c:strRef>
          </c:cat>
          <c:val>
            <c:numRef>
              <c:f>Sheet1!$B$2:$B$5</c:f>
              <c:numCache>
                <c:formatCode>General</c:formatCode>
                <c:ptCount val="4"/>
                <c:pt idx="0">
                  <c:v>1.0</c:v>
                </c:pt>
                <c:pt idx="1">
                  <c:v>1.0</c:v>
                </c:pt>
                <c:pt idx="2">
                  <c:v>0.763</c:v>
                </c:pt>
                <c:pt idx="3">
                  <c:v>0.4976</c:v>
                </c:pt>
              </c:numCache>
            </c:numRef>
          </c:val>
        </c:ser>
        <c:ser>
          <c:idx val="1"/>
          <c:order val="1"/>
          <c:tx>
            <c:strRef>
              <c:f>Sheet1!$C$1</c:f>
              <c:strCache>
                <c:ptCount val="1"/>
                <c:pt idx="0">
                  <c:v>SVM</c:v>
                </c:pt>
              </c:strCache>
            </c:strRef>
          </c:tx>
          <c:spPr>
            <a:solidFill>
              <a:srgbClr val="5E9CA2"/>
            </a:solidFill>
          </c:spPr>
          <c:dLbls>
            <c:dLbl>
              <c:idx val="0"/>
              <c:tx>
                <c:rich>
                  <a:bodyPr/>
                  <a:lstStyle/>
                  <a:p>
                    <a:r>
                      <a:rPr sz="1000">
                        <a:solidFill>
                          <a:srgbClr val="232322"/>
                        </a:solidFill>
                      </a:rPr>
                      <a:t>0,89</a:t>
                    </a:r>
                  </a:p>
                </c:rich>
              </c:tx>
              <c:dLblPos val="outEnd"/>
              <c:showLegendKey val="0"/>
              <c:showVal val="1"/>
              <c:showCatName val="0"/>
              <c:showSerName val="0"/>
              <c:showPercent val="0"/>
              <c:showBubbleSize val="0"/>
            </c:dLbl>
            <c:dLbl>
              <c:idx val="1"/>
              <c:tx>
                <c:rich>
                  <a:bodyPr/>
                  <a:lstStyle/>
                  <a:p>
                    <a:r>
                      <a:rPr sz="1000">
                        <a:solidFill>
                          <a:srgbClr val="232322"/>
                        </a:solidFill>
                      </a:rPr>
                      <a:t>1,00</a:t>
                    </a:r>
                  </a:p>
                </c:rich>
              </c:tx>
              <c:dLblPos val="outEnd"/>
              <c:showLegendKey val="0"/>
              <c:showVal val="1"/>
              <c:showCatName val="0"/>
              <c:showSerName val="0"/>
              <c:showPercent val="0"/>
              <c:showBubbleSize val="0"/>
            </c:dLbl>
            <c:dLbl>
              <c:idx val="2"/>
              <c:tx>
                <c:rich>
                  <a:bodyPr/>
                  <a:lstStyle/>
                  <a:p>
                    <a:r>
                      <a:rPr sz="1000">
                        <a:solidFill>
                          <a:srgbClr val="232322"/>
                        </a:solidFill>
                      </a:rPr>
                      <a:t>0,78</a:t>
                    </a:r>
                  </a:p>
                </c:rich>
              </c:tx>
              <c:dLblPos val="outEnd"/>
              <c:showLegendKey val="0"/>
              <c:showVal val="1"/>
              <c:showCatName val="0"/>
              <c:showSerName val="0"/>
              <c:showPercent val="0"/>
              <c:showBubbleSize val="0"/>
            </c:dLbl>
            <c:dLbl>
              <c:idx val="3"/>
              <c:tx>
                <c:rich>
                  <a:bodyPr/>
                  <a:lstStyle/>
                  <a:p>
                    <a:r>
                      <a:rPr sz="1000">
                        <a:solidFill>
                          <a:srgbClr val="232322"/>
                        </a:solidFill>
                      </a:rPr>
                      <a:t>0,41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Original</c:v>
                </c:pt>
                <c:pt idx="1">
                  <c:v>Sem sentinela</c:v>
                </c:pt>
                <c:pt idx="2">
                  <c:v>Sem vazamento</c:v>
                </c:pt>
                <c:pt idx="3">
                  <c:v>Sem vazamento
nem ISS</c:v>
                </c:pt>
              </c:strCache>
            </c:strRef>
          </c:cat>
          <c:val>
            <c:numRef>
              <c:f>Sheet1!$C$2:$C$5</c:f>
              <c:numCache>
                <c:formatCode>General</c:formatCode>
                <c:ptCount val="4"/>
                <c:pt idx="0">
                  <c:v>0.8892</c:v>
                </c:pt>
                <c:pt idx="1">
                  <c:v>1.0</c:v>
                </c:pt>
                <c:pt idx="2">
                  <c:v>0.7837</c:v>
                </c:pt>
                <c:pt idx="3">
                  <c:v>0.4111</c:v>
                </c:pt>
              </c:numCache>
            </c:numRef>
          </c:val>
        </c:ser>
        <c:ser>
          <c:idx val="2"/>
          <c:order val="2"/>
          <c:tx>
            <c:strRef>
              <c:f>Sheet1!$D$1</c:f>
              <c:strCache>
                <c:ptCount val="1"/>
                <c:pt idx="0">
                  <c:v>Regressão Logística</c:v>
                </c:pt>
              </c:strCache>
            </c:strRef>
          </c:tx>
          <c:spPr>
            <a:solidFill>
              <a:srgbClr val="A9A9A4"/>
            </a:solidFill>
          </c:spPr>
          <c:dLbls>
            <c:dLbl>
              <c:idx val="0"/>
              <c:tx>
                <c:rich>
                  <a:bodyPr/>
                  <a:lstStyle/>
                  <a:p>
                    <a:r>
                      <a:rPr sz="1000">
                        <a:solidFill>
                          <a:srgbClr val="232322"/>
                        </a:solidFill>
                      </a:rPr>
                      <a:t>0,89</a:t>
                    </a:r>
                  </a:p>
                </c:rich>
              </c:tx>
              <c:dLblPos val="outEnd"/>
              <c:showLegendKey val="0"/>
              <c:showVal val="1"/>
              <c:showCatName val="0"/>
              <c:showSerName val="0"/>
              <c:showPercent val="0"/>
              <c:showBubbleSize val="0"/>
            </c:dLbl>
            <c:dLbl>
              <c:idx val="1"/>
              <c:tx>
                <c:rich>
                  <a:bodyPr/>
                  <a:lstStyle/>
                  <a:p>
                    <a:r>
                      <a:rPr sz="1000">
                        <a:solidFill>
                          <a:srgbClr val="232322"/>
                        </a:solidFill>
                      </a:rPr>
                      <a:t>1,00</a:t>
                    </a:r>
                  </a:p>
                </c:rich>
              </c:tx>
              <c:dLblPos val="outEnd"/>
              <c:showLegendKey val="0"/>
              <c:showVal val="1"/>
              <c:showCatName val="0"/>
              <c:showSerName val="0"/>
              <c:showPercent val="0"/>
              <c:showBubbleSize val="0"/>
            </c:dLbl>
            <c:dLbl>
              <c:idx val="2"/>
              <c:tx>
                <c:rich>
                  <a:bodyPr/>
                  <a:lstStyle/>
                  <a:p>
                    <a:r>
                      <a:rPr sz="1000">
                        <a:solidFill>
                          <a:srgbClr val="232322"/>
                        </a:solidFill>
                      </a:rPr>
                      <a:t>0,68</a:t>
                    </a:r>
                  </a:p>
                </c:rich>
              </c:tx>
              <c:dLblPos val="outEnd"/>
              <c:showLegendKey val="0"/>
              <c:showVal val="1"/>
              <c:showCatName val="0"/>
              <c:showSerName val="0"/>
              <c:showPercent val="0"/>
              <c:showBubbleSize val="0"/>
            </c:dLbl>
            <c:dLbl>
              <c:idx val="3"/>
              <c:tx>
                <c:rich>
                  <a:bodyPr/>
                  <a:lstStyle/>
                  <a:p>
                    <a:r>
                      <a:rPr sz="1000">
                        <a:solidFill>
                          <a:srgbClr val="232322"/>
                        </a:solidFill>
                      </a:rPr>
                      <a:t>0,46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Original</c:v>
                </c:pt>
                <c:pt idx="1">
                  <c:v>Sem sentinela</c:v>
                </c:pt>
                <c:pt idx="2">
                  <c:v>Sem vazamento</c:v>
                </c:pt>
                <c:pt idx="3">
                  <c:v>Sem vazamento
nem ISS</c:v>
                </c:pt>
              </c:strCache>
            </c:strRef>
          </c:cat>
          <c:val>
            <c:numRef>
              <c:f>Sheet1!$D$2:$D$5</c:f>
              <c:numCache>
                <c:formatCode>General</c:formatCode>
                <c:ptCount val="4"/>
                <c:pt idx="0">
                  <c:v>0.8892</c:v>
                </c:pt>
                <c:pt idx="1">
                  <c:v>1.0</c:v>
                </c:pt>
                <c:pt idx="2">
                  <c:v>0.6815</c:v>
                </c:pt>
                <c:pt idx="3">
                  <c:v>0.4608</c:v>
                </c:pt>
              </c:numCache>
            </c:numRef>
          </c:val>
        </c:ser>
        <c:dLbls>
          <c:numFmt formatCode="0.00" sourceLinked="0"/>
          <c:txPr>
            <a:bodyPr/>
            <a:lstStyle/>
            <a:p>
              <a:pPr>
                <a:defRPr sz="1000">
                  <a:solidFill>
                    <a:srgbClr val="232322"/>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C9C4"/>
            </a:solidFill>
          </a:ln>
        </c:spPr>
        <c:txPr>
          <a:bodyPr/>
          <a:lstStyle/>
          <a:p>
            <a:pPr>
              <a:defRPr sz="1200">
                <a:solidFill>
                  <a:srgbClr val="232322"/>
                </a:solidFill>
              </a:defRPr>
            </a:pPr>
          </a:p>
        </c:txPr>
        <c:crossAx val="-2113994440"/>
        <c:crosses val="autoZero"/>
        <c:auto val="1"/>
        <c:lblAlgn val="ctr"/>
        <c:lblOffset val="100"/>
        <c:noMultiLvlLbl val="0"/>
      </c:catAx>
      <c:valAx>
        <c:axId val="-2113994440"/>
        <c:scaling>
          <c:max val="1.15"/>
          <c:min val="0.0"/>
        </c:scaling>
        <c:delete val="0"/>
        <c:axPos val="l"/>
        <c:majorGridlines>
          <c:spPr>
            <a:ln>
              <a:solidFill>
                <a:srgbClr val="E4E4E0"/>
              </a:solidFill>
            </a:ln>
          </c:spPr>
        </c:majorGridlines>
        <c:majorTickMark val="out"/>
        <c:minorTickMark val="none"/>
        <c:tickLblPos val="none"/>
        <c:spPr>
          <a:ln>
            <a:noFill/>
          </a:ln>
        </c:spPr>
        <c:txPr>
          <a:bodyPr/>
          <a:lstStyle/>
          <a:p>
            <a:pPr>
              <a:defRPr sz="1100"/>
            </a:pPr>
          </a:p>
        </c:txPr>
        <c:crossAx val="-2068027336"/>
        <c:crosses val="autoZero"/>
        <c:majorUnit val="0.25"/>
      </c:valAx>
    </c:plotArea>
    <c:legend>
      <c:legendPos val="t"/>
      <c:overlay val="0"/>
      <c:txPr>
        <a:bodyPr/>
        <a:lstStyle/>
        <a:p>
          <a:pPr>
            <a:defRPr sz="1200"/>
          </a:pPr>
        </a:p>
      </c:txPr>
    </c:legend>
    <c:dispBlanksAs val="gap"/>
  </c:chart>
  <c:txPr>
    <a:bodyPr/>
    <a:lstStyle/>
    <a:p>
      <a:pPr>
        <a:defRPr sz="1200">
          <a:solidFill>
            <a:srgbClr val="5F5F5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t>Recall da classe de exceção, média de 10 execuções</a:t>
            </a:r>
          </a:p>
        </c:rich>
      </c:tx>
      <c:layout/>
      <c:overlay val="0"/>
    </c:title>
    <c:autoTitleDeleted val="0"/>
    <c:plotArea>
      <c:barChart>
        <c:barDir val="bar"/>
        <c:grouping val="clustered"/>
        <c:ser>
          <c:idx val="0"/>
          <c:order val="0"/>
          <c:tx>
            <c:strRef>
              <c:f>Sheet1!$B$1</c:f>
              <c:strCache>
                <c:ptCount val="1"/>
                <c:pt idx="0">
                  <c:v>Recall da exceção</c:v>
                </c:pt>
              </c:strCache>
            </c:strRef>
          </c:tx>
          <c:spPr>
            <a:solidFill>
              <a:srgbClr val="0F5E66"/>
            </a:solidFill>
          </c:spPr>
          <c:dPt>
            <c:idx val="0"/>
            <c:spPr>
              <a:solidFill>
                <a:srgbClr val="A9A9A4"/>
              </a:solidFill>
            </c:spPr>
          </c:dPt>
          <c:dPt>
            <c:idx val="1"/>
            <c:spPr>
              <a:solidFill>
                <a:srgbClr val="5E9CA2"/>
              </a:solidFill>
            </c:spPr>
          </c:dPt>
          <c:dLbls>
            <c:dLbl>
              <c:idx val="0"/>
              <c:tx>
                <c:rich>
                  <a:bodyPr/>
                  <a:lstStyle/>
                  <a:p>
                    <a:r>
                      <a:rPr sz="1400">
                        <a:solidFill>
                          <a:srgbClr val="232322"/>
                        </a:solidFill>
                      </a:rPr>
                      <a:t>77,0%</a:t>
                    </a:r>
                  </a:p>
                </c:rich>
              </c:tx>
              <c:dLblPos val="outEnd"/>
              <c:showLegendKey val="0"/>
              <c:showVal val="1"/>
              <c:showCatName val="0"/>
              <c:showSerName val="0"/>
              <c:showPercent val="0"/>
              <c:showBubbleSize val="0"/>
            </c:dLbl>
            <c:dLbl>
              <c:idx val="1"/>
              <c:tx>
                <c:rich>
                  <a:bodyPr/>
                  <a:lstStyle/>
                  <a:p>
                    <a:r>
                      <a:rPr sz="1400">
                        <a:solidFill>
                          <a:srgbClr val="232322"/>
                        </a:solidFill>
                      </a:rPr>
                      <a:t>80,0%</a:t>
                    </a:r>
                  </a:p>
                </c:rich>
              </c:tx>
              <c:dLblPos val="outEnd"/>
              <c:showLegendKey val="0"/>
              <c:showVal val="1"/>
              <c:showCatName val="0"/>
              <c:showSerName val="0"/>
              <c:showPercent val="0"/>
              <c:showBubbleSize val="0"/>
            </c:dLbl>
            <c:dLbl>
              <c:idx val="2"/>
              <c:tx>
                <c:rich>
                  <a:bodyPr/>
                  <a:lstStyle/>
                  <a:p>
                    <a:r>
                      <a:rPr sz="1400">
                        <a:solidFill>
                          <a:srgbClr val="232322"/>
                        </a:solidFill>
                      </a:rPr>
                      <a:t>82,2%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Regressão Logística</c:v>
                </c:pt>
                <c:pt idx="1">
                  <c:v>SVM</c:v>
                </c:pt>
                <c:pt idx="2">
                  <c:v>Random Forest</c:v>
                </c:pt>
              </c:strCache>
            </c:strRef>
          </c:cat>
          <c:val>
            <c:numRef>
              <c:f>Sheet1!$B$2:$B$4</c:f>
              <c:numCache>
                <c:formatCode>General</c:formatCode>
                <c:ptCount val="3"/>
                <c:pt idx="0">
                  <c:v>0.7698</c:v>
                </c:pt>
                <c:pt idx="1">
                  <c:v>0.8002</c:v>
                </c:pt>
                <c:pt idx="2">
                  <c:v>0.8216</c:v>
                </c:pt>
              </c:numCache>
            </c:numRef>
          </c:val>
        </c:ser>
        <c:dLbls>
          <c:numFmt formatCode="0.0%" sourceLinked="0"/>
          <c:txPr>
            <a:bodyPr/>
            <a:lstStyle/>
            <a:p>
              <a:pPr>
                <a:defRPr sz="1400">
                  <a:solidFill>
                    <a:srgbClr val="232322"/>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l"/>
        <c:majorTickMark val="out"/>
        <c:minorTickMark val="none"/>
        <c:tickLblPos val="nextTo"/>
        <c:spPr>
          <a:ln>
            <a:solidFill>
              <a:srgbClr val="C9C9C4"/>
            </a:solidFill>
          </a:ln>
        </c:spPr>
        <c:txPr>
          <a:bodyPr/>
          <a:lstStyle/>
          <a:p>
            <a:pPr>
              <a:defRPr sz="1400">
                <a:solidFill>
                  <a:srgbClr val="232322"/>
                </a:solidFil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E4E4E0"/>
              </a:solidFill>
            </a:ln>
          </c:spPr>
        </c:majorGridlines>
        <c:numFmt formatCode="0%" sourceLinked="0"/>
        <c:majorTickMark val="out"/>
        <c:minorTickMark val="none"/>
        <c:tickLblPos val="nextTo"/>
        <c:spPr>
          <a:ln>
            <a:noFill/>
          </a:ln>
        </c:spPr>
        <c:txPr>
          <a:bodyPr/>
          <a:lstStyle/>
          <a:p>
            <a:pPr>
              <a:defRPr sz="1100"/>
            </a:pPr>
          </a:p>
        </c:txPr>
        <c:crossAx val="-2068027336"/>
        <c:crosses val="autoZero"/>
        <c:majorUnit val="0.25"/>
      </c:valAx>
    </c:plotArea>
    <c:dispBlanksAs val="gap"/>
  </c:chart>
  <c:txPr>
    <a:bodyPr/>
    <a:lstStyle/>
    <a:p>
      <a:pPr>
        <a:defRPr sz="1200">
          <a:solidFill>
            <a:srgbClr val="5F5F5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207FDC-4B2D-43F1-B377-81BD384841A2}" type="datetimeFigureOut">
              <a:rPr lang="pt-BR" smtClean="0"/>
              <a:t>29/09/2025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9A67A-3551-4367-AAFF-90E156F8C50B}" type="slidenum">
              <a:rPr lang="pt-BR" smtClean="0"/>
              <a:t>‹nº›</a:t>
            </a:fld>
            <a:endParaRPr lang="pt-BR"/>
          </a:p>
        </p:txBody>
      </p:sp>
    </p:spTree>
    <p:extLst>
      <p:ext uri="{BB962C8B-B14F-4D97-AF65-F5344CB8AC3E}">
        <p14:creationId xmlns:p14="http://schemas.microsoft.com/office/powerpoint/2010/main" val="2097775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Apresentação do TCC do MBA em Engenharia de Software (USP/ESALQ).</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maior parte da minha carreira como desenvolvedor de software, trabalhei em consultorias. Por isso, tive oportunidade de trabalhar em três das maiores instituições financeiras do país. Em duas delas, encontrei um problema semelhante: a conciliação contábil.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conciliação contábil é o processo de comparar e verificar se os saldos registrados na contabilidade de uma empresa estão de acordo com os extratos, documentos e registros externos (como bancos, fornecedores e clientes).</a:t>
            </a:r>
          </a:p>
          <a:p>
            <a:r>
              <a:t>Em termos simples: é conferir se o que está no livro contábil bate com a realidade financeira.</a:t>
            </a:r>
          </a:p>
          <a:p>
            <a:r>
              <a:t>Ela serve para:</a:t>
            </a:r>
          </a:p>
          <a:p/>
          <a:p>
            <a:r>
              <a:t>- Identificar erros ou inconsistências.</a:t>
            </a:r>
          </a:p>
          <a:p>
            <a:r>
              <a:t>- Garantir que os registros estejam corretos e confiáveis.</a:t>
            </a:r>
          </a:p>
          <a:p>
            <a:r>
              <a:t>- Apoiar a tomada de decisão com informações precisas.</a:t>
            </a:r>
          </a:p>
          <a:p>
            <a:r>
              <a:t>- Permitir que sejam realizadas auditorias.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primeiro caso que encontrei, era necessário conciliar mensagens do sistema Swift com operações registradas no sistema da instituição. Porém a chave usada para conciliar não era padronizada, pois vinha de diversas instituições diferentes ao redor do mundo, e cada uma enviava à sua maneira. O desafio, então, consistia em identificar essas chaves e compará-las com os registros internos. As chaves consistiam de textos representando o nome do destinatário da remessa, e foi desenvolvido um sistema que comparava o texto com os registros internos usando um algoritmo de similaridade, que gerava um percentual. Se o percentual atingisse um valor considerado suficiente, o registro era conciliado.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segundo caso, diversos registros eram periodicamente enviados de instituições que atuam no mercado financeiro, como B3 e CETIP. Esses registros vinham em diversos formatos: tabelas de Excel, arquivos de texto, arquivos CSV, PDFs, etc. Foi criado então um sistema ETL, que padronizava todos esses arquivos em CSV, processava os dados, executava a conciliação e devolvia um resultado para cada arquivo. Esse sistema dependia que o layout dos arquivos de entrada fosse sempre no mesmo padrão, o que nem sempre acontecia, e falhas eram frequentes. Trabalhei num projeto que visava modernizar esse sistema, usando metadados para padronizar os dados e executar as conciliações. No fim, o sistema atual era sujeito a falhas e a solução nova tinha um custo para funcionar em cloud e alta complexidade.</a:t>
            </a:r>
          </a:p>
          <a:p/>
          <a:p>
            <a:r>
              <a:t>Nos dois casos, a lógica de conciliação era uma regra escrita à mão: um limiar de similaridade no primeiro, um layout fixo no segundo. Quando a realidade fugia da regra, o sistema falhava.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intenção deste projeto é trazer uma nova abordagem para resolução deste problema. Esta abordagem é através da aplicação de uma pipeline ETL aliada a um algoritmo de Machine Learning. O projeto visa não só demonstrar que a resolução deste problema é possível com essa abordagem, como também definir, dentre 3 diferentes algoritmos (Random Forest, SVM ou Regressão Logística), qual deles é mais eficiente para chegar a esta resolução.</a:t>
            </a:r>
          </a:p>
          <a:p/>
          <a:p>
            <a:r>
              <a:t>A pergunta de pesquisa ficou assim: qual algoritmo melhor automatiza a conciliação entre pagamentos e notas fiscais de serviço, e quanto do desempenho observado vem do algoritmo e quanto vem da forma como os dados são representados?</a:t>
            </a:r>
          </a:p>
          <a:p/>
          <a:p>
            <a:r>
              <a:t>E a hipótese era a de que o Machine Learning, junto com um processo de ETL, não apenas automatizaria a conciliação, como também melhoraria a sua qualidade, encontrando inconsistências que escapariam de uma abordagem baseada em regras.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não existe uma base contábil real e pública com rótulos auditados, os dados foram simulados. Simulei duas fontes diferentes, como acontece na prática:</a:t>
            </a:r>
          </a:p>
          <a:p/>
          <a:p>
            <a:r>
              <a:t>- Uma planilha Excel com 7.500 pagamentos a fornecedores.</a:t>
            </a:r>
          </a:p>
          <a:p>
            <a:r>
              <a:t>- As notas fiscais de serviço eletrônicas correspondentes (NFS-e), em XML no padrão ABRASF, com CNPJs válidos, códigos de município do IBGE e cálculo de ISS.</a:t>
            </a:r>
          </a:p>
          <a:p/>
          <a:p>
            <a:r>
              <a:t>Cerca de 70% dos pagamentos tinham uma nota que batia, e 30% tinham algum problema: CNPJ errado, nota inexistente, divergência de data ou divergência de valor.</a:t>
            </a:r>
          </a:p>
          <a:p/>
          <a:p>
            <a:r>
              <a:t>Esses dados passaram por uma pipeline ETL: carga das duas fontes, limpeza e padronização de CNPJs, datas e valores, e rotulagem de cada registro como conciliado ou não conciliado. A partir daí, foram criados os atributos que o modelo usa, como a diferença de dias entre pagamento e nota e a diferença percentual de valor.</a:t>
            </a:r>
          </a:p>
          <a:p/>
          <a:p>
            <a:r>
              <a:t>Os três algoritmos foram treinados com busca de hiperparâmetros e validação cruzada de 5 partições, usando a biblioteca scikit-learn. Todo o projeto é reproduzível: os parâmetros ficam num arquivo de configuração e a semente aleatória é fixa.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primeiro resultado parecia excelente. A Random Forest acertou 100% dos casos, em todas as métricas, nos dois cenários testados. SVM e Regressão Logística ficaram em torno de 89% de F1-macro.</a:t>
            </a:r>
          </a:p>
          <a:p/>
          <a:p>
            <a:r>
              <a:t>A leitura óbvia seria: "a Random Forest é o melhor algoritmo para conciliação". Mas um acerto de 100%, com desvio-padrão zero na validação cruzada, não é normal. Isso é um sinal de alarme, não um sucesso.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Investigando o código, encontrei a causa. O rótulo era definido por uma regra: o registro é conciliado se a diferença de dias e a diferença de valor estão dentro da tolerância. E essas mesmas duas grandezas eram entregues ao modelo como atributos. Ou seja, o modelo não estava aprendendo a conciliar, estava apenas redescobrindo a regra que gerou o rótulo. Isso tem nome na literatura: vazamento de rótulo (label leakage). Não por acaso, essas duas variáveis concentravam cerca de 87% da importância do modelo.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medir esse problema, fiz um experimento de ablação: mantive os dados, a divisão e os hiperparâmetros, e mudei apenas a representação das variáveis.</a:t>
            </a:r>
          </a:p>
          <a:p/>
          <a:p>
            <a:r>
              <a:t>Removendo as variáveis da regra, o F1 da Random Forest caiu de 1,00 para 0,76, e a ordem dos algoritmos se inverteu: o SVM passou à frente. Removendo também as variáveis de ISS, que só indicavam se a nota existia, o desempenho caiu para perto do acaso. Sem o vazamento, os modelos só conseguiam detectar pagamentos sem nota fiscal, o que uma consulta SQL de uma linha já faz.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diferença entre os algoritmos era um artefato. Pagamentos sem nota recebiam um valor-sentinela de 9999 dias. Na padronização de escala, esse valor esmagava toda a faixa útil de 0 a 30 dias em menos de 0,01 desvio-padrão. Para o SVM e a Regressão Logística, pagar no dia certo ou 30 dias depois ficou indistinguível. Troquei a sentinela por um indicador explícito de "tem nota ou não", e os três algoritmos chegaram a 100%. A vantagem de 11 pontos da Random Forest desapareceu com uma única mudança de pré-processamento.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Esse experimento revelou também algo sobre a natureza dos erros. SVM e Regressão Logística cometeram 128 falsos positivos e nenhum falso negativo, e todos os 128 eram divergências de data.</a:t>
            </a:r>
          </a:p>
          <a:p/>
          <a:p>
            <a:r>
              <a:t>Em conciliação, esses dois erros não têm o mesmo peso:</a:t>
            </a:r>
          </a:p>
          <a:p/>
          <a:p>
            <a:r>
              <a:t>- Falso negativo: um pagamento correto vai para revisão manual. Gera trabalho, mas o controle continua íntegro.</a:t>
            </a:r>
          </a:p>
          <a:p>
            <a:r>
              <a:t>- Falso positivo: uma divergência é aprovada automaticamente e ninguém nunca mais olha para ela. A divergência é silenciada.</a:t>
            </a:r>
          </a:p>
          <a:p/>
          <a:p>
            <a:r>
              <a:t>A própria norma brasileira de auditoria, a NBC TA 530, faz essa distinção: um erro afeta a eficácia da auditoria, o outro só a eficiência. Por isso, a métrica certa para escolher um modelo de conciliação não é acurácia nem F1, mas o recall da classe de exceção, respeitando uma precisão mínima.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 esses aprendizados, reconstruí o experimento para responder de fato à pergunta de pesquisa. Três mudanças:</a:t>
            </a:r>
          </a:p>
          <a:p/>
          <a:p>
            <a:r>
              <a:t>1. O rótulo vem do gerador, não de uma regra sobre os atributos. O simulador sabe qual pagamento quita qual nota, e o rótulo diz apenas se aquele par é verdadeiro.</a:t>
            </a:r>
          </a:p>
          <a:p>
            <a:r>
              <a:t>2. Pares verdadeiros deixam de ser cópias. O valor pago é derivado da nota aplicando retenções tributárias reais (IRRF, CSRF, ISS, INSS), e cada fornecedor tem um prazo de pagamento característico. Assim, uma diferença de valor pode ser legítima, e o modelo precisa aprender a distinguir.</a:t>
            </a:r>
          </a:p>
          <a:p>
            <a:r>
              <a:t>3. O modelo é escolhido pelo recall de exceções, com precisão mínima de 90%.</a:t>
            </a:r>
          </a:p>
          <a:p/>
          <a:p>
            <a:r>
              <a:t>Além disso, criei um guarda anti-vazamento: antes de treinar, ele testa cada variável sozinha e interrompe a execução se alguma separar as classes com mais de 95% de acurácia. Nesse experimento, a melhor variável isolada chegou a 82%, então a tarefa era genuína. O experimento foi repetido em 10 bases independentes, com testes estatísticos.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Agora sim, com uma comparação válida, a Random Forest venceu: detectou 82,2% das exceções, contra 80,0% do SVM e 77,0% da Regressão Logística, encaminhando cerca de 27% dos registros para revisão manual.</a:t>
            </a:r>
          </a:p>
          <a:p/>
          <a:p>
            <a:r>
              <a:t>A diferença é estatisticamente significativa: o teste de Friedman rejeitou a equivalência entre os três, e as comparações par a par confirmaram a ordem nas 10 execuções. E a vantagem não foi obtida às custas de precisão: sobre a precisão, os três são estatisticamente equivalentes.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Traduzindo em unidades de controle interno: em 15.000 pagamentos, trocar a Random Forest pela Regressão Logística deixa passar 233 divergências a mais. Mas a margem é estreita: são pouco mais de 5 pontos entre o melhor e o pior. Isso significa que critérios como interpretabilidade e custo também podem legitimamente pesar na escolha.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 algoritmo? Com rótulo independente e o critério certo, a Random Forest, por margem estreita.</a:t>
            </a:r>
          </a:p>
          <a:p/>
          <a:p>
            <a:r>
              <a:t>Algoritmo ou representação? A representação dos dados e a origem do rótulo pesaram mais do que o algoritmo. No primeiro experimento, toda a diferença entre eles vinha da forma como a ausência de nota era codificada.</a:t>
            </a:r>
          </a:p>
          <a:p/>
          <a:p>
            <a:r>
              <a:t>A hipótese se confirmou? Em parte. Onde a regra de conciliação é conhecida, o Machine Learning não melhorou nada: apenas reproduziu a regra, com mais custo e menos transparência. Onde a evidência é ambígua, os modelos automatizaram a triagem de exceções com precisão controlada. Mas, como não comparei diretamente com uma solução baseada em regras nesse cenário, a superioridade sobre ela ainda não está demonstrada.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Voltando às instituições financeiras do início, estas são as lições que eu levaria para um projeto real:</a:t>
            </a:r>
          </a:p>
          <a:p/>
          <a:p>
            <a:r>
              <a:t>- Se a regra de conciliação é conhecida e determinística, implemente a regra. ML só vale a pena onde a regra é desconhecida, instável ou difícil de escrever, como textos livres (o caso do Swift), pareamentos de muitos-para-muitos e priorização de exceções por risco.</a:t>
            </a:r>
          </a:p>
          <a:p>
            <a:r>
              <a:t>- Acurácia muito alta em conciliação deve disparar uma auditoria do rótulo, não uma comemoração.</a:t>
            </a:r>
          </a:p>
          <a:p>
            <a:r>
              <a:t>- Nenhuma variável usada para gerar o rótulo pode ser usada como atributo.</a:t>
            </a:r>
          </a:p>
          <a:p>
            <a:r>
              <a:t>- Use um indicador explícito para "não encontrado", e não valores-sentinela.</a:t>
            </a:r>
          </a:p>
          <a:p>
            <a:r>
              <a:t>- Escolha o modelo pelo recall de exceções sob uma precisão mínima.</a:t>
            </a:r>
          </a:p>
          <a:p>
            <a:r>
              <a:t>- Olhe a matriz de confusão, não só as métricas agregadas.</a:t>
            </a:r>
          </a:p>
          <a:p/>
          <a:p>
            <a:r>
              <a:t>O repositório também entrega um gerador de dados sintéticos de conciliação fiscal brasileira e o guarda anti-vazamento, que podem ser reutilizados em outros projetos.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 importante reconhecer os limites do trabalho:</a:t>
            </a:r>
          </a:p>
          <a:p/>
          <a:p>
            <a:r>
              <a:t>- Os dados são simulados. O próximo passo natural é validar com uma base real, rotulada por especialistas.</a:t>
            </a:r>
          </a:p>
          <a:p>
            <a:r>
              <a:t>- O pareamento é um-para-um. Na prática, um pagamento pode quitar várias notas e uma nota pode ser paga em parcelas.</a:t>
            </a:r>
          </a:p>
          <a:p>
            <a:r>
              <a:t>- Faltou comparar com uma linha de base por regras e com métodos não supervisionados, como detecção de anomalias, que não dependem de rótulo.</a:t>
            </a:r>
          </a:p>
          <a:p/>
          <a:p>
            <a:r>
              <a:t>Também aprendi que cada ferramenta de verificação só enxerga o tipo de falha para o qual foi construída. O guarda anti-vazamento, por exemplo, não detectou outros dois defeitos que encontrei ao longo do trabalho. A revisão crítica do código continua insubstituível.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Comecei este trabalho querendo descobrir qual algoritmo resolve a conciliação contábil. Termino com uma resposta, a Random Forest, mas com uma lição mais importante: na conciliação automatizada, a forma como representamos os dados e a origem do rótulo pesam mais do que a escolha do algoritmo.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Agradeço a atenção.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C82E5F-87D5-C175-E573-F8D1A1BD33A9}"/>
              </a:ext>
            </a:extLst>
          </p:cNvPr>
          <p:cNvSpPr>
            <a:spLocks noGrp="1"/>
          </p:cNvSpPr>
          <p:nvPr>
            <p:ph type="ctrTitle"/>
          </p:nvPr>
        </p:nvSpPr>
        <p:spPr>
          <a:xfrm>
            <a:off x="900000" y="2337598"/>
            <a:ext cx="10392000" cy="590931"/>
          </a:xfrm>
        </p:spPr>
        <p:txBody>
          <a:bodyPr anchor="b"/>
          <a:lstStyle>
            <a:lvl1pPr algn="ctr">
              <a:defRPr sz="3600">
                <a:solidFill>
                  <a:srgbClr val="171717"/>
                </a:solidFill>
              </a:defRPr>
            </a:lvl1pPr>
          </a:lstStyle>
          <a:p>
            <a:r>
              <a:rPr lang="pt-BR" dirty="0"/>
              <a:t>Clique para editar o título Mestre</a:t>
            </a:r>
          </a:p>
        </p:txBody>
      </p:sp>
      <p:sp>
        <p:nvSpPr>
          <p:cNvPr id="3" name="Subtítulo 2">
            <a:extLst>
              <a:ext uri="{FF2B5EF4-FFF2-40B4-BE49-F238E27FC236}">
                <a16:creationId xmlns:a16="http://schemas.microsoft.com/office/drawing/2014/main" id="{9B53208E-9F58-C72A-11CD-D466F37A9EC1}"/>
              </a:ext>
            </a:extLst>
          </p:cNvPr>
          <p:cNvSpPr>
            <a:spLocks noGrp="1"/>
          </p:cNvSpPr>
          <p:nvPr>
            <p:ph type="subTitle" idx="1"/>
          </p:nvPr>
        </p:nvSpPr>
        <p:spPr>
          <a:xfrm>
            <a:off x="900000" y="3290933"/>
            <a:ext cx="10392000" cy="424732"/>
          </a:xfrm>
        </p:spPr>
        <p:txBody>
          <a:bodyPr/>
          <a:lstStyle>
            <a:lvl1pPr marL="0" indent="0" algn="ctr">
              <a:buNone/>
              <a:defRPr sz="2400">
                <a:solidFill>
                  <a:schemeClr val="tx1">
                    <a:lumMod val="90000"/>
                    <a:lumOff val="1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Clique para editar o estilo do subtítulo Mestre</a:t>
            </a:r>
          </a:p>
        </p:txBody>
      </p:sp>
      <p:sp>
        <p:nvSpPr>
          <p:cNvPr id="4" name="Espaço Reservado para Número de Slide 5">
            <a:extLst>
              <a:ext uri="{FF2B5EF4-FFF2-40B4-BE49-F238E27FC236}">
                <a16:creationId xmlns:a16="http://schemas.microsoft.com/office/drawing/2014/main" id="{D9636C7B-A6DA-EDB0-4F83-8E8C3711E2C4}"/>
              </a:ext>
            </a:extLst>
          </p:cNvPr>
          <p:cNvSpPr>
            <a:spLocks noGrp="1"/>
          </p:cNvSpPr>
          <p:nvPr>
            <p:ph type="sldNum" sz="quarter" idx="4"/>
          </p:nvPr>
        </p:nvSpPr>
        <p:spPr>
          <a:xfrm>
            <a:off x="9263652" y="6352997"/>
            <a:ext cx="2743200" cy="365125"/>
          </a:xfrm>
          <a:prstGeom prst="rect">
            <a:avLst/>
          </a:prstGeom>
        </p:spPr>
        <p:txBody>
          <a:bodyPr vert="horz" lIns="91440" tIns="45720" rIns="91440" bIns="45720" rtlCol="0" anchor="ctr"/>
          <a:lstStyle>
            <a:lvl1pPr algn="r">
              <a:defRPr sz="1200">
                <a:solidFill>
                  <a:srgbClr val="808080"/>
                </a:solidFill>
                <a:latin typeface="Arial" panose="020B0604020202020204" pitchFamily="34" charset="0"/>
                <a:cs typeface="Arial" panose="020B0604020202020204" pitchFamily="34" charset="0"/>
              </a:defRPr>
            </a:lvl1pPr>
          </a:lstStyle>
          <a:p>
            <a:fld id="{7B58D627-8645-4500-8107-4CE8680A0AB8}" type="slidenum">
              <a:rPr lang="pt-BR" smtClean="0"/>
              <a:pPr/>
              <a:t>‹nº›</a:t>
            </a:fld>
            <a:endParaRPr lang="pt-BR"/>
          </a:p>
        </p:txBody>
      </p:sp>
    </p:spTree>
    <p:extLst>
      <p:ext uri="{BB962C8B-B14F-4D97-AF65-F5344CB8AC3E}">
        <p14:creationId xmlns:p14="http://schemas.microsoft.com/office/powerpoint/2010/main" val="2452730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604140-E96B-CA39-E4B7-3C1C1C28305B}"/>
              </a:ext>
            </a:extLst>
          </p:cNvPr>
          <p:cNvSpPr>
            <a:spLocks noGrp="1"/>
          </p:cNvSpPr>
          <p:nvPr>
            <p:ph type="title"/>
          </p:nvPr>
        </p:nvSpPr>
        <p:spPr/>
        <p:txBody>
          <a:bodyPr/>
          <a:lstStyle>
            <a:lvl1pPr>
              <a:defRPr>
                <a:solidFill>
                  <a:srgbClr val="171717"/>
                </a:solidFil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059583B8-5706-BBFA-5043-7F1E2EBD8598}"/>
              </a:ext>
            </a:extLst>
          </p:cNvPr>
          <p:cNvSpPr>
            <a:spLocks noGrp="1"/>
          </p:cNvSpPr>
          <p:nvPr>
            <p:ph idx="1"/>
          </p:nvPr>
        </p:nvSpPr>
        <p:spPr/>
        <p:txBody>
          <a:bodyPr/>
          <a:lstStyle>
            <a:lvl1pPr>
              <a:defRPr>
                <a:solidFill>
                  <a:schemeClr val="tx1">
                    <a:lumMod val="90000"/>
                    <a:lumOff val="10000"/>
                  </a:schemeClr>
                </a:solidFill>
              </a:defRPr>
            </a:lvl1pPr>
            <a:lvl2pPr>
              <a:defRPr>
                <a:solidFill>
                  <a:schemeClr val="tx1">
                    <a:lumMod val="90000"/>
                    <a:lumOff val="10000"/>
                  </a:schemeClr>
                </a:solidFill>
              </a:defRPr>
            </a:lvl2pPr>
            <a:lvl3pPr>
              <a:defRPr>
                <a:solidFill>
                  <a:schemeClr val="tx1">
                    <a:lumMod val="90000"/>
                    <a:lumOff val="10000"/>
                  </a:schemeClr>
                </a:solidFill>
              </a:defRPr>
            </a:lvl3pPr>
            <a:lvl4pPr>
              <a:defRPr>
                <a:solidFill>
                  <a:schemeClr val="tx1">
                    <a:lumMod val="90000"/>
                    <a:lumOff val="10000"/>
                  </a:schemeClr>
                </a:solidFill>
              </a:defRPr>
            </a:lvl4pPr>
            <a:lvl5pPr>
              <a:defRPr>
                <a:solidFill>
                  <a:schemeClr val="tx1">
                    <a:lumMod val="90000"/>
                    <a:lumOff val="10000"/>
                  </a:schemeClr>
                </a:solidFill>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Número de Slide 5">
            <a:extLst>
              <a:ext uri="{FF2B5EF4-FFF2-40B4-BE49-F238E27FC236}">
                <a16:creationId xmlns:a16="http://schemas.microsoft.com/office/drawing/2014/main" id="{4E6040CA-EA5F-A532-ADE8-3DF92A0ED4E4}"/>
              </a:ext>
            </a:extLst>
          </p:cNvPr>
          <p:cNvSpPr>
            <a:spLocks noGrp="1"/>
          </p:cNvSpPr>
          <p:nvPr>
            <p:ph type="sldNum" sz="quarter" idx="4"/>
          </p:nvPr>
        </p:nvSpPr>
        <p:spPr>
          <a:xfrm>
            <a:off x="9263652" y="6352997"/>
            <a:ext cx="2743200" cy="365125"/>
          </a:xfrm>
          <a:prstGeom prst="rect">
            <a:avLst/>
          </a:prstGeom>
        </p:spPr>
        <p:txBody>
          <a:bodyPr vert="horz" lIns="91440" tIns="45720" rIns="91440" bIns="45720" rtlCol="0" anchor="ctr"/>
          <a:lstStyle>
            <a:lvl1pPr algn="r">
              <a:defRPr sz="1200">
                <a:solidFill>
                  <a:srgbClr val="808080"/>
                </a:solidFill>
                <a:latin typeface="Arial" panose="020B0604020202020204" pitchFamily="34" charset="0"/>
                <a:cs typeface="Arial" panose="020B0604020202020204" pitchFamily="34" charset="0"/>
              </a:defRPr>
            </a:lvl1pPr>
          </a:lstStyle>
          <a:p>
            <a:fld id="{7B58D627-8645-4500-8107-4CE8680A0AB8}" type="slidenum">
              <a:rPr lang="pt-BR" smtClean="0"/>
              <a:pPr/>
              <a:t>‹nº›</a:t>
            </a:fld>
            <a:endParaRPr lang="pt-BR"/>
          </a:p>
        </p:txBody>
      </p:sp>
    </p:spTree>
    <p:extLst>
      <p:ext uri="{BB962C8B-B14F-4D97-AF65-F5344CB8AC3E}">
        <p14:creationId xmlns:p14="http://schemas.microsoft.com/office/powerpoint/2010/main" val="3088007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F148CE-75BB-BCE8-0745-77629C884A4A}"/>
              </a:ext>
            </a:extLst>
          </p:cNvPr>
          <p:cNvSpPr>
            <a:spLocks noGrp="1"/>
          </p:cNvSpPr>
          <p:nvPr>
            <p:ph type="title"/>
          </p:nvPr>
        </p:nvSpPr>
        <p:spPr>
          <a:xfrm>
            <a:off x="540000" y="4293429"/>
            <a:ext cx="10752000" cy="590931"/>
          </a:xfrm>
        </p:spPr>
        <p:txBody>
          <a:bodyPr anchor="b"/>
          <a:lstStyle>
            <a:lvl1pPr>
              <a:defRPr sz="3600">
                <a:solidFill>
                  <a:srgbClr val="171717"/>
                </a:solidFill>
              </a:defRPr>
            </a:lvl1pPr>
          </a:lstStyle>
          <a:p>
            <a:r>
              <a:rPr lang="pt-BR" dirty="0"/>
              <a:t>Clique para editar o título Mestre</a:t>
            </a:r>
          </a:p>
        </p:txBody>
      </p:sp>
      <p:sp>
        <p:nvSpPr>
          <p:cNvPr id="3" name="Espaço Reservado para Texto 2">
            <a:extLst>
              <a:ext uri="{FF2B5EF4-FFF2-40B4-BE49-F238E27FC236}">
                <a16:creationId xmlns:a16="http://schemas.microsoft.com/office/drawing/2014/main" id="{191E09F8-714A-960F-F7E4-C3A867C12A98}"/>
              </a:ext>
            </a:extLst>
          </p:cNvPr>
          <p:cNvSpPr>
            <a:spLocks noGrp="1"/>
          </p:cNvSpPr>
          <p:nvPr>
            <p:ph type="body" idx="1"/>
          </p:nvPr>
        </p:nvSpPr>
        <p:spPr>
          <a:xfrm>
            <a:off x="540000" y="5247046"/>
            <a:ext cx="10752000" cy="424732"/>
          </a:xfrm>
        </p:spPr>
        <p:txBody>
          <a:bodyPr/>
          <a:lstStyle>
            <a:lvl1pPr marL="0" indent="0">
              <a:buNone/>
              <a:defRPr sz="2400">
                <a:solidFill>
                  <a:schemeClr val="tx1">
                    <a:lumMod val="90000"/>
                    <a:lumOff val="1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dirty="0"/>
              <a:t>Clique para editar os estilos de texto Mestres</a:t>
            </a:r>
          </a:p>
        </p:txBody>
      </p:sp>
      <p:sp>
        <p:nvSpPr>
          <p:cNvPr id="4" name="Espaço Reservado para Número de Slide 5">
            <a:extLst>
              <a:ext uri="{FF2B5EF4-FFF2-40B4-BE49-F238E27FC236}">
                <a16:creationId xmlns:a16="http://schemas.microsoft.com/office/drawing/2014/main" id="{327B91B4-2CD6-0B33-1CA4-46978E4E8EA4}"/>
              </a:ext>
            </a:extLst>
          </p:cNvPr>
          <p:cNvSpPr>
            <a:spLocks noGrp="1"/>
          </p:cNvSpPr>
          <p:nvPr>
            <p:ph type="sldNum" sz="quarter" idx="4"/>
          </p:nvPr>
        </p:nvSpPr>
        <p:spPr>
          <a:xfrm>
            <a:off x="9263652" y="6352997"/>
            <a:ext cx="2743200" cy="365125"/>
          </a:xfrm>
          <a:prstGeom prst="rect">
            <a:avLst/>
          </a:prstGeom>
        </p:spPr>
        <p:txBody>
          <a:bodyPr vert="horz" lIns="91440" tIns="45720" rIns="91440" bIns="45720" rtlCol="0" anchor="ctr"/>
          <a:lstStyle>
            <a:lvl1pPr algn="r">
              <a:defRPr sz="1200">
                <a:solidFill>
                  <a:srgbClr val="808080"/>
                </a:solidFill>
                <a:latin typeface="Arial" panose="020B0604020202020204" pitchFamily="34" charset="0"/>
                <a:cs typeface="Arial" panose="020B0604020202020204" pitchFamily="34" charset="0"/>
              </a:defRPr>
            </a:lvl1pPr>
          </a:lstStyle>
          <a:p>
            <a:fld id="{7B58D627-8645-4500-8107-4CE8680A0AB8}" type="slidenum">
              <a:rPr lang="pt-BR" smtClean="0"/>
              <a:pPr/>
              <a:t>‹nº›</a:t>
            </a:fld>
            <a:endParaRPr lang="pt-BR"/>
          </a:p>
        </p:txBody>
      </p:sp>
    </p:spTree>
    <p:extLst>
      <p:ext uri="{BB962C8B-B14F-4D97-AF65-F5344CB8AC3E}">
        <p14:creationId xmlns:p14="http://schemas.microsoft.com/office/powerpoint/2010/main" val="89328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AAD82-B415-57DC-2AF4-3FC16738AD99}"/>
              </a:ext>
            </a:extLst>
          </p:cNvPr>
          <p:cNvSpPr>
            <a:spLocks noGrp="1"/>
          </p:cNvSpPr>
          <p:nvPr>
            <p:ph type="title"/>
          </p:nvPr>
        </p:nvSpPr>
        <p:spPr/>
        <p:txBody>
          <a:bodyPr/>
          <a:lstStyle>
            <a:lvl1pPr>
              <a:defRPr>
                <a:solidFill>
                  <a:srgbClr val="171717"/>
                </a:solidFil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987DD66A-2FA0-BA69-608A-35D916274EC5}"/>
              </a:ext>
            </a:extLst>
          </p:cNvPr>
          <p:cNvSpPr>
            <a:spLocks noGrp="1"/>
          </p:cNvSpPr>
          <p:nvPr>
            <p:ph sz="half" idx="1"/>
          </p:nvPr>
        </p:nvSpPr>
        <p:spPr>
          <a:xfrm>
            <a:off x="540000" y="1380131"/>
            <a:ext cx="5193426" cy="2010807"/>
          </a:xfrm>
        </p:spPr>
        <p:txBody>
          <a:bodyPr/>
          <a:lstStyle>
            <a:lvl1pPr>
              <a:defRPr>
                <a:solidFill>
                  <a:schemeClr val="tx1">
                    <a:lumMod val="90000"/>
                    <a:lumOff val="10000"/>
                  </a:schemeClr>
                </a:solidFill>
              </a:defRPr>
            </a:lvl1pPr>
            <a:lvl2pPr>
              <a:defRPr>
                <a:solidFill>
                  <a:schemeClr val="tx1">
                    <a:lumMod val="90000"/>
                    <a:lumOff val="10000"/>
                  </a:schemeClr>
                </a:solidFill>
              </a:defRPr>
            </a:lvl2pPr>
            <a:lvl3pPr>
              <a:defRPr>
                <a:solidFill>
                  <a:schemeClr val="tx1">
                    <a:lumMod val="90000"/>
                    <a:lumOff val="10000"/>
                  </a:schemeClr>
                </a:solidFill>
              </a:defRPr>
            </a:lvl3pPr>
            <a:lvl4pPr>
              <a:defRPr>
                <a:solidFill>
                  <a:schemeClr val="tx1">
                    <a:lumMod val="90000"/>
                    <a:lumOff val="10000"/>
                  </a:schemeClr>
                </a:solidFill>
              </a:defRPr>
            </a:lvl4pPr>
            <a:lvl5pPr>
              <a:defRPr>
                <a:solidFill>
                  <a:schemeClr val="tx1">
                    <a:lumMod val="90000"/>
                    <a:lumOff val="10000"/>
                  </a:schemeClr>
                </a:solidFill>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Conteúdo 3">
            <a:extLst>
              <a:ext uri="{FF2B5EF4-FFF2-40B4-BE49-F238E27FC236}">
                <a16:creationId xmlns:a16="http://schemas.microsoft.com/office/drawing/2014/main" id="{84DFAE44-F2BA-155A-CE36-8F14B5E8442C}"/>
              </a:ext>
            </a:extLst>
          </p:cNvPr>
          <p:cNvSpPr>
            <a:spLocks noGrp="1"/>
          </p:cNvSpPr>
          <p:nvPr>
            <p:ph sz="half" idx="2"/>
          </p:nvPr>
        </p:nvSpPr>
        <p:spPr>
          <a:xfrm>
            <a:off x="6093426" y="1375730"/>
            <a:ext cx="5193426" cy="2010807"/>
          </a:xfrm>
        </p:spPr>
        <p:txBody>
          <a:bodyPr/>
          <a:lstStyle>
            <a:lvl1pPr>
              <a:defRPr>
                <a:solidFill>
                  <a:schemeClr val="tx1">
                    <a:lumMod val="90000"/>
                    <a:lumOff val="10000"/>
                  </a:schemeClr>
                </a:solidFill>
              </a:defRPr>
            </a:lvl1pPr>
            <a:lvl2pPr>
              <a:defRPr>
                <a:solidFill>
                  <a:schemeClr val="tx1">
                    <a:lumMod val="90000"/>
                    <a:lumOff val="10000"/>
                  </a:schemeClr>
                </a:solidFill>
              </a:defRPr>
            </a:lvl2pPr>
            <a:lvl3pPr>
              <a:defRPr>
                <a:solidFill>
                  <a:schemeClr val="tx1">
                    <a:lumMod val="90000"/>
                    <a:lumOff val="10000"/>
                  </a:schemeClr>
                </a:solidFill>
              </a:defRPr>
            </a:lvl3pPr>
            <a:lvl4pPr>
              <a:defRPr>
                <a:solidFill>
                  <a:schemeClr val="tx1">
                    <a:lumMod val="90000"/>
                    <a:lumOff val="10000"/>
                  </a:schemeClr>
                </a:solidFill>
              </a:defRPr>
            </a:lvl4pPr>
            <a:lvl5pPr>
              <a:defRPr>
                <a:solidFill>
                  <a:schemeClr val="tx1">
                    <a:lumMod val="90000"/>
                    <a:lumOff val="10000"/>
                  </a:schemeClr>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Número de Slide 5">
            <a:extLst>
              <a:ext uri="{FF2B5EF4-FFF2-40B4-BE49-F238E27FC236}">
                <a16:creationId xmlns:a16="http://schemas.microsoft.com/office/drawing/2014/main" id="{F87729EF-5835-6F5F-8C3D-359B6DEB557E}"/>
              </a:ext>
            </a:extLst>
          </p:cNvPr>
          <p:cNvSpPr>
            <a:spLocks noGrp="1"/>
          </p:cNvSpPr>
          <p:nvPr>
            <p:ph type="sldNum" sz="quarter" idx="4"/>
          </p:nvPr>
        </p:nvSpPr>
        <p:spPr>
          <a:xfrm>
            <a:off x="9263652" y="6352997"/>
            <a:ext cx="2743200" cy="365125"/>
          </a:xfrm>
          <a:prstGeom prst="rect">
            <a:avLst/>
          </a:prstGeom>
        </p:spPr>
        <p:txBody>
          <a:bodyPr vert="horz" lIns="91440" tIns="45720" rIns="91440" bIns="45720" rtlCol="0" anchor="ctr"/>
          <a:lstStyle>
            <a:lvl1pPr algn="r">
              <a:defRPr sz="1200">
                <a:solidFill>
                  <a:srgbClr val="808080"/>
                </a:solidFill>
                <a:latin typeface="Arial" panose="020B0604020202020204" pitchFamily="34" charset="0"/>
                <a:cs typeface="Arial" panose="020B0604020202020204" pitchFamily="34" charset="0"/>
              </a:defRPr>
            </a:lvl1pPr>
          </a:lstStyle>
          <a:p>
            <a:fld id="{7B58D627-8645-4500-8107-4CE8680A0AB8}" type="slidenum">
              <a:rPr lang="pt-BR" smtClean="0"/>
              <a:pPr/>
              <a:t>‹nº›</a:t>
            </a:fld>
            <a:endParaRPr lang="pt-BR"/>
          </a:p>
        </p:txBody>
      </p:sp>
    </p:spTree>
    <p:extLst>
      <p:ext uri="{BB962C8B-B14F-4D97-AF65-F5344CB8AC3E}">
        <p14:creationId xmlns:p14="http://schemas.microsoft.com/office/powerpoint/2010/main" val="236390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B67A1FBE-5B7D-F2E7-CC79-575A1B83355E}"/>
              </a:ext>
            </a:extLst>
          </p:cNvPr>
          <p:cNvSpPr>
            <a:spLocks noGrp="1"/>
          </p:cNvSpPr>
          <p:nvPr>
            <p:ph type="sldNum" sz="quarter" idx="4"/>
          </p:nvPr>
        </p:nvSpPr>
        <p:spPr>
          <a:xfrm>
            <a:off x="9263652" y="6352997"/>
            <a:ext cx="2743200" cy="365125"/>
          </a:xfrm>
          <a:prstGeom prst="rect">
            <a:avLst/>
          </a:prstGeom>
        </p:spPr>
        <p:txBody>
          <a:bodyPr vert="horz" lIns="91440" tIns="45720" rIns="91440" bIns="45720" rtlCol="0" anchor="ctr"/>
          <a:lstStyle>
            <a:lvl1pPr algn="r">
              <a:defRPr sz="1200">
                <a:solidFill>
                  <a:srgbClr val="808080"/>
                </a:solidFill>
                <a:latin typeface="Arial" panose="020B0604020202020204" pitchFamily="34" charset="0"/>
                <a:cs typeface="Arial" panose="020B0604020202020204" pitchFamily="34" charset="0"/>
              </a:defRPr>
            </a:lvl1pPr>
          </a:lstStyle>
          <a:p>
            <a:fld id="{7B58D627-8645-4500-8107-4CE8680A0AB8}" type="slidenum">
              <a:rPr lang="pt-BR" smtClean="0"/>
              <a:pPr/>
              <a:t>‹nº›</a:t>
            </a:fld>
            <a:endParaRPr lang="pt-BR"/>
          </a:p>
        </p:txBody>
      </p:sp>
    </p:spTree>
    <p:extLst>
      <p:ext uri="{BB962C8B-B14F-4D97-AF65-F5344CB8AC3E}">
        <p14:creationId xmlns:p14="http://schemas.microsoft.com/office/powerpoint/2010/main" val="14567462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BB9FBA38-F6DF-E685-48B0-23917548AA66}"/>
              </a:ext>
            </a:extLst>
          </p:cNvPr>
          <p:cNvSpPr>
            <a:spLocks noGrp="1"/>
          </p:cNvSpPr>
          <p:nvPr>
            <p:ph type="title"/>
          </p:nvPr>
        </p:nvSpPr>
        <p:spPr>
          <a:xfrm>
            <a:off x="540000" y="540000"/>
            <a:ext cx="10746852" cy="480131"/>
          </a:xfrm>
          <a:prstGeom prst="rect">
            <a:avLst/>
          </a:prstGeom>
        </p:spPr>
        <p:txBody>
          <a:bodyPr vert="horz" wrap="square" lIns="91440" tIns="45720" rIns="91440" bIns="45720" rtlCol="0" anchor="ctr">
            <a:spAutoFit/>
          </a:bodyPr>
          <a:lstStyle/>
          <a:p>
            <a:r>
              <a:rPr lang="pt-BR" dirty="0"/>
              <a:t>Clique para editar o título Mestre</a:t>
            </a:r>
          </a:p>
        </p:txBody>
      </p:sp>
      <p:sp>
        <p:nvSpPr>
          <p:cNvPr id="3" name="Espaço Reservado para Texto 2">
            <a:extLst>
              <a:ext uri="{FF2B5EF4-FFF2-40B4-BE49-F238E27FC236}">
                <a16:creationId xmlns:a16="http://schemas.microsoft.com/office/drawing/2014/main" id="{EF8625BD-E25E-00A3-D987-AE600FC6F083}"/>
              </a:ext>
            </a:extLst>
          </p:cNvPr>
          <p:cNvSpPr>
            <a:spLocks noGrp="1"/>
          </p:cNvSpPr>
          <p:nvPr>
            <p:ph type="body" idx="1"/>
          </p:nvPr>
        </p:nvSpPr>
        <p:spPr>
          <a:xfrm>
            <a:off x="540000" y="1380131"/>
            <a:ext cx="10746852" cy="2009781"/>
          </a:xfrm>
          <a:prstGeom prst="rect">
            <a:avLst/>
          </a:prstGeom>
        </p:spPr>
        <p:txBody>
          <a:bodyPr vert="horz" wrap="square" lIns="91440" tIns="45720" rIns="91440" bIns="45720" rtlCol="0">
            <a:spAutoFit/>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Retângulo 3">
            <a:extLst>
              <a:ext uri="{FF2B5EF4-FFF2-40B4-BE49-F238E27FC236}">
                <a16:creationId xmlns:a16="http://schemas.microsoft.com/office/drawing/2014/main" id="{853BD0BB-D3DB-EE6A-06A8-27BD552FEB5B}"/>
              </a:ext>
            </a:extLst>
          </p:cNvPr>
          <p:cNvSpPr/>
          <p:nvPr userDrawn="1"/>
        </p:nvSpPr>
        <p:spPr>
          <a:xfrm>
            <a:off x="0" y="6213122"/>
            <a:ext cx="12192000" cy="644878"/>
          </a:xfrm>
          <a:prstGeom prst="rect">
            <a:avLst/>
          </a:prstGeom>
          <a:solidFill>
            <a:srgbClr val="F8F7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 name="Espaço Reservado para Número de Slide 5">
            <a:extLst>
              <a:ext uri="{FF2B5EF4-FFF2-40B4-BE49-F238E27FC236}">
                <a16:creationId xmlns:a16="http://schemas.microsoft.com/office/drawing/2014/main" id="{24548E1C-8EAB-1058-83C1-3EF222607C84}"/>
              </a:ext>
            </a:extLst>
          </p:cNvPr>
          <p:cNvSpPr>
            <a:spLocks noGrp="1"/>
          </p:cNvSpPr>
          <p:nvPr>
            <p:ph type="sldNum" sz="quarter" idx="4"/>
          </p:nvPr>
        </p:nvSpPr>
        <p:spPr>
          <a:xfrm>
            <a:off x="9263652" y="6352997"/>
            <a:ext cx="2743200" cy="365125"/>
          </a:xfrm>
          <a:prstGeom prst="rect">
            <a:avLst/>
          </a:prstGeom>
        </p:spPr>
        <p:txBody>
          <a:bodyPr vert="horz" lIns="91440" tIns="45720" rIns="91440" bIns="45720" rtlCol="0" anchor="ctr"/>
          <a:lstStyle>
            <a:lvl1pPr algn="r">
              <a:defRPr sz="1200">
                <a:solidFill>
                  <a:srgbClr val="808080"/>
                </a:solidFill>
                <a:latin typeface="Arial" panose="020B0604020202020204" pitchFamily="34" charset="0"/>
                <a:cs typeface="Arial" panose="020B0604020202020204" pitchFamily="34" charset="0"/>
              </a:defRPr>
            </a:lvl1pPr>
          </a:lstStyle>
          <a:p>
            <a:fld id="{7B58D627-8645-4500-8107-4CE8680A0AB8}" type="slidenum">
              <a:rPr lang="pt-BR" smtClean="0"/>
              <a:pPr/>
              <a:t>‹nº›</a:t>
            </a:fld>
            <a:endParaRPr lang="pt-BR"/>
          </a:p>
        </p:txBody>
      </p:sp>
      <p:pic>
        <p:nvPicPr>
          <p:cNvPr id="6" name="Gráfico 5">
            <a:extLst>
              <a:ext uri="{FF2B5EF4-FFF2-40B4-BE49-F238E27FC236}">
                <a16:creationId xmlns:a16="http://schemas.microsoft.com/office/drawing/2014/main" id="{F876AA46-E68A-902F-86F7-2470F586A6A9}"/>
              </a:ext>
            </a:extLst>
          </p:cNvPr>
          <p:cNvPicPr/>
          <p:nvPr userDrawn="1"/>
        </p:nvPicPr>
        <p:blipFill>
          <a:blip r:embed="rId7">
            <a:extLst>
              <a:ext uri="{96DAC541-7B7A-43D3-8B79-37D633B846F1}">
                <asvg:svgBlip xmlns:asvg="http://schemas.microsoft.com/office/drawing/2016/SVG/main" r:embed="rId8"/>
              </a:ext>
            </a:extLst>
          </a:blip>
          <a:stretch>
            <a:fillRect/>
          </a:stretch>
        </p:blipFill>
        <p:spPr>
          <a:xfrm>
            <a:off x="180000" y="6387936"/>
            <a:ext cx="720000" cy="295251"/>
          </a:xfrm>
          <a:prstGeom prst="rect">
            <a:avLst/>
          </a:prstGeom>
        </p:spPr>
      </p:pic>
    </p:spTree>
    <p:extLst>
      <p:ext uri="{BB962C8B-B14F-4D97-AF65-F5344CB8AC3E}">
        <p14:creationId xmlns:p14="http://schemas.microsoft.com/office/powerpoint/2010/main" val="139244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Lst>
  <p:hf hdr="0" ftr="0" dt="0"/>
  <p:txStyles>
    <p:titleStyle>
      <a:lvl1pPr algn="l" defTabSz="914400" rtl="0" eaLnBrk="1" latinLnBrk="0" hangingPunct="1">
        <a:lnSpc>
          <a:spcPct val="90000"/>
        </a:lnSpc>
        <a:spcBef>
          <a:spcPct val="0"/>
        </a:spcBef>
        <a:buNone/>
        <a:defRPr sz="2800" b="1" kern="1200">
          <a:solidFill>
            <a:srgbClr val="171717"/>
          </a:solidFill>
          <a:latin typeface="Arial" panose="020B0604020202020204" pitchFamily="34" charset="0"/>
          <a:ea typeface="+mj-ea"/>
          <a:cs typeface="Arial" panose="020B0604020202020204" pitchFamily="34" charset="0"/>
        </a:defRPr>
      </a:lvl1pPr>
    </p:titleStyle>
    <p:bodyStyle>
      <a:lvl1pPr marL="266700" indent="-2667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lumMod val="90000"/>
              <a:lumOff val="10000"/>
            </a:schemeClr>
          </a:solidFill>
          <a:latin typeface="Arial" panose="020B0604020202020204" pitchFamily="34" charset="0"/>
          <a:ea typeface="+mn-ea"/>
          <a:cs typeface="Arial" panose="020B0604020202020204" pitchFamily="34" charset="0"/>
        </a:defRPr>
      </a:lvl1pPr>
      <a:lvl2pPr marL="622300" indent="-2667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lumMod val="90000"/>
              <a:lumOff val="10000"/>
            </a:schemeClr>
          </a:solidFill>
          <a:latin typeface="Arial" panose="020B0604020202020204" pitchFamily="34" charset="0"/>
          <a:ea typeface="+mn-ea"/>
          <a:cs typeface="Arial" panose="020B0604020202020204" pitchFamily="34" charset="0"/>
        </a:defRPr>
      </a:lvl2pPr>
      <a:lvl3pPr marL="990600" indent="-2667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lumMod val="90000"/>
              <a:lumOff val="10000"/>
            </a:schemeClr>
          </a:solidFill>
          <a:latin typeface="Arial" panose="020B0604020202020204" pitchFamily="34" charset="0"/>
          <a:ea typeface="+mn-ea"/>
          <a:cs typeface="Arial" panose="020B0604020202020204" pitchFamily="34" charset="0"/>
        </a:defRPr>
      </a:lvl3pPr>
      <a:lvl4pPr marL="1346200" indent="-2667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lumMod val="90000"/>
              <a:lumOff val="10000"/>
            </a:schemeClr>
          </a:solidFill>
          <a:latin typeface="Arial" panose="020B0604020202020204" pitchFamily="34" charset="0"/>
          <a:ea typeface="+mn-ea"/>
          <a:cs typeface="Arial" panose="020B0604020202020204" pitchFamily="34" charset="0"/>
        </a:defRPr>
      </a:lvl4pPr>
      <a:lvl5pPr marL="1701800" indent="-2667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lumMod val="90000"/>
              <a:lumOff val="1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20.xml"/><Relationship Id="rId5" Type="http://schemas.openxmlformats.org/officeDocument/2006/relationships/image" Target="../media/image3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0.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3.png"/><Relationship Id="rId11" Type="http://schemas.openxmlformats.org/officeDocument/2006/relationships/image" Target="../media/image20.png"/><Relationship Id="rId12"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EB0C082-46D0-803A-C3ED-0911EDDD6A69}"/>
              </a:ext>
            </a:extLst>
          </p:cNvPr>
          <p:cNvSpPr>
            <a:spLocks noGrp="1" noRot="1" noMove="1" noResize="1" noEditPoints="1" noAdjustHandles="1" noChangeArrowheads="1" noChangeShapeType="1"/>
          </p:cNvSpPr>
          <p:nvPr/>
        </p:nvSpPr>
        <p:spPr>
          <a:xfrm>
            <a:off x="0" y="0"/>
            <a:ext cx="12192000" cy="6858000"/>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5" name="Gráfico 4">
            <a:extLst>
              <a:ext uri="{FF2B5EF4-FFF2-40B4-BE49-F238E27FC236}">
                <a16:creationId xmlns:a16="http://schemas.microsoft.com/office/drawing/2014/main" id="{6C4B16CE-8E61-D4E8-01B9-57C759D7228C}"/>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2093390" y="2857932"/>
            <a:ext cx="2785217" cy="1142135"/>
          </a:xfrm>
          <a:prstGeom prst="rect">
            <a:avLst/>
          </a:prstGeom>
        </p:spPr>
      </p:pic>
      <p:sp>
        <p:nvSpPr>
          <p:cNvPr id="6" name="CaixaDeTexto 5">
            <a:extLst>
              <a:ext uri="{FF2B5EF4-FFF2-40B4-BE49-F238E27FC236}">
                <a16:creationId xmlns:a16="http://schemas.microsoft.com/office/drawing/2014/main" id="{29966943-5035-3181-FB43-7758C6345281}"/>
              </a:ext>
            </a:extLst>
          </p:cNvPr>
          <p:cNvSpPr txBox="1">
            <a:spLocks noGrp="1" noRot="1" noMove="1" noResize="1" noEditPoints="1" noAdjustHandles="1" noChangeArrowheads="1" noChangeShapeType="1"/>
          </p:cNvSpPr>
          <p:nvPr/>
        </p:nvSpPr>
        <p:spPr>
          <a:xfrm>
            <a:off x="6318610" y="2683373"/>
            <a:ext cx="5120640" cy="135421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a:ln>
                  <a:noFill/>
                </a:ln>
                <a:solidFill>
                  <a:srgbClr val="232322"/>
                </a:solidFill>
                <a:effectLst/>
                <a:uLnTx/>
                <a:uFillTx/>
                <a:latin typeface="Arial" panose="020B0604020202020204" pitchFamily="34" charset="0"/>
                <a:ea typeface="+mn-ea"/>
                <a:cs typeface="Arial" panose="020B0604020202020204" pitchFamily="34" charset="0"/>
              </a:rPr>
              <a:t>Representação de dados determina o desempenho de algoritmos na conciliação contábil automatizada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a:ln>
                <a:noFill/>
              </a:ln>
              <a:solidFill>
                <a:srgbClr val="232322"/>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srgbClr val="232322"/>
                </a:solidFill>
                <a:effectLst/>
                <a:uLnTx/>
                <a:uFillTx/>
                <a:latin typeface="Arial" panose="020B0604020202020204" pitchFamily="34" charset="0"/>
                <a:ea typeface="+mn-ea"/>
                <a:cs typeface="Arial" panose="020B0604020202020204" pitchFamily="34" charset="0"/>
              </a:rPr>
              <a:t>Artur Rios da Silva Oliveira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srgbClr val="232322"/>
                </a:solidFill>
                <a:effectLst/>
                <a:uLnTx/>
                <a:uFillTx/>
                <a:latin typeface="Arial" panose="020B0604020202020204" pitchFamily="34" charset="0"/>
                <a:ea typeface="+mn-ea"/>
                <a:cs typeface="Arial" panose="020B0604020202020204" pitchFamily="34" charset="0"/>
              </a:rPr>
              <a:t>Orientador: Emerson Aparecido Mouco Júnior</a:t>
            </a:r>
          </a:p>
        </p:txBody>
      </p:sp>
      <p:cxnSp>
        <p:nvCxnSpPr>
          <p:cNvPr id="7" name="Conector reto 6">
            <a:extLst>
              <a:ext uri="{FF2B5EF4-FFF2-40B4-BE49-F238E27FC236}">
                <a16:creationId xmlns:a16="http://schemas.microsoft.com/office/drawing/2014/main" id="{19F2BFD4-8543-51D2-44F2-0B431D99DEDA}"/>
              </a:ext>
            </a:extLst>
          </p:cNvPr>
          <p:cNvCxnSpPr>
            <a:cxnSpLocks noGrp="1" noRot="1" noMove="1" noResize="1" noEditPoints="1" noAdjustHandles="1" noChangeArrowheads="1" noChangeShapeType="1"/>
          </p:cNvCxnSpPr>
          <p:nvPr/>
        </p:nvCxnSpPr>
        <p:spPr>
          <a:xfrm>
            <a:off x="5598609" y="2734395"/>
            <a:ext cx="0" cy="1389210"/>
          </a:xfrm>
          <a:prstGeom prst="line">
            <a:avLst/>
          </a:prstGeom>
          <a:ln w="19050" cap="rnd">
            <a:solidFill>
              <a:schemeClr val="tx1">
                <a:lumMod val="25000"/>
                <a:lumOff val="75000"/>
              </a:schemeClr>
            </a:solidFill>
            <a:roun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2189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F393F-8F70-6922-EBBC-2CB506455A6B}"/>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7C886AAC-144B-5853-1E46-D606501358FC}"/>
              </a:ext>
            </a:extLst>
          </p:cNvPr>
          <p:cNvSpPr>
            <a:spLocks noGrp="1" noRot="1" noMove="1" noResize="1" noEditPoints="1" noAdjustHandles="1" noChangeArrowheads="1" noChangeShapeType="1"/>
          </p:cNvSpPr>
          <p:nvPr/>
        </p:nvSpPr>
        <p:spPr>
          <a:xfrm>
            <a:off x="0" y="0"/>
            <a:ext cx="12192000" cy="6858000"/>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Gráfico 4">
            <a:extLst>
              <a:ext uri="{FF2B5EF4-FFF2-40B4-BE49-F238E27FC236}">
                <a16:creationId xmlns:a16="http://schemas.microsoft.com/office/drawing/2014/main" id="{82FD7DFA-E84D-3D85-288B-E4FAB74E9BB0}"/>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5376001" y="5367499"/>
            <a:ext cx="1439999" cy="590501"/>
          </a:xfrm>
          <a:prstGeom prst="rect">
            <a:avLst/>
          </a:prstGeom>
        </p:spPr>
      </p:pic>
      <p:sp>
        <p:nvSpPr>
          <p:cNvPr id="7" name="CaixaDeTexto 6">
            <a:extLst>
              <a:ext uri="{FF2B5EF4-FFF2-40B4-BE49-F238E27FC236}">
                <a16:creationId xmlns:a16="http://schemas.microsoft.com/office/drawing/2014/main" id="{67ADAFAC-83F3-B114-882E-99378211F6B4}"/>
              </a:ext>
            </a:extLst>
          </p:cNvPr>
          <p:cNvSpPr txBox="1">
            <a:spLocks noGrp="1" noRot="1" noMove="1" noResize="1" noEditPoints="1" noAdjustHandles="1" noChangeArrowheads="1" noChangeShapeType="1"/>
          </p:cNvSpPr>
          <p:nvPr/>
        </p:nvSpPr>
        <p:spPr>
          <a:xfrm>
            <a:off x="4774965" y="2352399"/>
            <a:ext cx="2642070"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232322"/>
                </a:solidFill>
                <a:effectLst/>
                <a:uLnTx/>
                <a:uFillTx/>
                <a:latin typeface="Arial" panose="020B0604020202020204" pitchFamily="34" charset="0"/>
                <a:ea typeface="+mn-ea"/>
                <a:cs typeface="Arial" panose="020B0604020202020204" pitchFamily="34" charset="0"/>
              </a:rPr>
              <a:t>Obrigado(a)!</a:t>
            </a:r>
          </a:p>
        </p:txBody>
      </p:sp>
      <p:pic>
        <p:nvPicPr>
          <p:cNvPr id="8" name="Picture 7" descr="FaGithub_gray.png"/>
          <p:cNvPicPr>
            <a:picLocks noChangeAspect="1"/>
          </p:cNvPicPr>
          <p:nvPr/>
        </p:nvPicPr>
        <p:blipFill>
          <a:blip r:embed="rId5"/>
          <a:stretch>
            <a:fillRect/>
          </a:stretch>
        </p:blipFill>
        <p:spPr>
          <a:xfrm>
            <a:off x="4023360" y="3401568"/>
            <a:ext cx="292608" cy="292608"/>
          </a:xfrm>
          <a:prstGeom prst="rect">
            <a:avLst/>
          </a:prstGeom>
        </p:spPr>
      </p:pic>
      <p:sp>
        <p:nvSpPr>
          <p:cNvPr id="9" name="TextBox 8"/>
          <p:cNvSpPr txBox="1"/>
          <p:nvPr/>
        </p:nvSpPr>
        <p:spPr>
          <a:xfrm>
            <a:off x="4407408" y="3401568"/>
            <a:ext cx="4572000" cy="292608"/>
          </a:xfrm>
          <a:prstGeom prst="rect">
            <a:avLst/>
          </a:prstGeom>
          <a:noFill/>
        </p:spPr>
        <p:txBody>
          <a:bodyPr wrap="square" lIns="0" rIns="0" tIns="0" bIns="0" anchor="ctr">
            <a:spAutoFit/>
          </a:bodyPr>
          <a:lstStyle/>
          <a:p>
            <a:pPr algn="l"/>
            <a:r>
              <a:rPr sz="1400" b="0" i="0">
                <a:solidFill>
                  <a:srgbClr val="5F5F5B"/>
                </a:solidFill>
                <a:latin typeface="Arial"/>
              </a:rPr>
              <a:t>github.com/artur-rios/ml-accounting-reconciliation</a:t>
            </a:r>
          </a:p>
        </p:txBody>
      </p:sp>
    </p:spTree>
    <p:extLst>
      <p:ext uri="{BB962C8B-B14F-4D97-AF65-F5344CB8AC3E}">
        <p14:creationId xmlns:p14="http://schemas.microsoft.com/office/powerpoint/2010/main" val="2919699685"/>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Um problema que encontrei duas vezes</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508760"/>
            <a:ext cx="4754880" cy="2194560"/>
          </a:xfrm>
          <a:prstGeom prst="rect">
            <a:avLst/>
          </a:prstGeom>
          <a:noFill/>
        </p:spPr>
        <p:txBody>
          <a:bodyPr wrap="square" lIns="0" rIns="0" tIns="0" bIns="0" anchor="t">
            <a:spAutoFit/>
          </a:bodyPr>
          <a:lstStyle/>
          <a:p>
            <a:pPr algn="l">
              <a:spcAft>
                <a:spcPts val="1800"/>
              </a:spcAft>
            </a:pPr>
            <a:r>
              <a:rPr sz="2400" b="0" i="0">
                <a:solidFill>
                  <a:srgbClr val="232322"/>
                </a:solidFill>
                <a:latin typeface="Arial"/>
              </a:rPr>
              <a:t>Três </a:t>
            </a:r>
            <a:r>
              <a:rPr sz="2400" b="0" i="0">
                <a:solidFill>
                  <a:srgbClr val="232322"/>
                </a:solidFill>
                <a:latin typeface="Arial"/>
              </a:rPr>
              <a:t>das maiores instituições financeiras do país.</a:t>
            </a:r>
          </a:p>
          <a:p>
            <a:pPr algn="l">
              <a:spcAft>
                <a:spcPts val="1800"/>
              </a:spcAft>
            </a:pPr>
            <a:r>
              <a:rPr sz="2400" b="0" i="0">
                <a:solidFill>
                  <a:srgbClr val="232322"/>
                </a:solidFill>
                <a:latin typeface="Arial"/>
              </a:rPr>
              <a:t>Em </a:t>
            </a:r>
            <a:r>
              <a:rPr sz="2400" b="1" i="0">
                <a:solidFill>
                  <a:srgbClr val="0F5E66"/>
                </a:solidFill>
                <a:latin typeface="Arial"/>
              </a:rPr>
              <a:t>duas</a:t>
            </a:r>
            <a:r>
              <a:rPr sz="2400" b="0" i="0">
                <a:solidFill>
                  <a:srgbClr val="232322"/>
                </a:solidFill>
                <a:latin typeface="Arial"/>
              </a:rPr>
              <a:t> delas, o mesmo problema: </a:t>
            </a:r>
            <a:r>
              <a:rPr sz="2400" b="1" i="0">
                <a:solidFill>
                  <a:srgbClr val="232322"/>
                </a:solidFill>
                <a:latin typeface="Arial"/>
              </a:rPr>
              <a:t>a conciliação contábil.</a:t>
            </a:r>
          </a:p>
        </p:txBody>
      </p:sp>
      <p:sp>
        <p:nvSpPr>
          <p:cNvPr id="6" name="TextBox 5"/>
          <p:cNvSpPr txBox="1"/>
          <p:nvPr/>
        </p:nvSpPr>
        <p:spPr>
          <a:xfrm>
            <a:off x="548640" y="4160520"/>
            <a:ext cx="4572000" cy="1097280"/>
          </a:xfrm>
          <a:prstGeom prst="rect">
            <a:avLst/>
          </a:prstGeom>
          <a:noFill/>
        </p:spPr>
        <p:txBody>
          <a:bodyPr wrap="square" lIns="0" rIns="0" tIns="0" bIns="0" anchor="t">
            <a:spAutoFit/>
          </a:bodyPr>
          <a:lstStyle/>
          <a:p>
            <a:pPr algn="l"/>
            <a:r>
              <a:rPr sz="1500" b="0" i="0">
                <a:solidFill>
                  <a:srgbClr val="5F5F5B"/>
                </a:solidFill>
                <a:latin typeface="Arial"/>
              </a:rPr>
              <a:t>Anos como desenvolvedor de software em consultorias, atendendo o setor financeiro.</a:t>
            </a:r>
          </a:p>
        </p:txBody>
      </p:sp>
      <p:sp>
        <p:nvSpPr>
          <p:cNvPr id="7" name="Oval 6"/>
          <p:cNvSpPr/>
          <p:nvPr/>
        </p:nvSpPr>
        <p:spPr>
          <a:xfrm>
            <a:off x="5989320" y="1600200"/>
            <a:ext cx="1645920" cy="1645920"/>
          </a:xfrm>
          <a:prstGeom prst="ellipse">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BuildingColumns_teal.png"/>
          <p:cNvPicPr>
            <a:picLocks noChangeAspect="1"/>
          </p:cNvPicPr>
          <p:nvPr/>
        </p:nvPicPr>
        <p:blipFill>
          <a:blip r:embed="rId3"/>
          <a:stretch>
            <a:fillRect/>
          </a:stretch>
        </p:blipFill>
        <p:spPr>
          <a:xfrm>
            <a:off x="6400800" y="2011680"/>
            <a:ext cx="822960" cy="822960"/>
          </a:xfrm>
          <a:prstGeom prst="rect">
            <a:avLst/>
          </a:prstGeom>
        </p:spPr>
      </p:pic>
      <p:sp>
        <p:nvSpPr>
          <p:cNvPr id="9" name="TextBox 8"/>
          <p:cNvSpPr txBox="1"/>
          <p:nvPr/>
        </p:nvSpPr>
        <p:spPr>
          <a:xfrm>
            <a:off x="5897880" y="3474720"/>
            <a:ext cx="1828800" cy="365760"/>
          </a:xfrm>
          <a:prstGeom prst="rect">
            <a:avLst/>
          </a:prstGeom>
          <a:noFill/>
        </p:spPr>
        <p:txBody>
          <a:bodyPr wrap="square" lIns="0" rIns="0" tIns="0" bIns="0" anchor="t">
            <a:spAutoFit/>
          </a:bodyPr>
          <a:lstStyle/>
          <a:p>
            <a:pPr algn="ctr"/>
            <a:r>
              <a:rPr sz="1400" b="0" i="0">
                <a:solidFill>
                  <a:srgbClr val="232322"/>
                </a:solidFill>
                <a:latin typeface="Arial"/>
              </a:rPr>
              <a:t>Instituição A</a:t>
            </a:r>
          </a:p>
        </p:txBody>
      </p:sp>
      <p:sp>
        <p:nvSpPr>
          <p:cNvPr id="10" name="Rounded Rectangle 9"/>
          <p:cNvSpPr/>
          <p:nvPr/>
        </p:nvSpPr>
        <p:spPr>
          <a:xfrm>
            <a:off x="5943600" y="3977639"/>
            <a:ext cx="1737360" cy="457200"/>
          </a:xfrm>
          <a:prstGeom prst="roundRect">
            <a:avLst>
              <a:gd name="adj" fmla="val 50000"/>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0" y="3977639"/>
            <a:ext cx="1737360" cy="457200"/>
          </a:xfrm>
          <a:prstGeom prst="rect">
            <a:avLst/>
          </a:prstGeom>
          <a:noFill/>
        </p:spPr>
        <p:txBody>
          <a:bodyPr wrap="square" lIns="0" rIns="0" tIns="0" bIns="0" anchor="ctr">
            <a:spAutoFit/>
          </a:bodyPr>
          <a:lstStyle/>
          <a:p>
            <a:pPr algn="ctr"/>
            <a:r>
              <a:rPr sz="1300" b="1" i="0">
                <a:solidFill>
                  <a:srgbClr val="FFFFFF"/>
                </a:solidFill>
                <a:latin typeface="Arial"/>
              </a:rPr>
              <a:t>Conciliação</a:t>
            </a:r>
          </a:p>
        </p:txBody>
      </p:sp>
      <p:sp>
        <p:nvSpPr>
          <p:cNvPr id="12" name="Oval 11"/>
          <p:cNvSpPr/>
          <p:nvPr/>
        </p:nvSpPr>
        <p:spPr>
          <a:xfrm>
            <a:off x="7909560" y="1600200"/>
            <a:ext cx="1645920" cy="1645920"/>
          </a:xfrm>
          <a:prstGeom prst="ellipse">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BuildingColumns_gray.png"/>
          <p:cNvPicPr>
            <a:picLocks noChangeAspect="1"/>
          </p:cNvPicPr>
          <p:nvPr/>
        </p:nvPicPr>
        <p:blipFill>
          <a:blip r:embed="rId4"/>
          <a:stretch>
            <a:fillRect/>
          </a:stretch>
        </p:blipFill>
        <p:spPr>
          <a:xfrm>
            <a:off x="8321040" y="2011680"/>
            <a:ext cx="822960" cy="822960"/>
          </a:xfrm>
          <a:prstGeom prst="rect">
            <a:avLst/>
          </a:prstGeom>
        </p:spPr>
      </p:pic>
      <p:sp>
        <p:nvSpPr>
          <p:cNvPr id="14" name="TextBox 13"/>
          <p:cNvSpPr txBox="1"/>
          <p:nvPr/>
        </p:nvSpPr>
        <p:spPr>
          <a:xfrm>
            <a:off x="7818120" y="3474720"/>
            <a:ext cx="1828800" cy="365760"/>
          </a:xfrm>
          <a:prstGeom prst="rect">
            <a:avLst/>
          </a:prstGeom>
          <a:noFill/>
        </p:spPr>
        <p:txBody>
          <a:bodyPr wrap="square" lIns="0" rIns="0" tIns="0" bIns="0" anchor="t">
            <a:spAutoFit/>
          </a:bodyPr>
          <a:lstStyle/>
          <a:p>
            <a:pPr algn="ctr"/>
            <a:r>
              <a:rPr sz="1400" b="0" i="0">
                <a:solidFill>
                  <a:srgbClr val="5F5F5B"/>
                </a:solidFill>
                <a:latin typeface="Arial"/>
              </a:rPr>
              <a:t>Instituição B</a:t>
            </a:r>
          </a:p>
        </p:txBody>
      </p:sp>
      <p:sp>
        <p:nvSpPr>
          <p:cNvPr id="15" name="Oval 14"/>
          <p:cNvSpPr/>
          <p:nvPr/>
        </p:nvSpPr>
        <p:spPr>
          <a:xfrm>
            <a:off x="9829800" y="1600200"/>
            <a:ext cx="1645920" cy="1645920"/>
          </a:xfrm>
          <a:prstGeom prst="ellipse">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BuildingColumns_teal.png"/>
          <p:cNvPicPr>
            <a:picLocks noChangeAspect="1"/>
          </p:cNvPicPr>
          <p:nvPr/>
        </p:nvPicPr>
        <p:blipFill>
          <a:blip r:embed="rId3"/>
          <a:stretch>
            <a:fillRect/>
          </a:stretch>
        </p:blipFill>
        <p:spPr>
          <a:xfrm>
            <a:off x="10241280" y="2011680"/>
            <a:ext cx="822960" cy="822960"/>
          </a:xfrm>
          <a:prstGeom prst="rect">
            <a:avLst/>
          </a:prstGeom>
        </p:spPr>
      </p:pic>
      <p:sp>
        <p:nvSpPr>
          <p:cNvPr id="17" name="TextBox 16"/>
          <p:cNvSpPr txBox="1"/>
          <p:nvPr/>
        </p:nvSpPr>
        <p:spPr>
          <a:xfrm>
            <a:off x="9738360" y="3474720"/>
            <a:ext cx="1828800" cy="365760"/>
          </a:xfrm>
          <a:prstGeom prst="rect">
            <a:avLst/>
          </a:prstGeom>
          <a:noFill/>
        </p:spPr>
        <p:txBody>
          <a:bodyPr wrap="square" lIns="0" rIns="0" tIns="0" bIns="0" anchor="t">
            <a:spAutoFit/>
          </a:bodyPr>
          <a:lstStyle/>
          <a:p>
            <a:pPr algn="ctr"/>
            <a:r>
              <a:rPr sz="1400" b="0" i="0">
                <a:solidFill>
                  <a:srgbClr val="232322"/>
                </a:solidFill>
                <a:latin typeface="Arial"/>
              </a:rPr>
              <a:t>Instituição C</a:t>
            </a:r>
          </a:p>
        </p:txBody>
      </p:sp>
      <p:sp>
        <p:nvSpPr>
          <p:cNvPr id="18" name="Rounded Rectangle 17"/>
          <p:cNvSpPr/>
          <p:nvPr/>
        </p:nvSpPr>
        <p:spPr>
          <a:xfrm>
            <a:off x="9784080" y="3977639"/>
            <a:ext cx="1737360" cy="457200"/>
          </a:xfrm>
          <a:prstGeom prst="roundRect">
            <a:avLst>
              <a:gd name="adj" fmla="val 50000"/>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0" y="3977639"/>
            <a:ext cx="1737360" cy="457200"/>
          </a:xfrm>
          <a:prstGeom prst="rect">
            <a:avLst/>
          </a:prstGeom>
          <a:noFill/>
        </p:spPr>
        <p:txBody>
          <a:bodyPr wrap="square" lIns="0" rIns="0" tIns="0" bIns="0" anchor="ctr">
            <a:spAutoFit/>
          </a:bodyPr>
          <a:lstStyle/>
          <a:p>
            <a:pPr algn="ctr"/>
            <a:r>
              <a:rPr sz="1300" b="1" i="0">
                <a:solidFill>
                  <a:srgbClr val="FFFFFF"/>
                </a:solidFill>
                <a:latin typeface="Arial"/>
              </a:rPr>
              <a:t>Conciliação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O que é conciliação contábil?</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554480"/>
            <a:ext cx="4846320" cy="1828800"/>
          </a:xfrm>
          <a:prstGeom prst="rect">
            <a:avLst/>
          </a:prstGeom>
          <a:noFill/>
        </p:spPr>
        <p:txBody>
          <a:bodyPr wrap="square" lIns="0" rIns="0" tIns="0" bIns="0" anchor="t">
            <a:spAutoFit/>
          </a:bodyPr>
          <a:lstStyle/>
          <a:p>
            <a:pPr algn="l"/>
            <a:r>
              <a:rPr sz="2600" b="1" i="0">
                <a:solidFill>
                  <a:srgbClr val="0F5E66"/>
                </a:solidFill>
                <a:latin typeface="Arial"/>
              </a:rPr>
              <a:t>“Conferir se o que está no livro contábil bate com a realidade financeira.”</a:t>
            </a:r>
          </a:p>
        </p:txBody>
      </p:sp>
      <p:sp>
        <p:nvSpPr>
          <p:cNvPr id="6" name="TextBox 5"/>
          <p:cNvSpPr txBox="1"/>
          <p:nvPr/>
        </p:nvSpPr>
        <p:spPr>
          <a:xfrm>
            <a:off x="548640" y="3520440"/>
            <a:ext cx="4663440" cy="2011680"/>
          </a:xfrm>
          <a:prstGeom prst="rect">
            <a:avLst/>
          </a:prstGeom>
          <a:noFill/>
        </p:spPr>
        <p:txBody>
          <a:bodyPr wrap="square" lIns="0" rIns="0" tIns="0" bIns="0" anchor="t">
            <a:spAutoFit/>
          </a:bodyPr>
          <a:lstStyle/>
          <a:p>
            <a:pPr algn="l"/>
            <a:r>
              <a:rPr sz="1600" b="0" i="0">
                <a:solidFill>
                  <a:srgbClr val="5F5F5B"/>
                </a:solidFill>
                <a:latin typeface="Arial"/>
              </a:rPr>
              <a:t>Comparar os saldos registrados na contabilidade com extratos, documentos e registros externos: bancos, fornecedores e clientes.</a:t>
            </a:r>
          </a:p>
        </p:txBody>
      </p:sp>
      <p:sp>
        <p:nvSpPr>
          <p:cNvPr id="7" name="Rounded Rectangle 6"/>
          <p:cNvSpPr/>
          <p:nvPr/>
        </p:nvSpPr>
        <p:spPr>
          <a:xfrm>
            <a:off x="5852160" y="1508760"/>
            <a:ext cx="2697480" cy="19659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80" y="1783080"/>
            <a:ext cx="685800" cy="68580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MagnifyingGlass_white.png"/>
          <p:cNvPicPr>
            <a:picLocks noChangeAspect="1"/>
          </p:cNvPicPr>
          <p:nvPr/>
        </p:nvPicPr>
        <p:blipFill>
          <a:blip r:embed="rId3"/>
          <a:stretch>
            <a:fillRect/>
          </a:stretch>
        </p:blipFill>
        <p:spPr>
          <a:xfrm>
            <a:off x="6297930" y="1954530"/>
            <a:ext cx="342900" cy="342900"/>
          </a:xfrm>
          <a:prstGeom prst="rect">
            <a:avLst/>
          </a:prstGeom>
        </p:spPr>
      </p:pic>
      <p:sp>
        <p:nvSpPr>
          <p:cNvPr id="10" name="TextBox 9"/>
          <p:cNvSpPr txBox="1"/>
          <p:nvPr/>
        </p:nvSpPr>
        <p:spPr>
          <a:xfrm>
            <a:off x="6126480" y="2606039"/>
            <a:ext cx="2286000" cy="365760"/>
          </a:xfrm>
          <a:prstGeom prst="rect">
            <a:avLst/>
          </a:prstGeom>
          <a:noFill/>
        </p:spPr>
        <p:txBody>
          <a:bodyPr wrap="square" lIns="0" rIns="0" tIns="0" bIns="0" anchor="t">
            <a:spAutoFit/>
          </a:bodyPr>
          <a:lstStyle/>
          <a:p>
            <a:pPr algn="l"/>
            <a:r>
              <a:rPr sz="1600" b="1" i="0">
                <a:solidFill>
                  <a:srgbClr val="232322"/>
                </a:solidFill>
                <a:latin typeface="Arial"/>
              </a:rPr>
              <a:t>Identificar erros</a:t>
            </a:r>
          </a:p>
        </p:txBody>
      </p:sp>
      <p:sp>
        <p:nvSpPr>
          <p:cNvPr id="11" name="TextBox 10"/>
          <p:cNvSpPr txBox="1"/>
          <p:nvPr/>
        </p:nvSpPr>
        <p:spPr>
          <a:xfrm>
            <a:off x="6126480" y="2926080"/>
            <a:ext cx="2286000" cy="365760"/>
          </a:xfrm>
          <a:prstGeom prst="rect">
            <a:avLst/>
          </a:prstGeom>
          <a:noFill/>
        </p:spPr>
        <p:txBody>
          <a:bodyPr wrap="square" lIns="0" rIns="0" tIns="0" bIns="0" anchor="t">
            <a:spAutoFit/>
          </a:bodyPr>
          <a:lstStyle/>
          <a:p>
            <a:pPr algn="l"/>
            <a:r>
              <a:rPr sz="1300" b="0" i="0">
                <a:solidFill>
                  <a:srgbClr val="5F5F5B"/>
                </a:solidFill>
                <a:latin typeface="Arial"/>
              </a:rPr>
              <a:t>e inconsistências</a:t>
            </a:r>
          </a:p>
        </p:txBody>
      </p:sp>
      <p:sp>
        <p:nvSpPr>
          <p:cNvPr id="12" name="Rounded Rectangle 11"/>
          <p:cNvSpPr/>
          <p:nvPr/>
        </p:nvSpPr>
        <p:spPr>
          <a:xfrm>
            <a:off x="8778240" y="1508760"/>
            <a:ext cx="2697480" cy="19659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052560" y="1783080"/>
            <a:ext cx="685800" cy="68580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ShieldHalved_white.png"/>
          <p:cNvPicPr>
            <a:picLocks noChangeAspect="1"/>
          </p:cNvPicPr>
          <p:nvPr/>
        </p:nvPicPr>
        <p:blipFill>
          <a:blip r:embed="rId4"/>
          <a:stretch>
            <a:fillRect/>
          </a:stretch>
        </p:blipFill>
        <p:spPr>
          <a:xfrm>
            <a:off x="9224010" y="1954530"/>
            <a:ext cx="342900" cy="342900"/>
          </a:xfrm>
          <a:prstGeom prst="rect">
            <a:avLst/>
          </a:prstGeom>
        </p:spPr>
      </p:pic>
      <p:sp>
        <p:nvSpPr>
          <p:cNvPr id="15" name="TextBox 14"/>
          <p:cNvSpPr txBox="1"/>
          <p:nvPr/>
        </p:nvSpPr>
        <p:spPr>
          <a:xfrm>
            <a:off x="9052560" y="2606039"/>
            <a:ext cx="2286000" cy="365760"/>
          </a:xfrm>
          <a:prstGeom prst="rect">
            <a:avLst/>
          </a:prstGeom>
          <a:noFill/>
        </p:spPr>
        <p:txBody>
          <a:bodyPr wrap="square" lIns="0" rIns="0" tIns="0" bIns="0" anchor="t">
            <a:spAutoFit/>
          </a:bodyPr>
          <a:lstStyle/>
          <a:p>
            <a:pPr algn="l"/>
            <a:r>
              <a:rPr sz="1600" b="1" i="0">
                <a:solidFill>
                  <a:srgbClr val="232322"/>
                </a:solidFill>
                <a:latin typeface="Arial"/>
              </a:rPr>
              <a:t>Garantir registros</a:t>
            </a:r>
          </a:p>
        </p:txBody>
      </p:sp>
      <p:sp>
        <p:nvSpPr>
          <p:cNvPr id="16" name="TextBox 15"/>
          <p:cNvSpPr txBox="1"/>
          <p:nvPr/>
        </p:nvSpPr>
        <p:spPr>
          <a:xfrm>
            <a:off x="9052560" y="2926080"/>
            <a:ext cx="2286000" cy="365760"/>
          </a:xfrm>
          <a:prstGeom prst="rect">
            <a:avLst/>
          </a:prstGeom>
          <a:noFill/>
        </p:spPr>
        <p:txBody>
          <a:bodyPr wrap="square" lIns="0" rIns="0" tIns="0" bIns="0" anchor="t">
            <a:spAutoFit/>
          </a:bodyPr>
          <a:lstStyle/>
          <a:p>
            <a:pPr algn="l"/>
            <a:r>
              <a:rPr sz="1300" b="0" i="0">
                <a:solidFill>
                  <a:srgbClr val="5F5F5B"/>
                </a:solidFill>
                <a:latin typeface="Arial"/>
              </a:rPr>
              <a:t>corretos e confiáveis</a:t>
            </a:r>
          </a:p>
        </p:txBody>
      </p:sp>
      <p:sp>
        <p:nvSpPr>
          <p:cNvPr id="17" name="Rounded Rectangle 16"/>
          <p:cNvSpPr/>
          <p:nvPr/>
        </p:nvSpPr>
        <p:spPr>
          <a:xfrm>
            <a:off x="5852160" y="3749039"/>
            <a:ext cx="2697480" cy="19659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80" y="4023359"/>
            <a:ext cx="685800" cy="68580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ChartLine_white.png"/>
          <p:cNvPicPr>
            <a:picLocks noChangeAspect="1"/>
          </p:cNvPicPr>
          <p:nvPr/>
        </p:nvPicPr>
        <p:blipFill>
          <a:blip r:embed="rId5"/>
          <a:stretch>
            <a:fillRect/>
          </a:stretch>
        </p:blipFill>
        <p:spPr>
          <a:xfrm>
            <a:off x="6297930" y="4194809"/>
            <a:ext cx="342900" cy="342900"/>
          </a:xfrm>
          <a:prstGeom prst="rect">
            <a:avLst/>
          </a:prstGeom>
        </p:spPr>
      </p:pic>
      <p:sp>
        <p:nvSpPr>
          <p:cNvPr id="20" name="TextBox 19"/>
          <p:cNvSpPr txBox="1"/>
          <p:nvPr/>
        </p:nvSpPr>
        <p:spPr>
          <a:xfrm>
            <a:off x="6126480" y="4846320"/>
            <a:ext cx="2286000" cy="365760"/>
          </a:xfrm>
          <a:prstGeom prst="rect">
            <a:avLst/>
          </a:prstGeom>
          <a:noFill/>
        </p:spPr>
        <p:txBody>
          <a:bodyPr wrap="square" lIns="0" rIns="0" tIns="0" bIns="0" anchor="t">
            <a:spAutoFit/>
          </a:bodyPr>
          <a:lstStyle/>
          <a:p>
            <a:pPr algn="l"/>
            <a:r>
              <a:rPr sz="1600" b="1" i="0">
                <a:solidFill>
                  <a:srgbClr val="232322"/>
                </a:solidFill>
                <a:latin typeface="Arial"/>
              </a:rPr>
              <a:t>Apoiar decisões</a:t>
            </a:r>
          </a:p>
        </p:txBody>
      </p:sp>
      <p:sp>
        <p:nvSpPr>
          <p:cNvPr id="21" name="TextBox 20"/>
          <p:cNvSpPr txBox="1"/>
          <p:nvPr/>
        </p:nvSpPr>
        <p:spPr>
          <a:xfrm>
            <a:off x="6126480" y="5166359"/>
            <a:ext cx="2286000" cy="365760"/>
          </a:xfrm>
          <a:prstGeom prst="rect">
            <a:avLst/>
          </a:prstGeom>
          <a:noFill/>
        </p:spPr>
        <p:txBody>
          <a:bodyPr wrap="square" lIns="0" rIns="0" tIns="0" bIns="0" anchor="t">
            <a:spAutoFit/>
          </a:bodyPr>
          <a:lstStyle/>
          <a:p>
            <a:pPr algn="l"/>
            <a:r>
              <a:rPr sz="1300" b="0" i="0">
                <a:solidFill>
                  <a:srgbClr val="5F5F5B"/>
                </a:solidFill>
                <a:latin typeface="Arial"/>
              </a:rPr>
              <a:t>com informações precisas</a:t>
            </a:r>
          </a:p>
        </p:txBody>
      </p:sp>
      <p:sp>
        <p:nvSpPr>
          <p:cNvPr id="22" name="Rounded Rectangle 21"/>
          <p:cNvSpPr/>
          <p:nvPr/>
        </p:nvSpPr>
        <p:spPr>
          <a:xfrm>
            <a:off x="8778240" y="3749039"/>
            <a:ext cx="2697480" cy="19659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52560" y="4023359"/>
            <a:ext cx="685800" cy="68580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aClipboardCheck_white.png"/>
          <p:cNvPicPr>
            <a:picLocks noChangeAspect="1"/>
          </p:cNvPicPr>
          <p:nvPr/>
        </p:nvPicPr>
        <p:blipFill>
          <a:blip r:embed="rId6"/>
          <a:stretch>
            <a:fillRect/>
          </a:stretch>
        </p:blipFill>
        <p:spPr>
          <a:xfrm>
            <a:off x="9224010" y="4194809"/>
            <a:ext cx="342900" cy="342900"/>
          </a:xfrm>
          <a:prstGeom prst="rect">
            <a:avLst/>
          </a:prstGeom>
        </p:spPr>
      </p:pic>
      <p:sp>
        <p:nvSpPr>
          <p:cNvPr id="25" name="TextBox 24"/>
          <p:cNvSpPr txBox="1"/>
          <p:nvPr/>
        </p:nvSpPr>
        <p:spPr>
          <a:xfrm>
            <a:off x="9052560" y="4846320"/>
            <a:ext cx="2286000" cy="365760"/>
          </a:xfrm>
          <a:prstGeom prst="rect">
            <a:avLst/>
          </a:prstGeom>
          <a:noFill/>
        </p:spPr>
        <p:txBody>
          <a:bodyPr wrap="square" lIns="0" rIns="0" tIns="0" bIns="0" anchor="t">
            <a:spAutoFit/>
          </a:bodyPr>
          <a:lstStyle/>
          <a:p>
            <a:pPr algn="l"/>
            <a:r>
              <a:rPr sz="1600" b="1" i="0">
                <a:solidFill>
                  <a:srgbClr val="232322"/>
                </a:solidFill>
                <a:latin typeface="Arial"/>
              </a:rPr>
              <a:t>Permitir auditorias</a:t>
            </a:r>
          </a:p>
        </p:txBody>
      </p:sp>
      <p:sp>
        <p:nvSpPr>
          <p:cNvPr id="26" name="TextBox 25"/>
          <p:cNvSpPr txBox="1"/>
          <p:nvPr/>
        </p:nvSpPr>
        <p:spPr>
          <a:xfrm>
            <a:off x="9052560" y="5166359"/>
            <a:ext cx="2286000" cy="365760"/>
          </a:xfrm>
          <a:prstGeom prst="rect">
            <a:avLst/>
          </a:prstGeom>
          <a:noFill/>
        </p:spPr>
        <p:txBody>
          <a:bodyPr wrap="square" lIns="0" rIns="0" tIns="0" bIns="0" anchor="t">
            <a:spAutoFit/>
          </a:bodyPr>
          <a:lstStyle/>
          <a:p>
            <a:pPr algn="l"/>
            <a:r>
              <a:rPr sz="1300" b="0" i="0">
                <a:solidFill>
                  <a:srgbClr val="5F5F5B"/>
                </a:solidFill>
                <a:latin typeface="Arial"/>
              </a:rPr>
              <a:t>com rastreabilidade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Caso 1: mensagens Swift com chave em texto livre</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371600"/>
            <a:ext cx="10972800" cy="457200"/>
          </a:xfrm>
          <a:prstGeom prst="rect">
            <a:avLst/>
          </a:prstGeom>
          <a:noFill/>
        </p:spPr>
        <p:txBody>
          <a:bodyPr wrap="square" lIns="0" rIns="0" tIns="0" bIns="0" anchor="t">
            <a:spAutoFit/>
          </a:bodyPr>
          <a:lstStyle/>
          <a:p>
            <a:pPr algn="l"/>
            <a:r>
              <a:rPr sz="1600" b="0" i="0">
                <a:solidFill>
                  <a:srgbClr val="5F5F5B"/>
                </a:solidFill>
                <a:latin typeface="Arial"/>
              </a:rPr>
              <a:t>Conciliar mensagens Swift com operações internas, quando cada banco do mundo escreve a chave à sua maneira.</a:t>
            </a:r>
          </a:p>
        </p:txBody>
      </p:sp>
      <p:sp>
        <p:nvSpPr>
          <p:cNvPr id="6" name="Rounded Rectangle 5"/>
          <p:cNvSpPr/>
          <p:nvPr/>
        </p:nvSpPr>
        <p:spPr>
          <a:xfrm>
            <a:off x="548640" y="2103120"/>
            <a:ext cx="2377440" cy="20574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233172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EnvelopeOpenText_white.png"/>
          <p:cNvPicPr>
            <a:picLocks noChangeAspect="1"/>
          </p:cNvPicPr>
          <p:nvPr/>
        </p:nvPicPr>
        <p:blipFill>
          <a:blip r:embed="rId3"/>
          <a:stretch>
            <a:fillRect/>
          </a:stretch>
        </p:blipFill>
        <p:spPr>
          <a:xfrm>
            <a:off x="1554480" y="2514600"/>
            <a:ext cx="365760" cy="365760"/>
          </a:xfrm>
          <a:prstGeom prst="rect">
            <a:avLst/>
          </a:prstGeom>
        </p:spPr>
      </p:pic>
      <p:sp>
        <p:nvSpPr>
          <p:cNvPr id="9" name="TextBox 8"/>
          <p:cNvSpPr txBox="1"/>
          <p:nvPr/>
        </p:nvSpPr>
        <p:spPr>
          <a:xfrm>
            <a:off x="685800" y="3200400"/>
            <a:ext cx="2103120" cy="365760"/>
          </a:xfrm>
          <a:prstGeom prst="rect">
            <a:avLst/>
          </a:prstGeom>
          <a:noFill/>
        </p:spPr>
        <p:txBody>
          <a:bodyPr wrap="square" lIns="0" rIns="0" tIns="0" bIns="0" anchor="t">
            <a:spAutoFit/>
          </a:bodyPr>
          <a:lstStyle/>
          <a:p>
            <a:pPr algn="ctr"/>
            <a:r>
              <a:rPr sz="1600" b="1" i="0">
                <a:solidFill>
                  <a:srgbClr val="232322"/>
                </a:solidFill>
                <a:latin typeface="Arial"/>
              </a:rPr>
              <a:t>Mensagem Swift</a:t>
            </a:r>
          </a:p>
        </p:txBody>
      </p:sp>
      <p:sp>
        <p:nvSpPr>
          <p:cNvPr id="10" name="TextBox 9"/>
          <p:cNvSpPr txBox="1"/>
          <p:nvPr/>
        </p:nvSpPr>
        <p:spPr>
          <a:xfrm>
            <a:off x="685800" y="3566160"/>
            <a:ext cx="2103120" cy="548640"/>
          </a:xfrm>
          <a:prstGeom prst="rect">
            <a:avLst/>
          </a:prstGeom>
          <a:noFill/>
        </p:spPr>
        <p:txBody>
          <a:bodyPr wrap="square" lIns="0" rIns="0" tIns="0" bIns="0" anchor="t">
            <a:spAutoFit/>
          </a:bodyPr>
          <a:lstStyle/>
          <a:p>
            <a:pPr algn="ctr"/>
            <a:r>
              <a:rPr sz="1300" b="0" i="0">
                <a:solidFill>
                  <a:srgbClr val="5F5F5B"/>
                </a:solidFill>
                <a:latin typeface="Arial"/>
              </a:rPr>
              <a:t>Nome do destinatário em texto livre</a:t>
            </a:r>
          </a:p>
        </p:txBody>
      </p:sp>
      <p:pic>
        <p:nvPicPr>
          <p:cNvPr id="11" name="Picture 10" descr="FaArrowRight_gray.png"/>
          <p:cNvPicPr>
            <a:picLocks noChangeAspect="1"/>
          </p:cNvPicPr>
          <p:nvPr/>
        </p:nvPicPr>
        <p:blipFill>
          <a:blip r:embed="rId4"/>
          <a:stretch>
            <a:fillRect/>
          </a:stretch>
        </p:blipFill>
        <p:spPr>
          <a:xfrm>
            <a:off x="2980944" y="2944368"/>
            <a:ext cx="347472" cy="347472"/>
          </a:xfrm>
          <a:prstGeom prst="rect">
            <a:avLst/>
          </a:prstGeom>
        </p:spPr>
      </p:pic>
      <p:sp>
        <p:nvSpPr>
          <p:cNvPr id="12" name="Rounded Rectangle 11"/>
          <p:cNvSpPr/>
          <p:nvPr/>
        </p:nvSpPr>
        <p:spPr>
          <a:xfrm>
            <a:off x="3383280" y="2103120"/>
            <a:ext cx="2377440" cy="20574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06240" y="233172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SpellCheck_white.png"/>
          <p:cNvPicPr>
            <a:picLocks noChangeAspect="1"/>
          </p:cNvPicPr>
          <p:nvPr/>
        </p:nvPicPr>
        <p:blipFill>
          <a:blip r:embed="rId5"/>
          <a:stretch>
            <a:fillRect/>
          </a:stretch>
        </p:blipFill>
        <p:spPr>
          <a:xfrm>
            <a:off x="4389120" y="2514600"/>
            <a:ext cx="365760" cy="365760"/>
          </a:xfrm>
          <a:prstGeom prst="rect">
            <a:avLst/>
          </a:prstGeom>
        </p:spPr>
      </p:pic>
      <p:sp>
        <p:nvSpPr>
          <p:cNvPr id="15" name="TextBox 14"/>
          <p:cNvSpPr txBox="1"/>
          <p:nvPr/>
        </p:nvSpPr>
        <p:spPr>
          <a:xfrm>
            <a:off x="3520440" y="3200400"/>
            <a:ext cx="2103120" cy="365760"/>
          </a:xfrm>
          <a:prstGeom prst="rect">
            <a:avLst/>
          </a:prstGeom>
          <a:noFill/>
        </p:spPr>
        <p:txBody>
          <a:bodyPr wrap="square" lIns="0" rIns="0" tIns="0" bIns="0" anchor="t">
            <a:spAutoFit/>
          </a:bodyPr>
          <a:lstStyle/>
          <a:p>
            <a:pPr algn="ctr"/>
            <a:r>
              <a:rPr sz="1600" b="1" i="0">
                <a:solidFill>
                  <a:srgbClr val="232322"/>
                </a:solidFill>
                <a:latin typeface="Arial"/>
              </a:rPr>
              <a:t>Similaridade de texto</a:t>
            </a:r>
          </a:p>
        </p:txBody>
      </p:sp>
      <p:sp>
        <p:nvSpPr>
          <p:cNvPr id="16" name="TextBox 15"/>
          <p:cNvSpPr txBox="1"/>
          <p:nvPr/>
        </p:nvSpPr>
        <p:spPr>
          <a:xfrm>
            <a:off x="3520440" y="3566160"/>
            <a:ext cx="2103120" cy="548640"/>
          </a:xfrm>
          <a:prstGeom prst="rect">
            <a:avLst/>
          </a:prstGeom>
          <a:noFill/>
        </p:spPr>
        <p:txBody>
          <a:bodyPr wrap="square" lIns="0" rIns="0" tIns="0" bIns="0" anchor="t">
            <a:spAutoFit/>
          </a:bodyPr>
          <a:lstStyle/>
          <a:p>
            <a:pPr algn="ctr"/>
            <a:r>
              <a:rPr sz="1300" b="0" i="0">
                <a:solidFill>
                  <a:srgbClr val="5F5F5B"/>
                </a:solidFill>
                <a:latin typeface="Arial"/>
              </a:rPr>
              <a:t>Compara com o cadastro interno</a:t>
            </a:r>
          </a:p>
        </p:txBody>
      </p:sp>
      <p:pic>
        <p:nvPicPr>
          <p:cNvPr id="17" name="Picture 16" descr="FaArrowRight_gray.png"/>
          <p:cNvPicPr>
            <a:picLocks noChangeAspect="1"/>
          </p:cNvPicPr>
          <p:nvPr/>
        </p:nvPicPr>
        <p:blipFill>
          <a:blip r:embed="rId4"/>
          <a:stretch>
            <a:fillRect/>
          </a:stretch>
        </p:blipFill>
        <p:spPr>
          <a:xfrm>
            <a:off x="5815584" y="2944368"/>
            <a:ext cx="347472" cy="347472"/>
          </a:xfrm>
          <a:prstGeom prst="rect">
            <a:avLst/>
          </a:prstGeom>
        </p:spPr>
      </p:pic>
      <p:sp>
        <p:nvSpPr>
          <p:cNvPr id="18" name="Rounded Rectangle 17"/>
          <p:cNvSpPr/>
          <p:nvPr/>
        </p:nvSpPr>
        <p:spPr>
          <a:xfrm>
            <a:off x="6217920" y="2103120"/>
            <a:ext cx="2377440" cy="20574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0" y="233172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aPercent_white.png"/>
          <p:cNvPicPr>
            <a:picLocks noChangeAspect="1"/>
          </p:cNvPicPr>
          <p:nvPr/>
        </p:nvPicPr>
        <p:blipFill>
          <a:blip r:embed="rId6"/>
          <a:stretch>
            <a:fillRect/>
          </a:stretch>
        </p:blipFill>
        <p:spPr>
          <a:xfrm>
            <a:off x="7223760" y="2514600"/>
            <a:ext cx="365760" cy="365760"/>
          </a:xfrm>
          <a:prstGeom prst="rect">
            <a:avLst/>
          </a:prstGeom>
        </p:spPr>
      </p:pic>
      <p:sp>
        <p:nvSpPr>
          <p:cNvPr id="21" name="TextBox 20"/>
          <p:cNvSpPr txBox="1"/>
          <p:nvPr/>
        </p:nvSpPr>
        <p:spPr>
          <a:xfrm>
            <a:off x="6355080" y="3200400"/>
            <a:ext cx="2103120" cy="365760"/>
          </a:xfrm>
          <a:prstGeom prst="rect">
            <a:avLst/>
          </a:prstGeom>
          <a:noFill/>
        </p:spPr>
        <p:txBody>
          <a:bodyPr wrap="square" lIns="0" rIns="0" tIns="0" bIns="0" anchor="t">
            <a:spAutoFit/>
          </a:bodyPr>
          <a:lstStyle/>
          <a:p>
            <a:pPr algn="ctr"/>
            <a:r>
              <a:rPr sz="1600" b="1" i="0">
                <a:solidFill>
                  <a:srgbClr val="232322"/>
                </a:solidFill>
                <a:latin typeface="Arial"/>
              </a:rPr>
              <a:t>Percentual</a:t>
            </a:r>
          </a:p>
        </p:txBody>
      </p:sp>
      <p:sp>
        <p:nvSpPr>
          <p:cNvPr id="22" name="TextBox 21"/>
          <p:cNvSpPr txBox="1"/>
          <p:nvPr/>
        </p:nvSpPr>
        <p:spPr>
          <a:xfrm>
            <a:off x="6355080" y="3566160"/>
            <a:ext cx="2103120" cy="548640"/>
          </a:xfrm>
          <a:prstGeom prst="rect">
            <a:avLst/>
          </a:prstGeom>
          <a:noFill/>
        </p:spPr>
        <p:txBody>
          <a:bodyPr wrap="square" lIns="0" rIns="0" tIns="0" bIns="0" anchor="t">
            <a:spAutoFit/>
          </a:bodyPr>
          <a:lstStyle/>
          <a:p>
            <a:pPr algn="ctr"/>
            <a:r>
              <a:rPr sz="1300" b="0" i="0">
                <a:solidFill>
                  <a:srgbClr val="5F5F5B"/>
                </a:solidFill>
                <a:latin typeface="Arial"/>
              </a:rPr>
              <a:t>Quão parecidos são os dois nomes</a:t>
            </a:r>
          </a:p>
        </p:txBody>
      </p:sp>
      <p:pic>
        <p:nvPicPr>
          <p:cNvPr id="23" name="Picture 22" descr="FaArrowRight_gray.png"/>
          <p:cNvPicPr>
            <a:picLocks noChangeAspect="1"/>
          </p:cNvPicPr>
          <p:nvPr/>
        </p:nvPicPr>
        <p:blipFill>
          <a:blip r:embed="rId4"/>
          <a:stretch>
            <a:fillRect/>
          </a:stretch>
        </p:blipFill>
        <p:spPr>
          <a:xfrm>
            <a:off x="8650224" y="2944368"/>
            <a:ext cx="347472" cy="347472"/>
          </a:xfrm>
          <a:prstGeom prst="rect">
            <a:avLst/>
          </a:prstGeom>
        </p:spPr>
      </p:pic>
      <p:sp>
        <p:nvSpPr>
          <p:cNvPr id="24" name="Rounded Rectangle 23"/>
          <p:cNvSpPr/>
          <p:nvPr/>
        </p:nvSpPr>
        <p:spPr>
          <a:xfrm>
            <a:off x="9052560" y="2103120"/>
            <a:ext cx="2377440" cy="20574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75520" y="233172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aCircleCheck_white.png"/>
          <p:cNvPicPr>
            <a:picLocks noChangeAspect="1"/>
          </p:cNvPicPr>
          <p:nvPr/>
        </p:nvPicPr>
        <p:blipFill>
          <a:blip r:embed="rId7"/>
          <a:stretch>
            <a:fillRect/>
          </a:stretch>
        </p:blipFill>
        <p:spPr>
          <a:xfrm>
            <a:off x="10058400" y="2514600"/>
            <a:ext cx="365760" cy="365760"/>
          </a:xfrm>
          <a:prstGeom prst="rect">
            <a:avLst/>
          </a:prstGeom>
        </p:spPr>
      </p:pic>
      <p:sp>
        <p:nvSpPr>
          <p:cNvPr id="27" name="TextBox 26"/>
          <p:cNvSpPr txBox="1"/>
          <p:nvPr/>
        </p:nvSpPr>
        <p:spPr>
          <a:xfrm>
            <a:off x="9189720" y="3200400"/>
            <a:ext cx="2103120" cy="365760"/>
          </a:xfrm>
          <a:prstGeom prst="rect">
            <a:avLst/>
          </a:prstGeom>
          <a:noFill/>
        </p:spPr>
        <p:txBody>
          <a:bodyPr wrap="square" lIns="0" rIns="0" tIns="0" bIns="0" anchor="t">
            <a:spAutoFit/>
          </a:bodyPr>
          <a:lstStyle/>
          <a:p>
            <a:pPr algn="ctr"/>
            <a:r>
              <a:rPr sz="1600" b="1" i="0">
                <a:solidFill>
                  <a:srgbClr val="232322"/>
                </a:solidFill>
                <a:latin typeface="Arial"/>
              </a:rPr>
              <a:t>Limiar atingido?</a:t>
            </a:r>
          </a:p>
        </p:txBody>
      </p:sp>
      <p:sp>
        <p:nvSpPr>
          <p:cNvPr id="28" name="TextBox 27"/>
          <p:cNvSpPr txBox="1"/>
          <p:nvPr/>
        </p:nvSpPr>
        <p:spPr>
          <a:xfrm>
            <a:off x="9189720" y="3566160"/>
            <a:ext cx="2103120" cy="548640"/>
          </a:xfrm>
          <a:prstGeom prst="rect">
            <a:avLst/>
          </a:prstGeom>
          <a:noFill/>
        </p:spPr>
        <p:txBody>
          <a:bodyPr wrap="square" lIns="0" rIns="0" tIns="0" bIns="0" anchor="t">
            <a:spAutoFit/>
          </a:bodyPr>
          <a:lstStyle/>
          <a:p>
            <a:pPr algn="ctr"/>
            <a:r>
              <a:rPr sz="1300" b="0" i="0">
                <a:solidFill>
                  <a:srgbClr val="5F5F5B"/>
                </a:solidFill>
                <a:latin typeface="Arial"/>
              </a:rPr>
              <a:t>Então o registro é conciliado</a:t>
            </a:r>
          </a:p>
        </p:txBody>
      </p:sp>
      <p:sp>
        <p:nvSpPr>
          <p:cNvPr id="29" name="Rounded Rectangle 28"/>
          <p:cNvSpPr/>
          <p:nvPr/>
        </p:nvSpPr>
        <p:spPr>
          <a:xfrm>
            <a:off x="548640" y="4526280"/>
            <a:ext cx="10881360" cy="109728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526280"/>
            <a:ext cx="10332720" cy="1097280"/>
          </a:xfrm>
          <a:prstGeom prst="rect">
            <a:avLst/>
          </a:prstGeom>
          <a:noFill/>
        </p:spPr>
        <p:txBody>
          <a:bodyPr wrap="square" lIns="0" rIns="0" tIns="0" bIns="0" anchor="ctr">
            <a:spAutoFit/>
          </a:bodyPr>
          <a:lstStyle/>
          <a:p>
            <a:pPr algn="l"/>
            <a:r>
              <a:rPr sz="1500" b="1" i="0">
                <a:solidFill>
                  <a:srgbClr val="0F5E66"/>
                </a:solidFill>
                <a:latin typeface="Arial"/>
              </a:rPr>
              <a:t>Exemplo: </a:t>
            </a:r>
            <a:r>
              <a:rPr sz="1500" b="0" i="0">
                <a:solidFill>
                  <a:srgbClr val="232322"/>
                </a:solidFill>
                <a:latin typeface="Arial"/>
              </a:rPr>
              <a:t>“JOHN SMITH TRADING LTD” × “John Smith Trading Limited” → alta similaridade → conciliado. A decisão é um limiar fixo, escrito à mão.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Caso 2: arquivos de B3 e CETIP em vários formatos</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pic>
        <p:nvPicPr>
          <p:cNvPr id="5" name="Picture 4" descr="FaFileExcel_teal.png"/>
          <p:cNvPicPr>
            <a:picLocks noChangeAspect="1"/>
          </p:cNvPicPr>
          <p:nvPr/>
        </p:nvPicPr>
        <p:blipFill>
          <a:blip r:embed="rId3"/>
          <a:stretch>
            <a:fillRect/>
          </a:stretch>
        </p:blipFill>
        <p:spPr>
          <a:xfrm>
            <a:off x="685800" y="1463040"/>
            <a:ext cx="457200" cy="457200"/>
          </a:xfrm>
          <a:prstGeom prst="rect">
            <a:avLst/>
          </a:prstGeom>
        </p:spPr>
      </p:pic>
      <p:sp>
        <p:nvSpPr>
          <p:cNvPr id="6" name="TextBox 5"/>
          <p:cNvSpPr txBox="1"/>
          <p:nvPr/>
        </p:nvSpPr>
        <p:spPr>
          <a:xfrm>
            <a:off x="1280160" y="1536192"/>
            <a:ext cx="1097280" cy="365760"/>
          </a:xfrm>
          <a:prstGeom prst="rect">
            <a:avLst/>
          </a:prstGeom>
          <a:noFill/>
        </p:spPr>
        <p:txBody>
          <a:bodyPr wrap="square" lIns="0" rIns="0" tIns="0" bIns="0" anchor="t">
            <a:spAutoFit/>
          </a:bodyPr>
          <a:lstStyle/>
          <a:p>
            <a:pPr algn="l"/>
            <a:r>
              <a:rPr sz="1400" b="0" i="0">
                <a:solidFill>
                  <a:srgbClr val="232322"/>
                </a:solidFill>
                <a:latin typeface="Arial"/>
              </a:rPr>
              <a:t>Excel</a:t>
            </a:r>
          </a:p>
        </p:txBody>
      </p:sp>
      <p:pic>
        <p:nvPicPr>
          <p:cNvPr id="7" name="Picture 6" descr="FaFileLines_teal.png"/>
          <p:cNvPicPr>
            <a:picLocks noChangeAspect="1"/>
          </p:cNvPicPr>
          <p:nvPr/>
        </p:nvPicPr>
        <p:blipFill>
          <a:blip r:embed="rId4"/>
          <a:stretch>
            <a:fillRect/>
          </a:stretch>
        </p:blipFill>
        <p:spPr>
          <a:xfrm>
            <a:off x="685800" y="2176272"/>
            <a:ext cx="457200" cy="457200"/>
          </a:xfrm>
          <a:prstGeom prst="rect">
            <a:avLst/>
          </a:prstGeom>
        </p:spPr>
      </p:pic>
      <p:sp>
        <p:nvSpPr>
          <p:cNvPr id="8" name="TextBox 7"/>
          <p:cNvSpPr txBox="1"/>
          <p:nvPr/>
        </p:nvSpPr>
        <p:spPr>
          <a:xfrm>
            <a:off x="1280160" y="2249424"/>
            <a:ext cx="1097280" cy="365760"/>
          </a:xfrm>
          <a:prstGeom prst="rect">
            <a:avLst/>
          </a:prstGeom>
          <a:noFill/>
        </p:spPr>
        <p:txBody>
          <a:bodyPr wrap="square" lIns="0" rIns="0" tIns="0" bIns="0" anchor="t">
            <a:spAutoFit/>
          </a:bodyPr>
          <a:lstStyle/>
          <a:p>
            <a:pPr algn="l"/>
            <a:r>
              <a:rPr sz="1400" b="0" i="0">
                <a:solidFill>
                  <a:srgbClr val="232322"/>
                </a:solidFill>
                <a:latin typeface="Arial"/>
              </a:rPr>
              <a:t>TXT</a:t>
            </a:r>
          </a:p>
        </p:txBody>
      </p:sp>
      <p:pic>
        <p:nvPicPr>
          <p:cNvPr id="9" name="Picture 8" descr="FaFileCsv_teal.png"/>
          <p:cNvPicPr>
            <a:picLocks noChangeAspect="1"/>
          </p:cNvPicPr>
          <p:nvPr/>
        </p:nvPicPr>
        <p:blipFill>
          <a:blip r:embed="rId5"/>
          <a:stretch>
            <a:fillRect/>
          </a:stretch>
        </p:blipFill>
        <p:spPr>
          <a:xfrm>
            <a:off x="685800" y="2889504"/>
            <a:ext cx="457200" cy="457200"/>
          </a:xfrm>
          <a:prstGeom prst="rect">
            <a:avLst/>
          </a:prstGeom>
        </p:spPr>
      </p:pic>
      <p:sp>
        <p:nvSpPr>
          <p:cNvPr id="10" name="TextBox 9"/>
          <p:cNvSpPr txBox="1"/>
          <p:nvPr/>
        </p:nvSpPr>
        <p:spPr>
          <a:xfrm>
            <a:off x="1280160" y="2962656"/>
            <a:ext cx="1097280" cy="365760"/>
          </a:xfrm>
          <a:prstGeom prst="rect">
            <a:avLst/>
          </a:prstGeom>
          <a:noFill/>
        </p:spPr>
        <p:txBody>
          <a:bodyPr wrap="square" lIns="0" rIns="0" tIns="0" bIns="0" anchor="t">
            <a:spAutoFit/>
          </a:bodyPr>
          <a:lstStyle/>
          <a:p>
            <a:pPr algn="l"/>
            <a:r>
              <a:rPr sz="1400" b="0" i="0">
                <a:solidFill>
                  <a:srgbClr val="232322"/>
                </a:solidFill>
                <a:latin typeface="Arial"/>
              </a:rPr>
              <a:t>CSV</a:t>
            </a:r>
          </a:p>
        </p:txBody>
      </p:sp>
      <p:pic>
        <p:nvPicPr>
          <p:cNvPr id="11" name="Picture 10" descr="FaFilePdf_teal.png"/>
          <p:cNvPicPr>
            <a:picLocks noChangeAspect="1"/>
          </p:cNvPicPr>
          <p:nvPr/>
        </p:nvPicPr>
        <p:blipFill>
          <a:blip r:embed="rId6"/>
          <a:stretch>
            <a:fillRect/>
          </a:stretch>
        </p:blipFill>
        <p:spPr>
          <a:xfrm>
            <a:off x="685800" y="3602736"/>
            <a:ext cx="457200" cy="457200"/>
          </a:xfrm>
          <a:prstGeom prst="rect">
            <a:avLst/>
          </a:prstGeom>
        </p:spPr>
      </p:pic>
      <p:sp>
        <p:nvSpPr>
          <p:cNvPr id="12" name="TextBox 11"/>
          <p:cNvSpPr txBox="1"/>
          <p:nvPr/>
        </p:nvSpPr>
        <p:spPr>
          <a:xfrm>
            <a:off x="1280160" y="3675887"/>
            <a:ext cx="1097280" cy="365760"/>
          </a:xfrm>
          <a:prstGeom prst="rect">
            <a:avLst/>
          </a:prstGeom>
          <a:noFill/>
        </p:spPr>
        <p:txBody>
          <a:bodyPr wrap="square" lIns="0" rIns="0" tIns="0" bIns="0" anchor="t">
            <a:spAutoFit/>
          </a:bodyPr>
          <a:lstStyle/>
          <a:p>
            <a:pPr algn="l"/>
            <a:r>
              <a:rPr sz="1400" b="0" i="0">
                <a:solidFill>
                  <a:srgbClr val="232322"/>
                </a:solidFill>
                <a:latin typeface="Arial"/>
              </a:rPr>
              <a:t>PDF</a:t>
            </a:r>
          </a:p>
        </p:txBody>
      </p:sp>
      <p:pic>
        <p:nvPicPr>
          <p:cNvPr id="13" name="Picture 12" descr="FaArrowRight_gray.png"/>
          <p:cNvPicPr>
            <a:picLocks noChangeAspect="1"/>
          </p:cNvPicPr>
          <p:nvPr/>
        </p:nvPicPr>
        <p:blipFill>
          <a:blip r:embed="rId7"/>
          <a:stretch>
            <a:fillRect/>
          </a:stretch>
        </p:blipFill>
        <p:spPr>
          <a:xfrm>
            <a:off x="2240280" y="2606040"/>
            <a:ext cx="411480" cy="411480"/>
          </a:xfrm>
          <a:prstGeom prst="rect">
            <a:avLst/>
          </a:prstGeom>
        </p:spPr>
      </p:pic>
      <p:sp>
        <p:nvSpPr>
          <p:cNvPr id="14" name="Rounded Rectangle 13"/>
          <p:cNvSpPr/>
          <p:nvPr/>
        </p:nvSpPr>
        <p:spPr>
          <a:xfrm>
            <a:off x="2880360" y="1508760"/>
            <a:ext cx="2377440" cy="237744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03320" y="178308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Gears_white.png"/>
          <p:cNvPicPr>
            <a:picLocks noChangeAspect="1"/>
          </p:cNvPicPr>
          <p:nvPr/>
        </p:nvPicPr>
        <p:blipFill>
          <a:blip r:embed="rId8"/>
          <a:stretch>
            <a:fillRect/>
          </a:stretch>
        </p:blipFill>
        <p:spPr>
          <a:xfrm>
            <a:off x="3886200" y="1965960"/>
            <a:ext cx="365760" cy="365760"/>
          </a:xfrm>
          <a:prstGeom prst="rect">
            <a:avLst/>
          </a:prstGeom>
        </p:spPr>
      </p:pic>
      <p:sp>
        <p:nvSpPr>
          <p:cNvPr id="17" name="TextBox 16"/>
          <p:cNvSpPr txBox="1"/>
          <p:nvPr/>
        </p:nvSpPr>
        <p:spPr>
          <a:xfrm>
            <a:off x="3017520" y="2697480"/>
            <a:ext cx="2103120" cy="365760"/>
          </a:xfrm>
          <a:prstGeom prst="rect">
            <a:avLst/>
          </a:prstGeom>
          <a:noFill/>
        </p:spPr>
        <p:txBody>
          <a:bodyPr wrap="square" lIns="0" rIns="0" tIns="0" bIns="0" anchor="t">
            <a:spAutoFit/>
          </a:bodyPr>
          <a:lstStyle/>
          <a:p>
            <a:pPr algn="ctr"/>
            <a:r>
              <a:rPr sz="1600" b="1" i="0">
                <a:solidFill>
                  <a:srgbClr val="232322"/>
                </a:solidFill>
                <a:latin typeface="Arial"/>
              </a:rPr>
              <a:t>ETL</a:t>
            </a:r>
          </a:p>
        </p:txBody>
      </p:sp>
      <p:sp>
        <p:nvSpPr>
          <p:cNvPr id="18" name="TextBox 17"/>
          <p:cNvSpPr txBox="1"/>
          <p:nvPr/>
        </p:nvSpPr>
        <p:spPr>
          <a:xfrm>
            <a:off x="3017520" y="3063240"/>
            <a:ext cx="2103120" cy="548640"/>
          </a:xfrm>
          <a:prstGeom prst="rect">
            <a:avLst/>
          </a:prstGeom>
          <a:noFill/>
        </p:spPr>
        <p:txBody>
          <a:bodyPr wrap="square" lIns="0" rIns="0" tIns="0" bIns="0" anchor="t">
            <a:spAutoFit/>
          </a:bodyPr>
          <a:lstStyle/>
          <a:p>
            <a:pPr algn="ctr"/>
            <a:r>
              <a:rPr sz="1300" b="0" i="0">
                <a:solidFill>
                  <a:srgbClr val="5F5F5B"/>
                </a:solidFill>
                <a:latin typeface="Arial"/>
              </a:rPr>
              <a:t>padroniza tudo em CSV</a:t>
            </a:r>
          </a:p>
        </p:txBody>
      </p:sp>
      <p:pic>
        <p:nvPicPr>
          <p:cNvPr id="19" name="Picture 18" descr="FaArrowRight_gray.png"/>
          <p:cNvPicPr>
            <a:picLocks noChangeAspect="1"/>
          </p:cNvPicPr>
          <p:nvPr/>
        </p:nvPicPr>
        <p:blipFill>
          <a:blip r:embed="rId7"/>
          <a:stretch>
            <a:fillRect/>
          </a:stretch>
        </p:blipFill>
        <p:spPr>
          <a:xfrm>
            <a:off x="5349240" y="2487168"/>
            <a:ext cx="365760" cy="365760"/>
          </a:xfrm>
          <a:prstGeom prst="rect">
            <a:avLst/>
          </a:prstGeom>
        </p:spPr>
      </p:pic>
      <p:sp>
        <p:nvSpPr>
          <p:cNvPr id="20" name="Rounded Rectangle 19"/>
          <p:cNvSpPr/>
          <p:nvPr/>
        </p:nvSpPr>
        <p:spPr>
          <a:xfrm>
            <a:off x="5806440" y="1508760"/>
            <a:ext cx="2377440" cy="237744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29400" y="178308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aFileCsv_white.png"/>
          <p:cNvPicPr>
            <a:picLocks noChangeAspect="1"/>
          </p:cNvPicPr>
          <p:nvPr/>
        </p:nvPicPr>
        <p:blipFill>
          <a:blip r:embed="rId9"/>
          <a:stretch>
            <a:fillRect/>
          </a:stretch>
        </p:blipFill>
        <p:spPr>
          <a:xfrm>
            <a:off x="6812280" y="1965960"/>
            <a:ext cx="365760" cy="365760"/>
          </a:xfrm>
          <a:prstGeom prst="rect">
            <a:avLst/>
          </a:prstGeom>
        </p:spPr>
      </p:pic>
      <p:sp>
        <p:nvSpPr>
          <p:cNvPr id="23" name="TextBox 22"/>
          <p:cNvSpPr txBox="1"/>
          <p:nvPr/>
        </p:nvSpPr>
        <p:spPr>
          <a:xfrm>
            <a:off x="5943600" y="2697480"/>
            <a:ext cx="2103120" cy="365760"/>
          </a:xfrm>
          <a:prstGeom prst="rect">
            <a:avLst/>
          </a:prstGeom>
          <a:noFill/>
        </p:spPr>
        <p:txBody>
          <a:bodyPr wrap="square" lIns="0" rIns="0" tIns="0" bIns="0" anchor="t">
            <a:spAutoFit/>
          </a:bodyPr>
          <a:lstStyle/>
          <a:p>
            <a:pPr algn="ctr"/>
            <a:r>
              <a:rPr sz="1600" b="1" i="0">
                <a:solidFill>
                  <a:srgbClr val="232322"/>
                </a:solidFill>
                <a:latin typeface="Arial"/>
              </a:rPr>
              <a:t>Conciliação</a:t>
            </a:r>
          </a:p>
        </p:txBody>
      </p:sp>
      <p:sp>
        <p:nvSpPr>
          <p:cNvPr id="24" name="TextBox 23"/>
          <p:cNvSpPr txBox="1"/>
          <p:nvPr/>
        </p:nvSpPr>
        <p:spPr>
          <a:xfrm>
            <a:off x="5943600" y="3063240"/>
            <a:ext cx="2103120" cy="548640"/>
          </a:xfrm>
          <a:prstGeom prst="rect">
            <a:avLst/>
          </a:prstGeom>
          <a:noFill/>
        </p:spPr>
        <p:txBody>
          <a:bodyPr wrap="square" lIns="0" rIns="0" tIns="0" bIns="0" anchor="t">
            <a:spAutoFit/>
          </a:bodyPr>
          <a:lstStyle/>
          <a:p>
            <a:pPr algn="ctr"/>
            <a:r>
              <a:rPr sz="1300" b="0" i="0">
                <a:solidFill>
                  <a:srgbClr val="5F5F5B"/>
                </a:solidFill>
                <a:latin typeface="Arial"/>
              </a:rPr>
              <a:t>processa e compara</a:t>
            </a:r>
          </a:p>
        </p:txBody>
      </p:sp>
      <p:pic>
        <p:nvPicPr>
          <p:cNvPr id="25" name="Picture 24" descr="FaArrowRight_gray.png"/>
          <p:cNvPicPr>
            <a:picLocks noChangeAspect="1"/>
          </p:cNvPicPr>
          <p:nvPr/>
        </p:nvPicPr>
        <p:blipFill>
          <a:blip r:embed="rId7"/>
          <a:stretch>
            <a:fillRect/>
          </a:stretch>
        </p:blipFill>
        <p:spPr>
          <a:xfrm>
            <a:off x="8275320" y="2487168"/>
            <a:ext cx="365760" cy="365760"/>
          </a:xfrm>
          <a:prstGeom prst="rect">
            <a:avLst/>
          </a:prstGeom>
        </p:spPr>
      </p:pic>
      <p:sp>
        <p:nvSpPr>
          <p:cNvPr id="26" name="Rounded Rectangle 25"/>
          <p:cNvSpPr/>
          <p:nvPr/>
        </p:nvSpPr>
        <p:spPr>
          <a:xfrm>
            <a:off x="8732520" y="1508760"/>
            <a:ext cx="2377440" cy="237744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178308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aCircleCheck_white.png"/>
          <p:cNvPicPr>
            <a:picLocks noChangeAspect="1"/>
          </p:cNvPicPr>
          <p:nvPr/>
        </p:nvPicPr>
        <p:blipFill>
          <a:blip r:embed="rId10"/>
          <a:stretch>
            <a:fillRect/>
          </a:stretch>
        </p:blipFill>
        <p:spPr>
          <a:xfrm>
            <a:off x="9738360" y="1965960"/>
            <a:ext cx="365760" cy="365760"/>
          </a:xfrm>
          <a:prstGeom prst="rect">
            <a:avLst/>
          </a:prstGeom>
        </p:spPr>
      </p:pic>
      <p:sp>
        <p:nvSpPr>
          <p:cNvPr id="29" name="TextBox 28"/>
          <p:cNvSpPr txBox="1"/>
          <p:nvPr/>
        </p:nvSpPr>
        <p:spPr>
          <a:xfrm>
            <a:off x="8869680" y="2697480"/>
            <a:ext cx="2103120" cy="365760"/>
          </a:xfrm>
          <a:prstGeom prst="rect">
            <a:avLst/>
          </a:prstGeom>
          <a:noFill/>
        </p:spPr>
        <p:txBody>
          <a:bodyPr wrap="square" lIns="0" rIns="0" tIns="0" bIns="0" anchor="t">
            <a:spAutoFit/>
          </a:bodyPr>
          <a:lstStyle/>
          <a:p>
            <a:pPr algn="ctr"/>
            <a:r>
              <a:rPr sz="1600" b="1" i="0">
                <a:solidFill>
                  <a:srgbClr val="232322"/>
                </a:solidFill>
                <a:latin typeface="Arial"/>
              </a:rPr>
              <a:t>Resultado</a:t>
            </a:r>
          </a:p>
        </p:txBody>
      </p:sp>
      <p:sp>
        <p:nvSpPr>
          <p:cNvPr id="30" name="TextBox 29"/>
          <p:cNvSpPr txBox="1"/>
          <p:nvPr/>
        </p:nvSpPr>
        <p:spPr>
          <a:xfrm>
            <a:off x="8869680" y="3063240"/>
            <a:ext cx="2103120" cy="548640"/>
          </a:xfrm>
          <a:prstGeom prst="rect">
            <a:avLst/>
          </a:prstGeom>
          <a:noFill/>
        </p:spPr>
        <p:txBody>
          <a:bodyPr wrap="square" lIns="0" rIns="0" tIns="0" bIns="0" anchor="t">
            <a:spAutoFit/>
          </a:bodyPr>
          <a:lstStyle/>
          <a:p>
            <a:pPr algn="ctr"/>
            <a:r>
              <a:rPr sz="1300" b="0" i="0">
                <a:solidFill>
                  <a:srgbClr val="5F5F5B"/>
                </a:solidFill>
                <a:latin typeface="Arial"/>
              </a:rPr>
              <a:t>um retorno por arquivo</a:t>
            </a:r>
          </a:p>
        </p:txBody>
      </p:sp>
      <p:sp>
        <p:nvSpPr>
          <p:cNvPr id="31" name="Rounded Rectangle 30"/>
          <p:cNvSpPr/>
          <p:nvPr/>
        </p:nvSpPr>
        <p:spPr>
          <a:xfrm>
            <a:off x="548640" y="4251960"/>
            <a:ext cx="5349240" cy="1417320"/>
          </a:xfrm>
          <a:prstGeom prst="roundRect">
            <a:avLst>
              <a:gd name="adj" fmla="val 8000"/>
            </a:avLst>
          </a:prstGeom>
          <a:solidFill>
            <a:srgbClr val="F7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FaTriangleExclamation_red.png"/>
          <p:cNvPicPr>
            <a:picLocks noChangeAspect="1"/>
          </p:cNvPicPr>
          <p:nvPr/>
        </p:nvPicPr>
        <p:blipFill>
          <a:blip r:embed="rId11"/>
          <a:stretch>
            <a:fillRect/>
          </a:stretch>
        </p:blipFill>
        <p:spPr>
          <a:xfrm>
            <a:off x="822959" y="4526280"/>
            <a:ext cx="502920" cy="502920"/>
          </a:xfrm>
          <a:prstGeom prst="rect">
            <a:avLst/>
          </a:prstGeom>
        </p:spPr>
      </p:pic>
      <p:sp>
        <p:nvSpPr>
          <p:cNvPr id="33" name="TextBox 32"/>
          <p:cNvSpPr txBox="1"/>
          <p:nvPr/>
        </p:nvSpPr>
        <p:spPr>
          <a:xfrm>
            <a:off x="1554480" y="4434840"/>
            <a:ext cx="4114800" cy="365760"/>
          </a:xfrm>
          <a:prstGeom prst="rect">
            <a:avLst/>
          </a:prstGeom>
          <a:noFill/>
        </p:spPr>
        <p:txBody>
          <a:bodyPr wrap="square" lIns="0" rIns="0" tIns="0" bIns="0" anchor="t">
            <a:spAutoFit/>
          </a:bodyPr>
          <a:lstStyle/>
          <a:p>
            <a:pPr algn="l"/>
            <a:r>
              <a:rPr sz="1600" b="1" i="0">
                <a:solidFill>
                  <a:srgbClr val="B3412E"/>
                </a:solidFill>
                <a:latin typeface="Arial"/>
              </a:rPr>
              <a:t>Sistema atual</a:t>
            </a:r>
          </a:p>
        </p:txBody>
      </p:sp>
      <p:sp>
        <p:nvSpPr>
          <p:cNvPr id="34" name="TextBox 33"/>
          <p:cNvSpPr txBox="1"/>
          <p:nvPr/>
        </p:nvSpPr>
        <p:spPr>
          <a:xfrm>
            <a:off x="1554480" y="4800600"/>
            <a:ext cx="4114800" cy="822960"/>
          </a:xfrm>
          <a:prstGeom prst="rect">
            <a:avLst/>
          </a:prstGeom>
          <a:noFill/>
        </p:spPr>
        <p:txBody>
          <a:bodyPr wrap="square" lIns="0" rIns="0" tIns="0" bIns="0" anchor="t">
            <a:spAutoFit/>
          </a:bodyPr>
          <a:lstStyle/>
          <a:p>
            <a:pPr algn="l"/>
            <a:r>
              <a:rPr sz="1400" b="0" i="0">
                <a:solidFill>
                  <a:srgbClr val="232322"/>
                </a:solidFill>
                <a:latin typeface="Arial"/>
              </a:rPr>
              <a:t>Dependia de um layout fixo nos arquivos de entrada. Quando o layout mudava, falhava.</a:t>
            </a:r>
          </a:p>
        </p:txBody>
      </p:sp>
      <p:sp>
        <p:nvSpPr>
          <p:cNvPr id="35" name="Rounded Rectangle 34"/>
          <p:cNvSpPr/>
          <p:nvPr/>
        </p:nvSpPr>
        <p:spPr>
          <a:xfrm>
            <a:off x="6080759" y="4251960"/>
            <a:ext cx="5349240" cy="1417320"/>
          </a:xfrm>
          <a:prstGeom prst="roundRect">
            <a:avLst>
              <a:gd name="adj" fmla="val 8000"/>
            </a:avLst>
          </a:prstGeom>
          <a:solidFill>
            <a:srgbClr val="F7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aCloud_red.png"/>
          <p:cNvPicPr>
            <a:picLocks noChangeAspect="1"/>
          </p:cNvPicPr>
          <p:nvPr/>
        </p:nvPicPr>
        <p:blipFill>
          <a:blip r:embed="rId12"/>
          <a:stretch>
            <a:fillRect/>
          </a:stretch>
        </p:blipFill>
        <p:spPr>
          <a:xfrm>
            <a:off x="6355079" y="4526280"/>
            <a:ext cx="502920" cy="502920"/>
          </a:xfrm>
          <a:prstGeom prst="rect">
            <a:avLst/>
          </a:prstGeom>
        </p:spPr>
      </p:pic>
      <p:sp>
        <p:nvSpPr>
          <p:cNvPr id="37" name="TextBox 36"/>
          <p:cNvSpPr txBox="1"/>
          <p:nvPr/>
        </p:nvSpPr>
        <p:spPr>
          <a:xfrm>
            <a:off x="7086600" y="4434840"/>
            <a:ext cx="4114800" cy="365760"/>
          </a:xfrm>
          <a:prstGeom prst="rect">
            <a:avLst/>
          </a:prstGeom>
          <a:noFill/>
        </p:spPr>
        <p:txBody>
          <a:bodyPr wrap="square" lIns="0" rIns="0" tIns="0" bIns="0" anchor="t">
            <a:spAutoFit/>
          </a:bodyPr>
          <a:lstStyle/>
          <a:p>
            <a:pPr algn="l"/>
            <a:r>
              <a:rPr sz="1600" b="1" i="0">
                <a:solidFill>
                  <a:srgbClr val="B3412E"/>
                </a:solidFill>
                <a:latin typeface="Arial"/>
              </a:rPr>
              <a:t>Modernização por metadados</a:t>
            </a:r>
          </a:p>
        </p:txBody>
      </p:sp>
      <p:sp>
        <p:nvSpPr>
          <p:cNvPr id="38" name="TextBox 37"/>
          <p:cNvSpPr txBox="1"/>
          <p:nvPr/>
        </p:nvSpPr>
        <p:spPr>
          <a:xfrm>
            <a:off x="7086600" y="4800600"/>
            <a:ext cx="4114800" cy="822960"/>
          </a:xfrm>
          <a:prstGeom prst="rect">
            <a:avLst/>
          </a:prstGeom>
          <a:noFill/>
        </p:spPr>
        <p:txBody>
          <a:bodyPr wrap="square" lIns="0" rIns="0" tIns="0" bIns="0" anchor="t">
            <a:spAutoFit/>
          </a:bodyPr>
          <a:lstStyle/>
          <a:p>
            <a:pPr algn="l"/>
            <a:r>
              <a:rPr sz="1400" b="0" i="0">
                <a:solidFill>
                  <a:srgbClr val="232322"/>
                </a:solidFill>
                <a:latin typeface="Arial"/>
              </a:rPr>
              <a:t>Mais flexível, mas com custo de cloud e alta complexidade.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O que este projeto propõe</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417320"/>
            <a:ext cx="5120640" cy="1188720"/>
          </a:xfrm>
          <a:prstGeom prst="rect">
            <a:avLst/>
          </a:prstGeom>
          <a:noFill/>
        </p:spPr>
        <p:txBody>
          <a:bodyPr wrap="square" lIns="0" rIns="0" tIns="0" bIns="0" anchor="t">
            <a:spAutoFit/>
          </a:bodyPr>
          <a:lstStyle/>
          <a:p>
            <a:pPr algn="l"/>
            <a:r>
              <a:rPr sz="2800" b="1" i="0">
                <a:solidFill>
                  <a:srgbClr val="0F5E66"/>
                </a:solidFill>
                <a:latin typeface="Arial"/>
              </a:rPr>
              <a:t>Pipeline ETL +</a:t>
            </a:r>
          </a:p>
          <a:p>
            <a:pPr algn="l"/>
            <a:r>
              <a:rPr sz="2800" b="1" i="0">
                <a:solidFill>
                  <a:srgbClr val="0F5E66"/>
                </a:solidFill>
                <a:latin typeface="Arial"/>
              </a:rPr>
              <a:t>Machine Learning</a:t>
            </a:r>
          </a:p>
        </p:txBody>
      </p:sp>
      <p:sp>
        <p:nvSpPr>
          <p:cNvPr id="6" name="TextBox 5"/>
          <p:cNvSpPr txBox="1"/>
          <p:nvPr/>
        </p:nvSpPr>
        <p:spPr>
          <a:xfrm>
            <a:off x="548640" y="2514600"/>
            <a:ext cx="5029200" cy="822960"/>
          </a:xfrm>
          <a:prstGeom prst="rect">
            <a:avLst/>
          </a:prstGeom>
          <a:noFill/>
        </p:spPr>
        <p:txBody>
          <a:bodyPr wrap="square" lIns="0" rIns="0" tIns="0" bIns="0" anchor="t">
            <a:spAutoFit/>
          </a:bodyPr>
          <a:lstStyle/>
          <a:p>
            <a:pPr algn="l"/>
            <a:r>
              <a:rPr sz="1600" b="0" i="0">
                <a:solidFill>
                  <a:srgbClr val="5F5F5B"/>
                </a:solidFill>
                <a:latin typeface="Arial"/>
              </a:rPr>
              <a:t>Demonstrar que a conciliação pode ser automatizada assim, e definir qual algoritmo é mais eficiente.</a:t>
            </a:r>
          </a:p>
        </p:txBody>
      </p:sp>
      <p:sp>
        <p:nvSpPr>
          <p:cNvPr id="7" name="Rounded Rectangle 6"/>
          <p:cNvSpPr/>
          <p:nvPr/>
        </p:nvSpPr>
        <p:spPr>
          <a:xfrm>
            <a:off x="5989320" y="1417320"/>
            <a:ext cx="5486400" cy="182880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600200"/>
            <a:ext cx="4937760" cy="1463040"/>
          </a:xfrm>
          <a:prstGeom prst="rect">
            <a:avLst/>
          </a:prstGeom>
          <a:noFill/>
        </p:spPr>
        <p:txBody>
          <a:bodyPr wrap="square" lIns="0" rIns="0" tIns="0" bIns="0" anchor="t">
            <a:spAutoFit/>
          </a:bodyPr>
          <a:lstStyle/>
          <a:p>
            <a:pPr algn="l">
              <a:spcAft>
                <a:spcPts val="600"/>
              </a:spcAft>
            </a:pPr>
            <a:r>
              <a:rPr sz="1400" b="1" i="0">
                <a:solidFill>
                  <a:srgbClr val="0F5E66"/>
                </a:solidFill>
                <a:latin typeface="Arial"/>
              </a:rPr>
              <a:t>Pergunta de pesquisa</a:t>
            </a:r>
          </a:p>
          <a:p>
            <a:pPr algn="l">
              <a:spcAft>
                <a:spcPts val="600"/>
              </a:spcAft>
            </a:pPr>
            <a:r>
              <a:rPr sz="1600" b="0" i="0">
                <a:solidFill>
                  <a:srgbClr val="232322"/>
                </a:solidFill>
                <a:latin typeface="Arial"/>
              </a:rPr>
              <a:t>Qual algoritmo melhor automatiza a conciliação, e quanto do desempenho vem do algoritmo e quanto vem da representação dos dados?</a:t>
            </a:r>
          </a:p>
        </p:txBody>
      </p:sp>
      <p:sp>
        <p:nvSpPr>
          <p:cNvPr id="9" name="Rounded Rectangle 8"/>
          <p:cNvSpPr/>
          <p:nvPr/>
        </p:nvSpPr>
        <p:spPr>
          <a:xfrm>
            <a:off x="548640" y="3520440"/>
            <a:ext cx="3474720" cy="14173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384048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Tree_white.png"/>
          <p:cNvPicPr>
            <a:picLocks noChangeAspect="1"/>
          </p:cNvPicPr>
          <p:nvPr/>
        </p:nvPicPr>
        <p:blipFill>
          <a:blip r:embed="rId3"/>
          <a:stretch>
            <a:fillRect/>
          </a:stretch>
        </p:blipFill>
        <p:spPr>
          <a:xfrm>
            <a:off x="960120" y="4023360"/>
            <a:ext cx="365760" cy="365760"/>
          </a:xfrm>
          <a:prstGeom prst="rect">
            <a:avLst/>
          </a:prstGeom>
        </p:spPr>
      </p:pic>
      <p:sp>
        <p:nvSpPr>
          <p:cNvPr id="12" name="TextBox 11"/>
          <p:cNvSpPr txBox="1"/>
          <p:nvPr/>
        </p:nvSpPr>
        <p:spPr>
          <a:xfrm>
            <a:off x="1691640" y="3749039"/>
            <a:ext cx="2194560" cy="365760"/>
          </a:xfrm>
          <a:prstGeom prst="rect">
            <a:avLst/>
          </a:prstGeom>
          <a:noFill/>
        </p:spPr>
        <p:txBody>
          <a:bodyPr wrap="square" lIns="0" rIns="0" tIns="0" bIns="0" anchor="t">
            <a:spAutoFit/>
          </a:bodyPr>
          <a:lstStyle/>
          <a:p>
            <a:pPr algn="l"/>
            <a:r>
              <a:rPr sz="1600" b="1" i="0">
                <a:solidFill>
                  <a:srgbClr val="232322"/>
                </a:solidFill>
                <a:latin typeface="Arial"/>
              </a:rPr>
              <a:t>Random Forest</a:t>
            </a:r>
          </a:p>
        </p:txBody>
      </p:sp>
      <p:sp>
        <p:nvSpPr>
          <p:cNvPr id="13" name="TextBox 12"/>
          <p:cNvSpPr txBox="1"/>
          <p:nvPr/>
        </p:nvSpPr>
        <p:spPr>
          <a:xfrm>
            <a:off x="1691640" y="4114800"/>
            <a:ext cx="2194560" cy="731520"/>
          </a:xfrm>
          <a:prstGeom prst="rect">
            <a:avLst/>
          </a:prstGeom>
          <a:noFill/>
        </p:spPr>
        <p:txBody>
          <a:bodyPr wrap="square" lIns="0" rIns="0" tIns="0" bIns="0" anchor="t">
            <a:spAutoFit/>
          </a:bodyPr>
          <a:lstStyle/>
          <a:p>
            <a:pPr algn="l"/>
            <a:r>
              <a:rPr sz="1300" b="0" i="0">
                <a:solidFill>
                  <a:srgbClr val="5F5F5B"/>
                </a:solidFill>
                <a:latin typeface="Arial"/>
              </a:rPr>
              <a:t>Muitas árvores de decisão votando juntas</a:t>
            </a:r>
          </a:p>
        </p:txBody>
      </p:sp>
      <p:sp>
        <p:nvSpPr>
          <p:cNvPr id="14" name="Rounded Rectangle 13"/>
          <p:cNvSpPr/>
          <p:nvPr/>
        </p:nvSpPr>
        <p:spPr>
          <a:xfrm>
            <a:off x="4251959" y="3520440"/>
            <a:ext cx="3474720" cy="14173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80559" y="384048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ArrowsLeftRight_white.png"/>
          <p:cNvPicPr>
            <a:picLocks noChangeAspect="1"/>
          </p:cNvPicPr>
          <p:nvPr/>
        </p:nvPicPr>
        <p:blipFill>
          <a:blip r:embed="rId4"/>
          <a:stretch>
            <a:fillRect/>
          </a:stretch>
        </p:blipFill>
        <p:spPr>
          <a:xfrm>
            <a:off x="4663440" y="4023360"/>
            <a:ext cx="365760" cy="365760"/>
          </a:xfrm>
          <a:prstGeom prst="rect">
            <a:avLst/>
          </a:prstGeom>
        </p:spPr>
      </p:pic>
      <p:sp>
        <p:nvSpPr>
          <p:cNvPr id="17" name="TextBox 16"/>
          <p:cNvSpPr txBox="1"/>
          <p:nvPr/>
        </p:nvSpPr>
        <p:spPr>
          <a:xfrm>
            <a:off x="5394959" y="3749039"/>
            <a:ext cx="2194560" cy="365760"/>
          </a:xfrm>
          <a:prstGeom prst="rect">
            <a:avLst/>
          </a:prstGeom>
          <a:noFill/>
        </p:spPr>
        <p:txBody>
          <a:bodyPr wrap="square" lIns="0" rIns="0" tIns="0" bIns="0" anchor="t">
            <a:spAutoFit/>
          </a:bodyPr>
          <a:lstStyle/>
          <a:p>
            <a:pPr algn="l"/>
            <a:r>
              <a:rPr sz="1600" b="1" i="0">
                <a:solidFill>
                  <a:srgbClr val="232322"/>
                </a:solidFill>
                <a:latin typeface="Arial"/>
              </a:rPr>
              <a:t>SVM</a:t>
            </a:r>
          </a:p>
        </p:txBody>
      </p:sp>
      <p:sp>
        <p:nvSpPr>
          <p:cNvPr id="18" name="TextBox 17"/>
          <p:cNvSpPr txBox="1"/>
          <p:nvPr/>
        </p:nvSpPr>
        <p:spPr>
          <a:xfrm>
            <a:off x="5394959" y="4114800"/>
            <a:ext cx="2194560" cy="731520"/>
          </a:xfrm>
          <a:prstGeom prst="rect">
            <a:avLst/>
          </a:prstGeom>
          <a:noFill/>
        </p:spPr>
        <p:txBody>
          <a:bodyPr wrap="square" lIns="0" rIns="0" tIns="0" bIns="0" anchor="t">
            <a:spAutoFit/>
          </a:bodyPr>
          <a:lstStyle/>
          <a:p>
            <a:pPr algn="l"/>
            <a:r>
              <a:rPr sz="1300" b="0" i="0">
                <a:solidFill>
                  <a:srgbClr val="5F5F5B"/>
                </a:solidFill>
                <a:latin typeface="Arial"/>
              </a:rPr>
              <a:t>Fronteira de margem máxima entre as classes</a:t>
            </a:r>
          </a:p>
        </p:txBody>
      </p:sp>
      <p:sp>
        <p:nvSpPr>
          <p:cNvPr id="19" name="Rounded Rectangle 18"/>
          <p:cNvSpPr/>
          <p:nvPr/>
        </p:nvSpPr>
        <p:spPr>
          <a:xfrm>
            <a:off x="7955279" y="3520440"/>
            <a:ext cx="3474720" cy="14173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83879" y="384048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ChartLine_white.png"/>
          <p:cNvPicPr>
            <a:picLocks noChangeAspect="1"/>
          </p:cNvPicPr>
          <p:nvPr/>
        </p:nvPicPr>
        <p:blipFill>
          <a:blip r:embed="rId5"/>
          <a:stretch>
            <a:fillRect/>
          </a:stretch>
        </p:blipFill>
        <p:spPr>
          <a:xfrm>
            <a:off x="8366759" y="4023360"/>
            <a:ext cx="365760" cy="365760"/>
          </a:xfrm>
          <a:prstGeom prst="rect">
            <a:avLst/>
          </a:prstGeom>
        </p:spPr>
      </p:pic>
      <p:sp>
        <p:nvSpPr>
          <p:cNvPr id="22" name="TextBox 21"/>
          <p:cNvSpPr txBox="1"/>
          <p:nvPr/>
        </p:nvSpPr>
        <p:spPr>
          <a:xfrm>
            <a:off x="9098280" y="3749039"/>
            <a:ext cx="2194560" cy="365760"/>
          </a:xfrm>
          <a:prstGeom prst="rect">
            <a:avLst/>
          </a:prstGeom>
          <a:noFill/>
        </p:spPr>
        <p:txBody>
          <a:bodyPr wrap="square" lIns="0" rIns="0" tIns="0" bIns="0" anchor="t">
            <a:spAutoFit/>
          </a:bodyPr>
          <a:lstStyle/>
          <a:p>
            <a:pPr algn="l"/>
            <a:r>
              <a:rPr sz="1600" b="1" i="0">
                <a:solidFill>
                  <a:srgbClr val="232322"/>
                </a:solidFill>
                <a:latin typeface="Arial"/>
              </a:rPr>
              <a:t>Regressão Logística</a:t>
            </a:r>
          </a:p>
        </p:txBody>
      </p:sp>
      <p:sp>
        <p:nvSpPr>
          <p:cNvPr id="23" name="TextBox 22"/>
          <p:cNvSpPr txBox="1"/>
          <p:nvPr/>
        </p:nvSpPr>
        <p:spPr>
          <a:xfrm>
            <a:off x="9098280" y="4114800"/>
            <a:ext cx="2194560" cy="731520"/>
          </a:xfrm>
          <a:prstGeom prst="rect">
            <a:avLst/>
          </a:prstGeom>
          <a:noFill/>
        </p:spPr>
        <p:txBody>
          <a:bodyPr wrap="square" lIns="0" rIns="0" tIns="0" bIns="0" anchor="t">
            <a:spAutoFit/>
          </a:bodyPr>
          <a:lstStyle/>
          <a:p>
            <a:pPr algn="l"/>
            <a:r>
              <a:rPr sz="1300" b="0" i="0">
                <a:solidFill>
                  <a:srgbClr val="5F5F5B"/>
                </a:solidFill>
                <a:latin typeface="Arial"/>
              </a:rPr>
              <a:t>Fronteira linear, coeficientes interpretáveis</a:t>
            </a:r>
          </a:p>
        </p:txBody>
      </p:sp>
      <p:sp>
        <p:nvSpPr>
          <p:cNvPr id="24" name="TextBox 23"/>
          <p:cNvSpPr txBox="1"/>
          <p:nvPr/>
        </p:nvSpPr>
        <p:spPr>
          <a:xfrm>
            <a:off x="548640" y="5212080"/>
            <a:ext cx="10881360" cy="640080"/>
          </a:xfrm>
          <a:prstGeom prst="rect">
            <a:avLst/>
          </a:prstGeom>
          <a:noFill/>
        </p:spPr>
        <p:txBody>
          <a:bodyPr wrap="square" lIns="0" rIns="0" tIns="0" bIns="0" anchor="t">
            <a:spAutoFit/>
          </a:bodyPr>
          <a:lstStyle/>
          <a:p>
            <a:pPr algn="l"/>
            <a:r>
              <a:rPr sz="1500" b="1" i="0">
                <a:solidFill>
                  <a:srgbClr val="232322"/>
                </a:solidFill>
                <a:latin typeface="Arial"/>
              </a:rPr>
              <a:t>Hipótese: </a:t>
            </a:r>
            <a:r>
              <a:rPr sz="1500" b="0" i="0">
                <a:solidFill>
                  <a:srgbClr val="232322"/>
                </a:solidFill>
                <a:latin typeface="Arial"/>
              </a:rPr>
              <a:t>ML + ETL não só automatizaria a conciliação, como melhoraria sua qualidade, encontrando inconsistências que escapam às regras.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Como o projeto foi construído</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Oval 4"/>
          <p:cNvSpPr/>
          <p:nvPr/>
        </p:nvSpPr>
        <p:spPr>
          <a:xfrm>
            <a:off x="960120" y="1600200"/>
            <a:ext cx="868680" cy="86868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FileExcel_white.png"/>
          <p:cNvPicPr>
            <a:picLocks noChangeAspect="1"/>
          </p:cNvPicPr>
          <p:nvPr/>
        </p:nvPicPr>
        <p:blipFill>
          <a:blip r:embed="rId3"/>
          <a:stretch>
            <a:fillRect/>
          </a:stretch>
        </p:blipFill>
        <p:spPr>
          <a:xfrm>
            <a:off x="1177290" y="1817370"/>
            <a:ext cx="434340" cy="434340"/>
          </a:xfrm>
          <a:prstGeom prst="rect">
            <a:avLst/>
          </a:prstGeom>
        </p:spPr>
      </p:pic>
      <p:sp>
        <p:nvSpPr>
          <p:cNvPr id="7" name="TextBox 6"/>
          <p:cNvSpPr txBox="1"/>
          <p:nvPr/>
        </p:nvSpPr>
        <p:spPr>
          <a:xfrm>
            <a:off x="457200" y="2606040"/>
            <a:ext cx="1874519" cy="365760"/>
          </a:xfrm>
          <a:prstGeom prst="rect">
            <a:avLst/>
          </a:prstGeom>
          <a:noFill/>
        </p:spPr>
        <p:txBody>
          <a:bodyPr wrap="square" lIns="0" rIns="0" tIns="0" bIns="0" anchor="t">
            <a:spAutoFit/>
          </a:bodyPr>
          <a:lstStyle/>
          <a:p>
            <a:pPr algn="ctr"/>
            <a:r>
              <a:rPr sz="1600" b="1" i="0">
                <a:solidFill>
                  <a:srgbClr val="232322"/>
                </a:solidFill>
                <a:latin typeface="Arial"/>
              </a:rPr>
              <a:t>Pagamentos</a:t>
            </a:r>
          </a:p>
        </p:txBody>
      </p:sp>
      <p:sp>
        <p:nvSpPr>
          <p:cNvPr id="8" name="TextBox 7"/>
          <p:cNvSpPr txBox="1"/>
          <p:nvPr/>
        </p:nvSpPr>
        <p:spPr>
          <a:xfrm>
            <a:off x="457200" y="2971800"/>
            <a:ext cx="1874519" cy="457200"/>
          </a:xfrm>
          <a:prstGeom prst="rect">
            <a:avLst/>
          </a:prstGeom>
          <a:noFill/>
        </p:spPr>
        <p:txBody>
          <a:bodyPr wrap="square" lIns="0" rIns="0" tIns="0" bIns="0" anchor="t">
            <a:spAutoFit/>
          </a:bodyPr>
          <a:lstStyle/>
          <a:p>
            <a:pPr algn="ctr"/>
            <a:r>
              <a:rPr sz="1300" b="0" i="0">
                <a:solidFill>
                  <a:srgbClr val="5F5F5B"/>
                </a:solidFill>
                <a:latin typeface="Arial"/>
              </a:rPr>
              <a:t>Planilha Excel</a:t>
            </a:r>
          </a:p>
        </p:txBody>
      </p:sp>
      <p:pic>
        <p:nvPicPr>
          <p:cNvPr id="9" name="Picture 8" descr="FaArrowRight_gray.png"/>
          <p:cNvPicPr>
            <a:picLocks noChangeAspect="1"/>
          </p:cNvPicPr>
          <p:nvPr/>
        </p:nvPicPr>
        <p:blipFill>
          <a:blip r:embed="rId4"/>
          <a:stretch>
            <a:fillRect/>
          </a:stretch>
        </p:blipFill>
        <p:spPr>
          <a:xfrm>
            <a:off x="1965960" y="1847088"/>
            <a:ext cx="365760" cy="365760"/>
          </a:xfrm>
          <a:prstGeom prst="rect">
            <a:avLst/>
          </a:prstGeom>
        </p:spPr>
      </p:pic>
      <p:sp>
        <p:nvSpPr>
          <p:cNvPr id="10" name="Oval 9"/>
          <p:cNvSpPr/>
          <p:nvPr/>
        </p:nvSpPr>
        <p:spPr>
          <a:xfrm>
            <a:off x="2834640" y="1600200"/>
            <a:ext cx="868680" cy="86868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FileCode_white.png"/>
          <p:cNvPicPr>
            <a:picLocks noChangeAspect="1"/>
          </p:cNvPicPr>
          <p:nvPr/>
        </p:nvPicPr>
        <p:blipFill>
          <a:blip r:embed="rId5"/>
          <a:stretch>
            <a:fillRect/>
          </a:stretch>
        </p:blipFill>
        <p:spPr>
          <a:xfrm>
            <a:off x="3051810" y="1817370"/>
            <a:ext cx="434340" cy="434340"/>
          </a:xfrm>
          <a:prstGeom prst="rect">
            <a:avLst/>
          </a:prstGeom>
        </p:spPr>
      </p:pic>
      <p:sp>
        <p:nvSpPr>
          <p:cNvPr id="12" name="TextBox 11"/>
          <p:cNvSpPr txBox="1"/>
          <p:nvPr/>
        </p:nvSpPr>
        <p:spPr>
          <a:xfrm>
            <a:off x="2331720" y="2606040"/>
            <a:ext cx="1874519" cy="365760"/>
          </a:xfrm>
          <a:prstGeom prst="rect">
            <a:avLst/>
          </a:prstGeom>
          <a:noFill/>
        </p:spPr>
        <p:txBody>
          <a:bodyPr wrap="square" lIns="0" rIns="0" tIns="0" bIns="0" anchor="t">
            <a:spAutoFit/>
          </a:bodyPr>
          <a:lstStyle/>
          <a:p>
            <a:pPr algn="ctr"/>
            <a:r>
              <a:rPr sz="1600" b="1" i="0">
                <a:solidFill>
                  <a:srgbClr val="232322"/>
                </a:solidFill>
                <a:latin typeface="Arial"/>
              </a:rPr>
              <a:t>NFS-e</a:t>
            </a:r>
          </a:p>
        </p:txBody>
      </p:sp>
      <p:sp>
        <p:nvSpPr>
          <p:cNvPr id="13" name="TextBox 12"/>
          <p:cNvSpPr txBox="1"/>
          <p:nvPr/>
        </p:nvSpPr>
        <p:spPr>
          <a:xfrm>
            <a:off x="2331720" y="2971800"/>
            <a:ext cx="1874519" cy="457200"/>
          </a:xfrm>
          <a:prstGeom prst="rect">
            <a:avLst/>
          </a:prstGeom>
          <a:noFill/>
        </p:spPr>
        <p:txBody>
          <a:bodyPr wrap="square" lIns="0" rIns="0" tIns="0" bIns="0" anchor="t">
            <a:spAutoFit/>
          </a:bodyPr>
          <a:lstStyle/>
          <a:p>
            <a:pPr algn="ctr"/>
            <a:r>
              <a:rPr sz="1300" b="0" i="0">
                <a:solidFill>
                  <a:srgbClr val="5F5F5B"/>
                </a:solidFill>
                <a:latin typeface="Arial"/>
              </a:rPr>
              <a:t>XML, padrão ABRASF</a:t>
            </a:r>
          </a:p>
        </p:txBody>
      </p:sp>
      <p:pic>
        <p:nvPicPr>
          <p:cNvPr id="14" name="Picture 13" descr="FaArrowRight_gray.png"/>
          <p:cNvPicPr>
            <a:picLocks noChangeAspect="1"/>
          </p:cNvPicPr>
          <p:nvPr/>
        </p:nvPicPr>
        <p:blipFill>
          <a:blip r:embed="rId4"/>
          <a:stretch>
            <a:fillRect/>
          </a:stretch>
        </p:blipFill>
        <p:spPr>
          <a:xfrm>
            <a:off x="3840480" y="1847088"/>
            <a:ext cx="365760" cy="365760"/>
          </a:xfrm>
          <a:prstGeom prst="rect">
            <a:avLst/>
          </a:prstGeom>
        </p:spPr>
      </p:pic>
      <p:sp>
        <p:nvSpPr>
          <p:cNvPr id="15" name="Oval 14"/>
          <p:cNvSpPr/>
          <p:nvPr/>
        </p:nvSpPr>
        <p:spPr>
          <a:xfrm>
            <a:off x="4709159" y="1600200"/>
            <a:ext cx="868680" cy="86868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Filter_white.png"/>
          <p:cNvPicPr>
            <a:picLocks noChangeAspect="1"/>
          </p:cNvPicPr>
          <p:nvPr/>
        </p:nvPicPr>
        <p:blipFill>
          <a:blip r:embed="rId6"/>
          <a:stretch>
            <a:fillRect/>
          </a:stretch>
        </p:blipFill>
        <p:spPr>
          <a:xfrm>
            <a:off x="4926329" y="1817370"/>
            <a:ext cx="434340" cy="434340"/>
          </a:xfrm>
          <a:prstGeom prst="rect">
            <a:avLst/>
          </a:prstGeom>
        </p:spPr>
      </p:pic>
      <p:sp>
        <p:nvSpPr>
          <p:cNvPr id="17" name="TextBox 16"/>
          <p:cNvSpPr txBox="1"/>
          <p:nvPr/>
        </p:nvSpPr>
        <p:spPr>
          <a:xfrm>
            <a:off x="4206240" y="2606040"/>
            <a:ext cx="1874519" cy="365760"/>
          </a:xfrm>
          <a:prstGeom prst="rect">
            <a:avLst/>
          </a:prstGeom>
          <a:noFill/>
        </p:spPr>
        <p:txBody>
          <a:bodyPr wrap="square" lIns="0" rIns="0" tIns="0" bIns="0" anchor="t">
            <a:spAutoFit/>
          </a:bodyPr>
          <a:lstStyle/>
          <a:p>
            <a:pPr algn="ctr"/>
            <a:r>
              <a:rPr sz="1600" b="1" i="0">
                <a:solidFill>
                  <a:srgbClr val="232322"/>
                </a:solidFill>
                <a:latin typeface="Arial"/>
              </a:rPr>
              <a:t>ETL</a:t>
            </a:r>
          </a:p>
        </p:txBody>
      </p:sp>
      <p:sp>
        <p:nvSpPr>
          <p:cNvPr id="18" name="TextBox 17"/>
          <p:cNvSpPr txBox="1"/>
          <p:nvPr/>
        </p:nvSpPr>
        <p:spPr>
          <a:xfrm>
            <a:off x="4206240" y="2971800"/>
            <a:ext cx="1874519" cy="457200"/>
          </a:xfrm>
          <a:prstGeom prst="rect">
            <a:avLst/>
          </a:prstGeom>
          <a:noFill/>
        </p:spPr>
        <p:txBody>
          <a:bodyPr wrap="square" lIns="0" rIns="0" tIns="0" bIns="0" anchor="t">
            <a:spAutoFit/>
          </a:bodyPr>
          <a:lstStyle/>
          <a:p>
            <a:pPr algn="ctr"/>
            <a:r>
              <a:rPr sz="1300" b="0" i="0">
                <a:solidFill>
                  <a:srgbClr val="5F5F5B"/>
                </a:solidFill>
                <a:latin typeface="Arial"/>
              </a:rPr>
              <a:t>Carga, limpeza, rótulo</a:t>
            </a:r>
          </a:p>
        </p:txBody>
      </p:sp>
      <p:pic>
        <p:nvPicPr>
          <p:cNvPr id="19" name="Picture 18" descr="FaArrowRight_gray.png"/>
          <p:cNvPicPr>
            <a:picLocks noChangeAspect="1"/>
          </p:cNvPicPr>
          <p:nvPr/>
        </p:nvPicPr>
        <p:blipFill>
          <a:blip r:embed="rId4"/>
          <a:stretch>
            <a:fillRect/>
          </a:stretch>
        </p:blipFill>
        <p:spPr>
          <a:xfrm>
            <a:off x="5714999" y="1847088"/>
            <a:ext cx="365760" cy="365760"/>
          </a:xfrm>
          <a:prstGeom prst="rect">
            <a:avLst/>
          </a:prstGeom>
        </p:spPr>
      </p:pic>
      <p:sp>
        <p:nvSpPr>
          <p:cNvPr id="20" name="Oval 19"/>
          <p:cNvSpPr/>
          <p:nvPr/>
        </p:nvSpPr>
        <p:spPr>
          <a:xfrm>
            <a:off x="6583679" y="1600200"/>
            <a:ext cx="868680" cy="86868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Sliders_white.png"/>
          <p:cNvPicPr>
            <a:picLocks noChangeAspect="1"/>
          </p:cNvPicPr>
          <p:nvPr/>
        </p:nvPicPr>
        <p:blipFill>
          <a:blip r:embed="rId7"/>
          <a:stretch>
            <a:fillRect/>
          </a:stretch>
        </p:blipFill>
        <p:spPr>
          <a:xfrm>
            <a:off x="6800849" y="1817370"/>
            <a:ext cx="434340" cy="434340"/>
          </a:xfrm>
          <a:prstGeom prst="rect">
            <a:avLst/>
          </a:prstGeom>
        </p:spPr>
      </p:pic>
      <p:sp>
        <p:nvSpPr>
          <p:cNvPr id="22" name="TextBox 21"/>
          <p:cNvSpPr txBox="1"/>
          <p:nvPr/>
        </p:nvSpPr>
        <p:spPr>
          <a:xfrm>
            <a:off x="6080759" y="2606040"/>
            <a:ext cx="1874519" cy="365760"/>
          </a:xfrm>
          <a:prstGeom prst="rect">
            <a:avLst/>
          </a:prstGeom>
          <a:noFill/>
        </p:spPr>
        <p:txBody>
          <a:bodyPr wrap="square" lIns="0" rIns="0" tIns="0" bIns="0" anchor="t">
            <a:spAutoFit/>
          </a:bodyPr>
          <a:lstStyle/>
          <a:p>
            <a:pPr algn="ctr"/>
            <a:r>
              <a:rPr sz="1600" b="1" i="0">
                <a:solidFill>
                  <a:srgbClr val="232322"/>
                </a:solidFill>
                <a:latin typeface="Arial"/>
              </a:rPr>
              <a:t>Atributos</a:t>
            </a:r>
          </a:p>
        </p:txBody>
      </p:sp>
      <p:sp>
        <p:nvSpPr>
          <p:cNvPr id="23" name="TextBox 22"/>
          <p:cNvSpPr txBox="1"/>
          <p:nvPr/>
        </p:nvSpPr>
        <p:spPr>
          <a:xfrm>
            <a:off x="6080759" y="2971800"/>
            <a:ext cx="1874519" cy="457200"/>
          </a:xfrm>
          <a:prstGeom prst="rect">
            <a:avLst/>
          </a:prstGeom>
          <a:noFill/>
        </p:spPr>
        <p:txBody>
          <a:bodyPr wrap="square" lIns="0" rIns="0" tIns="0" bIns="0" anchor="t">
            <a:spAutoFit/>
          </a:bodyPr>
          <a:lstStyle/>
          <a:p>
            <a:pPr algn="ctr"/>
            <a:r>
              <a:rPr sz="1300" b="0" i="0">
                <a:solidFill>
                  <a:srgbClr val="5F5F5B"/>
                </a:solidFill>
                <a:latin typeface="Arial"/>
              </a:rPr>
              <a:t>Δ dias, Δ valor, ISS…</a:t>
            </a:r>
          </a:p>
        </p:txBody>
      </p:sp>
      <p:pic>
        <p:nvPicPr>
          <p:cNvPr id="24" name="Picture 23" descr="FaArrowRight_gray.png"/>
          <p:cNvPicPr>
            <a:picLocks noChangeAspect="1"/>
          </p:cNvPicPr>
          <p:nvPr/>
        </p:nvPicPr>
        <p:blipFill>
          <a:blip r:embed="rId4"/>
          <a:stretch>
            <a:fillRect/>
          </a:stretch>
        </p:blipFill>
        <p:spPr>
          <a:xfrm>
            <a:off x="7589519" y="1847088"/>
            <a:ext cx="365760" cy="365760"/>
          </a:xfrm>
          <a:prstGeom prst="rect">
            <a:avLst/>
          </a:prstGeom>
        </p:spPr>
      </p:pic>
      <p:sp>
        <p:nvSpPr>
          <p:cNvPr id="25" name="Oval 24"/>
          <p:cNvSpPr/>
          <p:nvPr/>
        </p:nvSpPr>
        <p:spPr>
          <a:xfrm>
            <a:off x="8458199" y="1600200"/>
            <a:ext cx="868680" cy="86868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aCodeBranch_white.png"/>
          <p:cNvPicPr>
            <a:picLocks noChangeAspect="1"/>
          </p:cNvPicPr>
          <p:nvPr/>
        </p:nvPicPr>
        <p:blipFill>
          <a:blip r:embed="rId8"/>
          <a:stretch>
            <a:fillRect/>
          </a:stretch>
        </p:blipFill>
        <p:spPr>
          <a:xfrm>
            <a:off x="8675369" y="1817370"/>
            <a:ext cx="434340" cy="434340"/>
          </a:xfrm>
          <a:prstGeom prst="rect">
            <a:avLst/>
          </a:prstGeom>
        </p:spPr>
      </p:pic>
      <p:sp>
        <p:nvSpPr>
          <p:cNvPr id="27" name="TextBox 26"/>
          <p:cNvSpPr txBox="1"/>
          <p:nvPr/>
        </p:nvSpPr>
        <p:spPr>
          <a:xfrm>
            <a:off x="7955279" y="2606040"/>
            <a:ext cx="1874519" cy="365760"/>
          </a:xfrm>
          <a:prstGeom prst="rect">
            <a:avLst/>
          </a:prstGeom>
          <a:noFill/>
        </p:spPr>
        <p:txBody>
          <a:bodyPr wrap="square" lIns="0" rIns="0" tIns="0" bIns="0" anchor="t">
            <a:spAutoFit/>
          </a:bodyPr>
          <a:lstStyle/>
          <a:p>
            <a:pPr algn="ctr"/>
            <a:r>
              <a:rPr sz="1600" b="1" i="0">
                <a:solidFill>
                  <a:srgbClr val="232322"/>
                </a:solidFill>
                <a:latin typeface="Arial"/>
              </a:rPr>
              <a:t>Modelos</a:t>
            </a:r>
          </a:p>
        </p:txBody>
      </p:sp>
      <p:sp>
        <p:nvSpPr>
          <p:cNvPr id="28" name="TextBox 27"/>
          <p:cNvSpPr txBox="1"/>
          <p:nvPr/>
        </p:nvSpPr>
        <p:spPr>
          <a:xfrm>
            <a:off x="7955279" y="2971800"/>
            <a:ext cx="1874519" cy="457200"/>
          </a:xfrm>
          <a:prstGeom prst="rect">
            <a:avLst/>
          </a:prstGeom>
          <a:noFill/>
        </p:spPr>
        <p:txBody>
          <a:bodyPr wrap="square" lIns="0" rIns="0" tIns="0" bIns="0" anchor="t">
            <a:spAutoFit/>
          </a:bodyPr>
          <a:lstStyle/>
          <a:p>
            <a:pPr algn="ctr"/>
            <a:r>
              <a:rPr sz="1300" b="0" i="0">
                <a:solidFill>
                  <a:srgbClr val="5F5F5B"/>
                </a:solidFill>
                <a:latin typeface="Arial"/>
              </a:rPr>
              <a:t>RF, SVM e RL</a:t>
            </a:r>
          </a:p>
        </p:txBody>
      </p:sp>
      <p:pic>
        <p:nvPicPr>
          <p:cNvPr id="29" name="Picture 28" descr="FaArrowRight_gray.png"/>
          <p:cNvPicPr>
            <a:picLocks noChangeAspect="1"/>
          </p:cNvPicPr>
          <p:nvPr/>
        </p:nvPicPr>
        <p:blipFill>
          <a:blip r:embed="rId4"/>
          <a:stretch>
            <a:fillRect/>
          </a:stretch>
        </p:blipFill>
        <p:spPr>
          <a:xfrm>
            <a:off x="9464040" y="1847088"/>
            <a:ext cx="365760" cy="365760"/>
          </a:xfrm>
          <a:prstGeom prst="rect">
            <a:avLst/>
          </a:prstGeom>
        </p:spPr>
      </p:pic>
      <p:sp>
        <p:nvSpPr>
          <p:cNvPr id="30" name="Oval 29"/>
          <p:cNvSpPr/>
          <p:nvPr/>
        </p:nvSpPr>
        <p:spPr>
          <a:xfrm>
            <a:off x="10332719" y="1600200"/>
            <a:ext cx="868680" cy="86868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aChartColumn_white.png"/>
          <p:cNvPicPr>
            <a:picLocks noChangeAspect="1"/>
          </p:cNvPicPr>
          <p:nvPr/>
        </p:nvPicPr>
        <p:blipFill>
          <a:blip r:embed="rId9"/>
          <a:stretch>
            <a:fillRect/>
          </a:stretch>
        </p:blipFill>
        <p:spPr>
          <a:xfrm>
            <a:off x="10549890" y="1817370"/>
            <a:ext cx="434340" cy="434340"/>
          </a:xfrm>
          <a:prstGeom prst="rect">
            <a:avLst/>
          </a:prstGeom>
        </p:spPr>
      </p:pic>
      <p:sp>
        <p:nvSpPr>
          <p:cNvPr id="32" name="TextBox 31"/>
          <p:cNvSpPr txBox="1"/>
          <p:nvPr/>
        </p:nvSpPr>
        <p:spPr>
          <a:xfrm>
            <a:off x="9829800" y="2606040"/>
            <a:ext cx="1874519" cy="365760"/>
          </a:xfrm>
          <a:prstGeom prst="rect">
            <a:avLst/>
          </a:prstGeom>
          <a:noFill/>
        </p:spPr>
        <p:txBody>
          <a:bodyPr wrap="square" lIns="0" rIns="0" tIns="0" bIns="0" anchor="t">
            <a:spAutoFit/>
          </a:bodyPr>
          <a:lstStyle/>
          <a:p>
            <a:pPr algn="ctr"/>
            <a:r>
              <a:rPr sz="1600" b="1" i="0">
                <a:solidFill>
                  <a:srgbClr val="232322"/>
                </a:solidFill>
                <a:latin typeface="Arial"/>
              </a:rPr>
              <a:t>Avaliação</a:t>
            </a:r>
          </a:p>
        </p:txBody>
      </p:sp>
      <p:sp>
        <p:nvSpPr>
          <p:cNvPr id="33" name="TextBox 32"/>
          <p:cNvSpPr txBox="1"/>
          <p:nvPr/>
        </p:nvSpPr>
        <p:spPr>
          <a:xfrm>
            <a:off x="9829800" y="2971800"/>
            <a:ext cx="1874519" cy="457200"/>
          </a:xfrm>
          <a:prstGeom prst="rect">
            <a:avLst/>
          </a:prstGeom>
          <a:noFill/>
        </p:spPr>
        <p:txBody>
          <a:bodyPr wrap="square" lIns="0" rIns="0" tIns="0" bIns="0" anchor="t">
            <a:spAutoFit/>
          </a:bodyPr>
          <a:lstStyle/>
          <a:p>
            <a:pPr algn="ctr"/>
            <a:r>
              <a:rPr sz="1300" b="0" i="0">
                <a:solidFill>
                  <a:srgbClr val="5F5F5B"/>
                </a:solidFill>
                <a:latin typeface="Arial"/>
              </a:rPr>
              <a:t>Métricas e matrizes</a:t>
            </a:r>
          </a:p>
        </p:txBody>
      </p:sp>
      <p:sp>
        <p:nvSpPr>
          <p:cNvPr id="34" name="Rounded Rectangle 33"/>
          <p:cNvSpPr/>
          <p:nvPr/>
        </p:nvSpPr>
        <p:spPr>
          <a:xfrm>
            <a:off x="548640" y="3886200"/>
            <a:ext cx="2560320" cy="16002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023360"/>
            <a:ext cx="2103120" cy="731520"/>
          </a:xfrm>
          <a:prstGeom prst="rect">
            <a:avLst/>
          </a:prstGeom>
          <a:noFill/>
        </p:spPr>
        <p:txBody>
          <a:bodyPr wrap="square" lIns="0" rIns="0" tIns="0" bIns="0" anchor="t">
            <a:spAutoFit/>
          </a:bodyPr>
          <a:lstStyle/>
          <a:p>
            <a:pPr algn="l"/>
            <a:r>
              <a:rPr sz="4000" b="1" i="0">
                <a:solidFill>
                  <a:srgbClr val="0F5E66"/>
                </a:solidFill>
                <a:latin typeface="Arial"/>
              </a:rPr>
              <a:t>7.500</a:t>
            </a:r>
          </a:p>
        </p:txBody>
      </p:sp>
      <p:sp>
        <p:nvSpPr>
          <p:cNvPr id="36" name="TextBox 35"/>
          <p:cNvSpPr txBox="1"/>
          <p:nvPr/>
        </p:nvSpPr>
        <p:spPr>
          <a:xfrm>
            <a:off x="777240" y="4800600"/>
            <a:ext cx="2194560" cy="548640"/>
          </a:xfrm>
          <a:prstGeom prst="rect">
            <a:avLst/>
          </a:prstGeom>
          <a:noFill/>
        </p:spPr>
        <p:txBody>
          <a:bodyPr wrap="square" lIns="0" rIns="0" tIns="0" bIns="0" anchor="t">
            <a:spAutoFit/>
          </a:bodyPr>
          <a:lstStyle/>
          <a:p>
            <a:pPr algn="l"/>
            <a:r>
              <a:rPr sz="1400" b="0" i="0">
                <a:solidFill>
                  <a:srgbClr val="5F5F5B"/>
                </a:solidFill>
                <a:latin typeface="Arial"/>
              </a:rPr>
              <a:t>pagamentos simulados</a:t>
            </a:r>
          </a:p>
        </p:txBody>
      </p:sp>
      <p:sp>
        <p:nvSpPr>
          <p:cNvPr id="37" name="Rounded Rectangle 36"/>
          <p:cNvSpPr/>
          <p:nvPr/>
        </p:nvSpPr>
        <p:spPr>
          <a:xfrm>
            <a:off x="3310128" y="3886200"/>
            <a:ext cx="2560320" cy="16002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38728" y="4023360"/>
            <a:ext cx="2103120" cy="731520"/>
          </a:xfrm>
          <a:prstGeom prst="rect">
            <a:avLst/>
          </a:prstGeom>
          <a:noFill/>
        </p:spPr>
        <p:txBody>
          <a:bodyPr wrap="square" lIns="0" rIns="0" tIns="0" bIns="0" anchor="t">
            <a:spAutoFit/>
          </a:bodyPr>
          <a:lstStyle/>
          <a:p>
            <a:pPr algn="l"/>
            <a:r>
              <a:rPr sz="4000" b="1" i="0">
                <a:solidFill>
                  <a:srgbClr val="0F5E66"/>
                </a:solidFill>
                <a:latin typeface="Arial"/>
              </a:rPr>
              <a:t>70%</a:t>
            </a:r>
          </a:p>
        </p:txBody>
      </p:sp>
      <p:sp>
        <p:nvSpPr>
          <p:cNvPr id="39" name="TextBox 38"/>
          <p:cNvSpPr txBox="1"/>
          <p:nvPr/>
        </p:nvSpPr>
        <p:spPr>
          <a:xfrm>
            <a:off x="3538728" y="4800600"/>
            <a:ext cx="2194560" cy="548640"/>
          </a:xfrm>
          <a:prstGeom prst="rect">
            <a:avLst/>
          </a:prstGeom>
          <a:noFill/>
        </p:spPr>
        <p:txBody>
          <a:bodyPr wrap="square" lIns="0" rIns="0" tIns="0" bIns="0" anchor="t">
            <a:spAutoFit/>
          </a:bodyPr>
          <a:lstStyle/>
          <a:p>
            <a:pPr algn="l"/>
            <a:r>
              <a:rPr sz="1400" b="0" i="0">
                <a:solidFill>
                  <a:srgbClr val="5F5F5B"/>
                </a:solidFill>
                <a:latin typeface="Arial"/>
              </a:rPr>
              <a:t>com nota que bate</a:t>
            </a:r>
          </a:p>
        </p:txBody>
      </p:sp>
      <p:sp>
        <p:nvSpPr>
          <p:cNvPr id="40" name="Rounded Rectangle 39"/>
          <p:cNvSpPr/>
          <p:nvPr/>
        </p:nvSpPr>
        <p:spPr>
          <a:xfrm>
            <a:off x="6071616" y="3886200"/>
            <a:ext cx="2560320" cy="16002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0216" y="4023360"/>
            <a:ext cx="2103120" cy="731520"/>
          </a:xfrm>
          <a:prstGeom prst="rect">
            <a:avLst/>
          </a:prstGeom>
          <a:noFill/>
        </p:spPr>
        <p:txBody>
          <a:bodyPr wrap="square" lIns="0" rIns="0" tIns="0" bIns="0" anchor="t">
            <a:spAutoFit/>
          </a:bodyPr>
          <a:lstStyle/>
          <a:p>
            <a:pPr algn="l"/>
            <a:r>
              <a:rPr sz="4000" b="1" i="0">
                <a:solidFill>
                  <a:srgbClr val="0F5E66"/>
                </a:solidFill>
                <a:latin typeface="Arial"/>
              </a:rPr>
              <a:t>4</a:t>
            </a:r>
          </a:p>
        </p:txBody>
      </p:sp>
      <p:sp>
        <p:nvSpPr>
          <p:cNvPr id="42" name="TextBox 41"/>
          <p:cNvSpPr txBox="1"/>
          <p:nvPr/>
        </p:nvSpPr>
        <p:spPr>
          <a:xfrm>
            <a:off x="6300216" y="4800600"/>
            <a:ext cx="2194560" cy="548640"/>
          </a:xfrm>
          <a:prstGeom prst="rect">
            <a:avLst/>
          </a:prstGeom>
          <a:noFill/>
        </p:spPr>
        <p:txBody>
          <a:bodyPr wrap="square" lIns="0" rIns="0" tIns="0" bIns="0" anchor="t">
            <a:spAutoFit/>
          </a:bodyPr>
          <a:lstStyle/>
          <a:p>
            <a:pPr algn="l"/>
            <a:r>
              <a:rPr sz="1400" b="0" i="0">
                <a:solidFill>
                  <a:srgbClr val="5F5F5B"/>
                </a:solidFill>
                <a:latin typeface="Arial"/>
              </a:rPr>
              <a:t>tipos de divergência</a:t>
            </a:r>
          </a:p>
        </p:txBody>
      </p:sp>
      <p:sp>
        <p:nvSpPr>
          <p:cNvPr id="43" name="Rounded Rectangle 42"/>
          <p:cNvSpPr/>
          <p:nvPr/>
        </p:nvSpPr>
        <p:spPr>
          <a:xfrm>
            <a:off x="8833104" y="3886200"/>
            <a:ext cx="2560320" cy="16002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61704" y="4023360"/>
            <a:ext cx="2103120" cy="731520"/>
          </a:xfrm>
          <a:prstGeom prst="rect">
            <a:avLst/>
          </a:prstGeom>
          <a:noFill/>
        </p:spPr>
        <p:txBody>
          <a:bodyPr wrap="square" lIns="0" rIns="0" tIns="0" bIns="0" anchor="t">
            <a:spAutoFit/>
          </a:bodyPr>
          <a:lstStyle/>
          <a:p>
            <a:pPr algn="l"/>
            <a:r>
              <a:rPr sz="4000" b="1" i="0">
                <a:solidFill>
                  <a:srgbClr val="0F5E66"/>
                </a:solidFill>
                <a:latin typeface="Arial"/>
              </a:rPr>
              <a:t>5</a:t>
            </a:r>
          </a:p>
        </p:txBody>
      </p:sp>
      <p:sp>
        <p:nvSpPr>
          <p:cNvPr id="45" name="TextBox 44"/>
          <p:cNvSpPr txBox="1"/>
          <p:nvPr/>
        </p:nvSpPr>
        <p:spPr>
          <a:xfrm>
            <a:off x="9061704" y="4800600"/>
            <a:ext cx="2194560" cy="548640"/>
          </a:xfrm>
          <a:prstGeom prst="rect">
            <a:avLst/>
          </a:prstGeom>
          <a:noFill/>
        </p:spPr>
        <p:txBody>
          <a:bodyPr wrap="square" lIns="0" rIns="0" tIns="0" bIns="0" anchor="t">
            <a:spAutoFit/>
          </a:bodyPr>
          <a:lstStyle/>
          <a:p>
            <a:pPr algn="l"/>
            <a:r>
              <a:rPr sz="1400" b="0" i="0">
                <a:solidFill>
                  <a:srgbClr val="5F5F5B"/>
                </a:solidFill>
                <a:latin typeface="Arial"/>
              </a:rPr>
              <a:t>dobras de validação cruzada</a:t>
            </a:r>
          </a:p>
        </p:txBody>
      </p:sp>
      <p:sp>
        <p:nvSpPr>
          <p:cNvPr id="46" name="TextBox 45"/>
          <p:cNvSpPr txBox="1"/>
          <p:nvPr/>
        </p:nvSpPr>
        <p:spPr>
          <a:xfrm>
            <a:off x="548640" y="5669280"/>
            <a:ext cx="10972800" cy="365760"/>
          </a:xfrm>
          <a:prstGeom prst="rect">
            <a:avLst/>
          </a:prstGeom>
          <a:noFill/>
        </p:spPr>
        <p:txBody>
          <a:bodyPr wrap="square" lIns="0" rIns="0" tIns="0" bIns="0" anchor="t">
            <a:spAutoFit/>
          </a:bodyPr>
          <a:lstStyle/>
          <a:p>
            <a:pPr algn="l"/>
            <a:r>
              <a:rPr sz="1300" b="0" i="0">
                <a:solidFill>
                  <a:srgbClr val="5F5F5B"/>
                </a:solidFill>
                <a:latin typeface="Arial"/>
              </a:rPr>
              <a:t>Python + scikit-learn · parâmetros num arquivo de configuração · semente fixa: tudo reproduzível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Experimento 1: um resultado bom demais</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463040"/>
            <a:ext cx="5486400" cy="365760"/>
          </a:xfrm>
          <a:prstGeom prst="rect">
            <a:avLst/>
          </a:prstGeom>
          <a:noFill/>
        </p:spPr>
        <p:txBody>
          <a:bodyPr wrap="square" lIns="0" rIns="0" tIns="0" bIns="0" anchor="t">
            <a:spAutoFit/>
          </a:bodyPr>
          <a:lstStyle/>
          <a:p>
            <a:pPr algn="l"/>
            <a:r>
              <a:rPr sz="1400" b="0" i="0">
                <a:solidFill>
                  <a:srgbClr val="5F5F5B"/>
                </a:solidFill>
                <a:latin typeface="Arial"/>
              </a:rPr>
              <a:t>F1-macro no conjunto de teste, cenário exato</a:t>
            </a:r>
          </a:p>
        </p:txBody>
      </p:sp>
      <p:sp>
        <p:nvSpPr>
          <p:cNvPr id="6" name="TextBox 5"/>
          <p:cNvSpPr txBox="1"/>
          <p:nvPr/>
        </p:nvSpPr>
        <p:spPr>
          <a:xfrm>
            <a:off x="548640" y="1965960"/>
            <a:ext cx="2377440" cy="731520"/>
          </a:xfrm>
          <a:prstGeom prst="rect">
            <a:avLst/>
          </a:prstGeom>
          <a:noFill/>
        </p:spPr>
        <p:txBody>
          <a:bodyPr wrap="square" lIns="0" rIns="0" tIns="0" bIns="0" anchor="ctr">
            <a:spAutoFit/>
          </a:bodyPr>
          <a:lstStyle/>
          <a:p>
            <a:pPr algn="l"/>
            <a:r>
              <a:rPr sz="1600" b="1" i="0">
                <a:solidFill>
                  <a:srgbClr val="232322"/>
                </a:solidFill>
                <a:latin typeface="Arial"/>
              </a:rPr>
              <a:t>Random Forest</a:t>
            </a:r>
          </a:p>
        </p:txBody>
      </p:sp>
      <p:sp>
        <p:nvSpPr>
          <p:cNvPr id="7" name="Rectangle 6"/>
          <p:cNvSpPr/>
          <p:nvPr/>
        </p:nvSpPr>
        <p:spPr>
          <a:xfrm>
            <a:off x="3017520" y="2103120"/>
            <a:ext cx="3017520" cy="457200"/>
          </a:xfrm>
          <a:prstGeom prst="rect">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965960"/>
            <a:ext cx="1188720" cy="731520"/>
          </a:xfrm>
          <a:prstGeom prst="rect">
            <a:avLst/>
          </a:prstGeom>
          <a:noFill/>
        </p:spPr>
        <p:txBody>
          <a:bodyPr wrap="square" lIns="0" rIns="0" tIns="0" bIns="0" anchor="ctr">
            <a:spAutoFit/>
          </a:bodyPr>
          <a:lstStyle/>
          <a:p>
            <a:pPr algn="l"/>
            <a:r>
              <a:rPr sz="1800" b="1" i="0">
                <a:solidFill>
                  <a:srgbClr val="0F5E66"/>
                </a:solidFill>
                <a:latin typeface="Arial"/>
              </a:rPr>
              <a:t>1,0000</a:t>
            </a:r>
          </a:p>
        </p:txBody>
      </p:sp>
      <p:sp>
        <p:nvSpPr>
          <p:cNvPr id="9" name="TextBox 8"/>
          <p:cNvSpPr txBox="1"/>
          <p:nvPr/>
        </p:nvSpPr>
        <p:spPr>
          <a:xfrm>
            <a:off x="548640" y="3017520"/>
            <a:ext cx="2377440" cy="731520"/>
          </a:xfrm>
          <a:prstGeom prst="rect">
            <a:avLst/>
          </a:prstGeom>
          <a:noFill/>
        </p:spPr>
        <p:txBody>
          <a:bodyPr wrap="square" lIns="0" rIns="0" tIns="0" bIns="0" anchor="ctr">
            <a:spAutoFit/>
          </a:bodyPr>
          <a:lstStyle/>
          <a:p>
            <a:pPr algn="l"/>
            <a:r>
              <a:rPr sz="1600" b="0" i="0">
                <a:solidFill>
                  <a:srgbClr val="232322"/>
                </a:solidFill>
                <a:latin typeface="Arial"/>
              </a:rPr>
              <a:t>SVM</a:t>
            </a:r>
          </a:p>
        </p:txBody>
      </p:sp>
      <p:sp>
        <p:nvSpPr>
          <p:cNvPr id="10" name="Rectangle 9"/>
          <p:cNvSpPr/>
          <p:nvPr/>
        </p:nvSpPr>
        <p:spPr>
          <a:xfrm>
            <a:off x="3017520" y="3154679"/>
            <a:ext cx="2683178" cy="457200"/>
          </a:xfrm>
          <a:prstGeom prst="rect">
            <a:avLst/>
          </a:prstGeom>
          <a:solidFill>
            <a:srgbClr val="A9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37858" y="3017520"/>
            <a:ext cx="1188720" cy="731520"/>
          </a:xfrm>
          <a:prstGeom prst="rect">
            <a:avLst/>
          </a:prstGeom>
          <a:noFill/>
        </p:spPr>
        <p:txBody>
          <a:bodyPr wrap="square" lIns="0" rIns="0" tIns="0" bIns="0" anchor="ctr">
            <a:spAutoFit/>
          </a:bodyPr>
          <a:lstStyle/>
          <a:p>
            <a:pPr algn="l"/>
            <a:r>
              <a:rPr sz="1800" b="1" i="0">
                <a:solidFill>
                  <a:srgbClr val="232322"/>
                </a:solidFill>
                <a:latin typeface="Arial"/>
              </a:rPr>
              <a:t>0,8892</a:t>
            </a:r>
          </a:p>
        </p:txBody>
      </p:sp>
      <p:sp>
        <p:nvSpPr>
          <p:cNvPr id="12" name="TextBox 11"/>
          <p:cNvSpPr txBox="1"/>
          <p:nvPr/>
        </p:nvSpPr>
        <p:spPr>
          <a:xfrm>
            <a:off x="548640" y="4069079"/>
            <a:ext cx="2377440" cy="731520"/>
          </a:xfrm>
          <a:prstGeom prst="rect">
            <a:avLst/>
          </a:prstGeom>
          <a:noFill/>
        </p:spPr>
        <p:txBody>
          <a:bodyPr wrap="square" lIns="0" rIns="0" tIns="0" bIns="0" anchor="ctr">
            <a:spAutoFit/>
          </a:bodyPr>
          <a:lstStyle/>
          <a:p>
            <a:pPr algn="l"/>
            <a:r>
              <a:rPr sz="1600" b="0" i="0">
                <a:solidFill>
                  <a:srgbClr val="232322"/>
                </a:solidFill>
                <a:latin typeface="Arial"/>
              </a:rPr>
              <a:t>Regressão Logística</a:t>
            </a:r>
          </a:p>
        </p:txBody>
      </p:sp>
      <p:sp>
        <p:nvSpPr>
          <p:cNvPr id="13" name="Rectangle 12"/>
          <p:cNvSpPr/>
          <p:nvPr/>
        </p:nvSpPr>
        <p:spPr>
          <a:xfrm>
            <a:off x="3017520" y="4206240"/>
            <a:ext cx="2683178" cy="457200"/>
          </a:xfrm>
          <a:prstGeom prst="rect">
            <a:avLst/>
          </a:prstGeom>
          <a:solidFill>
            <a:srgbClr val="A9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7858" y="4069079"/>
            <a:ext cx="1188720" cy="731520"/>
          </a:xfrm>
          <a:prstGeom prst="rect">
            <a:avLst/>
          </a:prstGeom>
          <a:noFill/>
        </p:spPr>
        <p:txBody>
          <a:bodyPr wrap="square" lIns="0" rIns="0" tIns="0" bIns="0" anchor="ctr">
            <a:spAutoFit/>
          </a:bodyPr>
          <a:lstStyle/>
          <a:p>
            <a:pPr algn="l"/>
            <a:r>
              <a:rPr sz="1800" b="1" i="0">
                <a:solidFill>
                  <a:srgbClr val="232322"/>
                </a:solidFill>
                <a:latin typeface="Arial"/>
              </a:rPr>
              <a:t>0,8892</a:t>
            </a:r>
          </a:p>
        </p:txBody>
      </p:sp>
      <p:sp>
        <p:nvSpPr>
          <p:cNvPr id="15" name="TextBox 14"/>
          <p:cNvSpPr txBox="1"/>
          <p:nvPr/>
        </p:nvSpPr>
        <p:spPr>
          <a:xfrm>
            <a:off x="548640" y="5166360"/>
            <a:ext cx="6583680" cy="548640"/>
          </a:xfrm>
          <a:prstGeom prst="rect">
            <a:avLst/>
          </a:prstGeom>
          <a:noFill/>
        </p:spPr>
        <p:txBody>
          <a:bodyPr wrap="square" lIns="0" rIns="0" tIns="0" bIns="0" anchor="t">
            <a:spAutoFit/>
          </a:bodyPr>
          <a:lstStyle/>
          <a:p>
            <a:pPr algn="l"/>
            <a:r>
              <a:rPr sz="1300" b="0" i="0">
                <a:solidFill>
                  <a:srgbClr val="5F5F5B"/>
                </a:solidFill>
                <a:latin typeface="Arial"/>
              </a:rPr>
              <a:t>No cenário flexível, o mesmo padrão: Random Forest com 1,0000 em todas as métricas.</a:t>
            </a:r>
          </a:p>
        </p:txBody>
      </p:sp>
      <p:sp>
        <p:nvSpPr>
          <p:cNvPr id="16" name="Rounded Rectangle 15"/>
          <p:cNvSpPr/>
          <p:nvPr/>
        </p:nvSpPr>
        <p:spPr>
          <a:xfrm>
            <a:off x="7589520" y="1508760"/>
            <a:ext cx="3886200" cy="4114800"/>
          </a:xfrm>
          <a:prstGeom prst="roundRect">
            <a:avLst>
              <a:gd name="adj" fmla="val 8000"/>
            </a:avLst>
          </a:prstGeom>
          <a:solidFill>
            <a:srgbClr val="F7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TriangleExclamation_red.png"/>
          <p:cNvPicPr>
            <a:picLocks noChangeAspect="1"/>
          </p:cNvPicPr>
          <p:nvPr/>
        </p:nvPicPr>
        <p:blipFill>
          <a:blip r:embed="rId3"/>
          <a:stretch>
            <a:fillRect/>
          </a:stretch>
        </p:blipFill>
        <p:spPr>
          <a:xfrm>
            <a:off x="7955279" y="1874519"/>
            <a:ext cx="731520" cy="731520"/>
          </a:xfrm>
          <a:prstGeom prst="rect">
            <a:avLst/>
          </a:prstGeom>
        </p:spPr>
      </p:pic>
      <p:sp>
        <p:nvSpPr>
          <p:cNvPr id="18" name="TextBox 17"/>
          <p:cNvSpPr txBox="1"/>
          <p:nvPr/>
        </p:nvSpPr>
        <p:spPr>
          <a:xfrm>
            <a:off x="7955279" y="2834640"/>
            <a:ext cx="3200400" cy="1097280"/>
          </a:xfrm>
          <a:prstGeom prst="rect">
            <a:avLst/>
          </a:prstGeom>
          <a:noFill/>
        </p:spPr>
        <p:txBody>
          <a:bodyPr wrap="square" lIns="0" rIns="0" tIns="0" bIns="0" anchor="t">
            <a:spAutoFit/>
          </a:bodyPr>
          <a:lstStyle/>
          <a:p>
            <a:pPr algn="l"/>
            <a:r>
              <a:rPr sz="2200" b="1" i="0">
                <a:solidFill>
                  <a:srgbClr val="B3412E"/>
                </a:solidFill>
                <a:latin typeface="Arial"/>
              </a:rPr>
              <a:t>100% de acerto, com desvio-padrão zero</a:t>
            </a:r>
          </a:p>
        </p:txBody>
      </p:sp>
      <p:sp>
        <p:nvSpPr>
          <p:cNvPr id="19" name="TextBox 18"/>
          <p:cNvSpPr txBox="1"/>
          <p:nvPr/>
        </p:nvSpPr>
        <p:spPr>
          <a:xfrm>
            <a:off x="7955279" y="3977639"/>
            <a:ext cx="3200400" cy="1463040"/>
          </a:xfrm>
          <a:prstGeom prst="rect">
            <a:avLst/>
          </a:prstGeom>
          <a:noFill/>
        </p:spPr>
        <p:txBody>
          <a:bodyPr wrap="square" lIns="0" rIns="0" tIns="0" bIns="0" anchor="t">
            <a:spAutoFit/>
          </a:bodyPr>
          <a:lstStyle/>
          <a:p>
            <a:pPr algn="l"/>
            <a:r>
              <a:rPr sz="1600" b="0" i="0">
                <a:solidFill>
                  <a:srgbClr val="232322"/>
                </a:solidFill>
                <a:latin typeface="Arial"/>
              </a:rPr>
              <a:t>Isso não é normal. É um sinal de alarme, não um sucesso.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A causa: o modelo apenas redescobria a regra</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Rounded Rectangle 4"/>
          <p:cNvSpPr/>
          <p:nvPr/>
        </p:nvSpPr>
        <p:spPr>
          <a:xfrm>
            <a:off x="548640" y="1600200"/>
            <a:ext cx="4206240" cy="146304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3749039" cy="1280160"/>
          </a:xfrm>
          <a:prstGeom prst="rect">
            <a:avLst/>
          </a:prstGeom>
          <a:noFill/>
        </p:spPr>
        <p:txBody>
          <a:bodyPr wrap="square" lIns="0" rIns="0" tIns="0" bIns="0" anchor="t">
            <a:spAutoFit/>
          </a:bodyPr>
          <a:lstStyle/>
          <a:p>
            <a:pPr algn="l">
              <a:spcAft>
                <a:spcPts val="400"/>
              </a:spcAft>
            </a:pPr>
            <a:r>
              <a:rPr sz="1400" b="1" i="0">
                <a:solidFill>
                  <a:srgbClr val="0F5E66"/>
                </a:solidFill>
                <a:latin typeface="Arial"/>
              </a:rPr>
              <a:t>Regra de rotulagem</a:t>
            </a:r>
          </a:p>
          <a:p>
            <a:pPr algn="l">
              <a:spcAft>
                <a:spcPts val="400"/>
              </a:spcAft>
            </a:pPr>
            <a:r>
              <a:rPr sz="1700" b="1" i="0">
                <a:solidFill>
                  <a:srgbClr val="232322"/>
                </a:solidFill>
                <a:latin typeface="Arial"/>
              </a:rPr>
              <a:t>Conciliado ⟺</a:t>
            </a:r>
          </a:p>
          <a:p>
            <a:pPr algn="l">
              <a:spcAft>
                <a:spcPts val="400"/>
              </a:spcAft>
            </a:pPr>
            <a:r>
              <a:rPr sz="1500" b="0" i="0">
                <a:solidFill>
                  <a:srgbClr val="232322"/>
                </a:solidFill>
                <a:latin typeface="Arial"/>
              </a:rPr>
              <a:t>Δ dias ≤ tolerância  E  Δ valor ≤ tolerância</a:t>
            </a:r>
          </a:p>
        </p:txBody>
      </p:sp>
      <p:sp>
        <p:nvSpPr>
          <p:cNvPr id="7" name="Rounded Rectangle 6"/>
          <p:cNvSpPr/>
          <p:nvPr/>
        </p:nvSpPr>
        <p:spPr>
          <a:xfrm>
            <a:off x="548640" y="3886200"/>
            <a:ext cx="4206240" cy="146304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023360"/>
            <a:ext cx="3749039" cy="1280160"/>
          </a:xfrm>
          <a:prstGeom prst="rect">
            <a:avLst/>
          </a:prstGeom>
          <a:noFill/>
        </p:spPr>
        <p:txBody>
          <a:bodyPr wrap="square" lIns="0" rIns="0" tIns="0" bIns="0" anchor="t">
            <a:spAutoFit/>
          </a:bodyPr>
          <a:lstStyle/>
          <a:p>
            <a:pPr algn="l">
              <a:spcAft>
                <a:spcPts val="800"/>
              </a:spcAft>
            </a:pPr>
            <a:r>
              <a:rPr sz="1400" b="1" i="0">
                <a:solidFill>
                  <a:srgbClr val="0F5E66"/>
                </a:solidFill>
                <a:latin typeface="Arial"/>
              </a:rPr>
              <a:t>Atributos do modelo</a:t>
            </a:r>
          </a:p>
          <a:p>
            <a:pPr algn="l">
              <a:spcAft>
                <a:spcPts val="800"/>
              </a:spcAft>
            </a:pPr>
            <a:r>
              <a:rPr sz="1700" b="1" i="0">
                <a:solidFill>
                  <a:srgbClr val="232322"/>
                </a:solidFill>
                <a:latin typeface="Arial"/>
              </a:rPr>
              <a:t>Δ dias, Δ valor</a:t>
            </a:r>
            <a:r>
              <a:rPr sz="1700" b="0" i="0">
                <a:solidFill>
                  <a:srgbClr val="232322"/>
                </a:solidFill>
                <a:latin typeface="Arial"/>
              </a:rPr>
              <a:t>, valor pago, ISS, alíquota, CNPJ, similaridade de texto</a:t>
            </a:r>
          </a:p>
        </p:txBody>
      </p:sp>
      <p:cxnSp>
        <p:nvCxnSpPr>
          <p:cNvPr id="9" name="Connector 8"/>
          <p:cNvCxnSpPr/>
          <p:nvPr/>
        </p:nvCxnSpPr>
        <p:spPr>
          <a:xfrm>
            <a:off x="4754880" y="2331720"/>
            <a:ext cx="1005840" cy="0"/>
          </a:xfrm>
          <a:prstGeom prst="line">
            <a:avLst/>
          </a:prstGeom>
          <a:ln w="25400">
            <a:solidFill>
              <a:srgbClr val="0F5E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54880" y="4617720"/>
            <a:ext cx="1005840" cy="0"/>
          </a:xfrm>
          <a:prstGeom prst="line">
            <a:avLst/>
          </a:prstGeom>
          <a:ln w="25400">
            <a:solidFill>
              <a:srgbClr val="0F5E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60720" y="2331720"/>
            <a:ext cx="0" cy="2286000"/>
          </a:xfrm>
          <a:prstGeom prst="line">
            <a:avLst/>
          </a:prstGeom>
          <a:ln w="25400">
            <a:solidFill>
              <a:srgbClr val="0F5E6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57800" y="3154680"/>
            <a:ext cx="1005840" cy="640080"/>
          </a:xfrm>
          <a:prstGeom prst="roundRect">
            <a:avLst>
              <a:gd name="adj" fmla="val 30000"/>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3154680"/>
            <a:ext cx="1005840" cy="640080"/>
          </a:xfrm>
          <a:prstGeom prst="rect">
            <a:avLst/>
          </a:prstGeom>
          <a:noFill/>
        </p:spPr>
        <p:txBody>
          <a:bodyPr wrap="square" lIns="0" rIns="0" tIns="0" bIns="0" anchor="ctr">
            <a:spAutoFit/>
          </a:bodyPr>
          <a:lstStyle/>
          <a:p>
            <a:pPr algn="ctr"/>
            <a:r>
              <a:rPr sz="1400" b="1" i="0">
                <a:solidFill>
                  <a:srgbClr val="FFFFFF"/>
                </a:solidFill>
                <a:latin typeface="Arial"/>
              </a:rPr>
              <a:t>iguais</a:t>
            </a:r>
          </a:p>
        </p:txBody>
      </p:sp>
      <p:sp>
        <p:nvSpPr>
          <p:cNvPr id="14" name="TextBox 13"/>
          <p:cNvSpPr txBox="1"/>
          <p:nvPr/>
        </p:nvSpPr>
        <p:spPr>
          <a:xfrm>
            <a:off x="6766560" y="1600200"/>
            <a:ext cx="4754880" cy="1097280"/>
          </a:xfrm>
          <a:prstGeom prst="rect">
            <a:avLst/>
          </a:prstGeom>
          <a:noFill/>
        </p:spPr>
        <p:txBody>
          <a:bodyPr wrap="square" lIns="0" rIns="0" tIns="0" bIns="0" anchor="t">
            <a:spAutoFit/>
          </a:bodyPr>
          <a:lstStyle/>
          <a:p>
            <a:pPr algn="l"/>
            <a:r>
              <a:rPr sz="6600" b="1" i="0">
                <a:solidFill>
                  <a:srgbClr val="0F5E66"/>
                </a:solidFill>
                <a:latin typeface="Arial"/>
              </a:rPr>
              <a:t>87%</a:t>
            </a:r>
          </a:p>
        </p:txBody>
      </p:sp>
      <p:sp>
        <p:nvSpPr>
          <p:cNvPr id="15" name="TextBox 14"/>
          <p:cNvSpPr txBox="1"/>
          <p:nvPr/>
        </p:nvSpPr>
        <p:spPr>
          <a:xfrm>
            <a:off x="6766560" y="2743200"/>
            <a:ext cx="4572000" cy="822960"/>
          </a:xfrm>
          <a:prstGeom prst="rect">
            <a:avLst/>
          </a:prstGeom>
          <a:noFill/>
        </p:spPr>
        <p:txBody>
          <a:bodyPr wrap="square" lIns="0" rIns="0" tIns="0" bIns="0" anchor="t">
            <a:spAutoFit/>
          </a:bodyPr>
          <a:lstStyle/>
          <a:p>
            <a:pPr algn="l"/>
            <a:r>
              <a:rPr sz="1600" b="0" i="0">
                <a:solidFill>
                  <a:srgbClr val="5F5F5B"/>
                </a:solidFill>
                <a:latin typeface="Arial"/>
              </a:rPr>
              <a:t>da importância do modelo em Δ dias e Δ valor, as duas variáveis da regra</a:t>
            </a:r>
          </a:p>
        </p:txBody>
      </p:sp>
      <p:sp>
        <p:nvSpPr>
          <p:cNvPr id="16" name="TextBox 15"/>
          <p:cNvSpPr txBox="1"/>
          <p:nvPr/>
        </p:nvSpPr>
        <p:spPr>
          <a:xfrm>
            <a:off x="6766560" y="3931920"/>
            <a:ext cx="4663440" cy="1645920"/>
          </a:xfrm>
          <a:prstGeom prst="rect">
            <a:avLst/>
          </a:prstGeom>
          <a:noFill/>
        </p:spPr>
        <p:txBody>
          <a:bodyPr wrap="square" lIns="0" rIns="0" tIns="0" bIns="0" anchor="t">
            <a:spAutoFit/>
          </a:bodyPr>
          <a:lstStyle/>
          <a:p>
            <a:pPr algn="l"/>
            <a:r>
              <a:rPr sz="1600" b="1" i="0">
                <a:solidFill>
                  <a:srgbClr val="B3412E"/>
                </a:solidFill>
                <a:latin typeface="Arial"/>
              </a:rPr>
              <a:t>Vazamento de rótulo</a:t>
            </a:r>
            <a:r>
              <a:rPr sz="1600" b="0" i="0">
                <a:solidFill>
                  <a:srgbClr val="232322"/>
                </a:solidFill>
                <a:latin typeface="Arial"/>
              </a:rPr>
              <a:t> (label leakage): o rótulo é uma função exata de atributos que o modelo recebe. Ele não aprende a conciliar, só recupera a regra.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Experimento 2: ablação das variáveis</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graphicFrame>
        <p:nvGraphicFramePr>
          <p:cNvPr id="5" name="Chart 4"/>
          <p:cNvGraphicFramePr>
            <a:graphicFrameLocks noGrp="1"/>
          </p:cNvGraphicFramePr>
          <p:nvPr/>
        </p:nvGraphicFramePr>
        <p:xfrm>
          <a:off x="457200" y="1417320"/>
          <a:ext cx="6949440" cy="4343400"/>
        </p:xfrm>
        <a:graphic>
          <a:graphicData uri="http://schemas.openxmlformats.org/drawingml/2006/chart">
            <c:chart xmlns:c="http://schemas.openxmlformats.org/drawingml/2006/chart" r:id="rId3"/>
          </a:graphicData>
        </a:graphic>
      </p:graphicFrame>
      <p:sp>
        <p:nvSpPr>
          <p:cNvPr id="6" name="TextBox 5"/>
          <p:cNvSpPr txBox="1"/>
          <p:nvPr/>
        </p:nvSpPr>
        <p:spPr>
          <a:xfrm>
            <a:off x="7772400" y="1508760"/>
            <a:ext cx="3749039" cy="365760"/>
          </a:xfrm>
          <a:prstGeom prst="rect">
            <a:avLst/>
          </a:prstGeom>
          <a:noFill/>
        </p:spPr>
        <p:txBody>
          <a:bodyPr wrap="square" lIns="0" rIns="0" tIns="0" bIns="0" anchor="t">
            <a:spAutoFit/>
          </a:bodyPr>
          <a:lstStyle/>
          <a:p>
            <a:pPr algn="l"/>
            <a:r>
              <a:rPr sz="1300" b="0" i="0">
                <a:solidFill>
                  <a:srgbClr val="5F5F5B"/>
                </a:solidFill>
                <a:latin typeface="Arial"/>
              </a:rPr>
              <a:t>Mesmos dados, mesma divisão, só muda a representação.</a:t>
            </a:r>
          </a:p>
        </p:txBody>
      </p:sp>
      <p:sp>
        <p:nvSpPr>
          <p:cNvPr id="7" name="Rounded Rectangle 6"/>
          <p:cNvSpPr/>
          <p:nvPr/>
        </p:nvSpPr>
        <p:spPr>
          <a:xfrm>
            <a:off x="7772400" y="2148840"/>
            <a:ext cx="3703320" cy="16459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331720"/>
            <a:ext cx="3200400" cy="365760"/>
          </a:xfrm>
          <a:prstGeom prst="rect">
            <a:avLst/>
          </a:prstGeom>
          <a:noFill/>
        </p:spPr>
        <p:txBody>
          <a:bodyPr wrap="square" lIns="0" rIns="0" tIns="0" bIns="0" anchor="t">
            <a:spAutoFit/>
          </a:bodyPr>
          <a:lstStyle/>
          <a:p>
            <a:pPr algn="l"/>
            <a:r>
              <a:rPr sz="1600" b="1" i="0">
                <a:solidFill>
                  <a:srgbClr val="0F5E66"/>
                </a:solidFill>
                <a:latin typeface="Arial"/>
              </a:rPr>
              <a:t>Sem as variáveis da regra</a:t>
            </a:r>
          </a:p>
        </p:txBody>
      </p:sp>
      <p:sp>
        <p:nvSpPr>
          <p:cNvPr id="9" name="TextBox 8"/>
          <p:cNvSpPr txBox="1"/>
          <p:nvPr/>
        </p:nvSpPr>
        <p:spPr>
          <a:xfrm>
            <a:off x="8046720" y="2715768"/>
            <a:ext cx="3200400" cy="1005840"/>
          </a:xfrm>
          <a:prstGeom prst="rect">
            <a:avLst/>
          </a:prstGeom>
          <a:noFill/>
        </p:spPr>
        <p:txBody>
          <a:bodyPr wrap="square" lIns="0" rIns="0" tIns="0" bIns="0" anchor="t">
            <a:spAutoFit/>
          </a:bodyPr>
          <a:lstStyle/>
          <a:p>
            <a:pPr algn="l"/>
            <a:r>
              <a:rPr sz="1400" b="0" i="0">
                <a:solidFill>
                  <a:srgbClr val="232322"/>
                </a:solidFill>
                <a:latin typeface="Arial"/>
              </a:rPr>
              <a:t>O F1 da Random Forest cai de 1,00 para 0,76, e o SVM passa à frente. A ordem se inverte.</a:t>
            </a:r>
          </a:p>
        </p:txBody>
      </p:sp>
      <p:sp>
        <p:nvSpPr>
          <p:cNvPr id="10" name="Rounded Rectangle 9"/>
          <p:cNvSpPr/>
          <p:nvPr/>
        </p:nvSpPr>
        <p:spPr>
          <a:xfrm>
            <a:off x="7772400" y="3977639"/>
            <a:ext cx="3703320" cy="16459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4160520"/>
            <a:ext cx="3200400" cy="365760"/>
          </a:xfrm>
          <a:prstGeom prst="rect">
            <a:avLst/>
          </a:prstGeom>
          <a:noFill/>
        </p:spPr>
        <p:txBody>
          <a:bodyPr wrap="square" lIns="0" rIns="0" tIns="0" bIns="0" anchor="t">
            <a:spAutoFit/>
          </a:bodyPr>
          <a:lstStyle/>
          <a:p>
            <a:pPr algn="l"/>
            <a:r>
              <a:rPr sz="1600" b="1" i="0">
                <a:solidFill>
                  <a:srgbClr val="0F5E66"/>
                </a:solidFill>
                <a:latin typeface="Arial"/>
              </a:rPr>
              <a:t>Sem vazamento nenhum</a:t>
            </a:r>
          </a:p>
        </p:txBody>
      </p:sp>
      <p:sp>
        <p:nvSpPr>
          <p:cNvPr id="12" name="TextBox 11"/>
          <p:cNvSpPr txBox="1"/>
          <p:nvPr/>
        </p:nvSpPr>
        <p:spPr>
          <a:xfrm>
            <a:off x="8046720" y="4544568"/>
            <a:ext cx="3200400" cy="1005840"/>
          </a:xfrm>
          <a:prstGeom prst="rect">
            <a:avLst/>
          </a:prstGeom>
          <a:noFill/>
        </p:spPr>
        <p:txBody>
          <a:bodyPr wrap="square" lIns="0" rIns="0" tIns="0" bIns="0" anchor="t">
            <a:spAutoFit/>
          </a:bodyPr>
          <a:lstStyle/>
          <a:p>
            <a:pPr algn="l"/>
            <a:r>
              <a:rPr sz="1400" b="0" i="0">
                <a:solidFill>
                  <a:srgbClr val="232322"/>
                </a:solidFill>
                <a:latin typeface="Arial"/>
              </a:rPr>
              <a:t>Perto do acaso. Os modelos só detectavam pagamentos sem nota, o que um JOIN em SQL já faz.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A sentinela 9999 esmagou a escala</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417320"/>
            <a:ext cx="10972800" cy="731520"/>
          </a:xfrm>
          <a:prstGeom prst="rect">
            <a:avLst/>
          </a:prstGeom>
          <a:noFill/>
        </p:spPr>
        <p:txBody>
          <a:bodyPr wrap="square" lIns="0" rIns="0" tIns="0" bIns="0" anchor="t">
            <a:spAutoFit/>
          </a:bodyPr>
          <a:lstStyle/>
          <a:p>
            <a:pPr algn="l"/>
            <a:r>
              <a:rPr sz="1600" b="0" i="0">
                <a:solidFill>
                  <a:srgbClr val="5F5F5B"/>
                </a:solidFill>
                <a:latin typeface="Arial"/>
              </a:rPr>
              <a:t>Pagamentos sem nota recebiam Δ dias = 9999. Depois da padronização (z-score):</a:t>
            </a:r>
          </a:p>
        </p:txBody>
      </p:sp>
      <p:cxnSp>
        <p:nvCxnSpPr>
          <p:cNvPr id="6" name="Connector 5"/>
          <p:cNvCxnSpPr/>
          <p:nvPr/>
        </p:nvCxnSpPr>
        <p:spPr>
          <a:xfrm>
            <a:off x="914400" y="3063240"/>
            <a:ext cx="10241280" cy="0"/>
          </a:xfrm>
          <a:prstGeom prst="line">
            <a:avLst/>
          </a:prstGeom>
          <a:ln w="19050">
            <a:solidFill>
              <a:srgbClr val="23232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14400" y="2990088"/>
            <a:ext cx="0" cy="146304"/>
          </a:xfrm>
          <a:prstGeom prst="line">
            <a:avLst/>
          </a:prstGeom>
          <a:ln w="15875">
            <a:solidFill>
              <a:srgbClr val="23232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3246120"/>
            <a:ext cx="731520" cy="274320"/>
          </a:xfrm>
          <a:prstGeom prst="rect">
            <a:avLst/>
          </a:prstGeom>
          <a:noFill/>
        </p:spPr>
        <p:txBody>
          <a:bodyPr wrap="square" lIns="0" rIns="0" tIns="0" bIns="0" anchor="t">
            <a:spAutoFit/>
          </a:bodyPr>
          <a:lstStyle/>
          <a:p>
            <a:pPr algn="ctr"/>
            <a:r>
              <a:rPr sz="1200" b="0" i="0">
                <a:solidFill>
                  <a:srgbClr val="5F5F5B"/>
                </a:solidFill>
                <a:latin typeface="Arial"/>
              </a:rPr>
              <a:t>-1</a:t>
            </a:r>
          </a:p>
        </p:txBody>
      </p:sp>
      <p:cxnSp>
        <p:nvCxnSpPr>
          <p:cNvPr id="9" name="Connector 8"/>
          <p:cNvCxnSpPr/>
          <p:nvPr/>
        </p:nvCxnSpPr>
        <p:spPr>
          <a:xfrm>
            <a:off x="3474720" y="2990088"/>
            <a:ext cx="0" cy="146304"/>
          </a:xfrm>
          <a:prstGeom prst="line">
            <a:avLst/>
          </a:prstGeom>
          <a:ln w="15875">
            <a:solidFill>
              <a:srgbClr val="23232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108960" y="3246120"/>
            <a:ext cx="731520" cy="274320"/>
          </a:xfrm>
          <a:prstGeom prst="rect">
            <a:avLst/>
          </a:prstGeom>
          <a:noFill/>
        </p:spPr>
        <p:txBody>
          <a:bodyPr wrap="square" lIns="0" rIns="0" tIns="0" bIns="0" anchor="t">
            <a:spAutoFit/>
          </a:bodyPr>
          <a:lstStyle/>
          <a:p>
            <a:pPr algn="ctr"/>
            <a:r>
              <a:rPr sz="1200" b="0" i="0">
                <a:solidFill>
                  <a:srgbClr val="5F5F5B"/>
                </a:solidFill>
                <a:latin typeface="Arial"/>
              </a:rPr>
              <a:t>0</a:t>
            </a:r>
          </a:p>
        </p:txBody>
      </p:sp>
      <p:cxnSp>
        <p:nvCxnSpPr>
          <p:cNvPr id="11" name="Connector 10"/>
          <p:cNvCxnSpPr/>
          <p:nvPr/>
        </p:nvCxnSpPr>
        <p:spPr>
          <a:xfrm>
            <a:off x="6035040" y="2990088"/>
            <a:ext cx="0" cy="146304"/>
          </a:xfrm>
          <a:prstGeom prst="line">
            <a:avLst/>
          </a:prstGeom>
          <a:ln w="15875">
            <a:solidFill>
              <a:srgbClr val="23232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79" y="3246120"/>
            <a:ext cx="731520" cy="274320"/>
          </a:xfrm>
          <a:prstGeom prst="rect">
            <a:avLst/>
          </a:prstGeom>
          <a:noFill/>
        </p:spPr>
        <p:txBody>
          <a:bodyPr wrap="square" lIns="0" rIns="0" tIns="0" bIns="0" anchor="t">
            <a:spAutoFit/>
          </a:bodyPr>
          <a:lstStyle/>
          <a:p>
            <a:pPr algn="ctr"/>
            <a:r>
              <a:rPr sz="1200" b="0" i="0">
                <a:solidFill>
                  <a:srgbClr val="5F5F5B"/>
                </a:solidFill>
                <a:latin typeface="Arial"/>
              </a:rPr>
              <a:t>+1</a:t>
            </a:r>
          </a:p>
        </p:txBody>
      </p:sp>
      <p:cxnSp>
        <p:nvCxnSpPr>
          <p:cNvPr id="13" name="Connector 12"/>
          <p:cNvCxnSpPr/>
          <p:nvPr/>
        </p:nvCxnSpPr>
        <p:spPr>
          <a:xfrm>
            <a:off x="8595359" y="2990088"/>
            <a:ext cx="0" cy="146304"/>
          </a:xfrm>
          <a:prstGeom prst="line">
            <a:avLst/>
          </a:prstGeom>
          <a:ln w="15875">
            <a:solidFill>
              <a:srgbClr val="23232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599" y="3246120"/>
            <a:ext cx="731520" cy="274320"/>
          </a:xfrm>
          <a:prstGeom prst="rect">
            <a:avLst/>
          </a:prstGeom>
          <a:noFill/>
        </p:spPr>
        <p:txBody>
          <a:bodyPr wrap="square" lIns="0" rIns="0" tIns="0" bIns="0" anchor="t">
            <a:spAutoFit/>
          </a:bodyPr>
          <a:lstStyle/>
          <a:p>
            <a:pPr algn="ctr"/>
            <a:r>
              <a:rPr sz="1200" b="0" i="0">
                <a:solidFill>
                  <a:srgbClr val="5F5F5B"/>
                </a:solidFill>
                <a:latin typeface="Arial"/>
              </a:rPr>
              <a:t>+2</a:t>
            </a:r>
          </a:p>
        </p:txBody>
      </p:sp>
      <p:cxnSp>
        <p:nvCxnSpPr>
          <p:cNvPr id="15" name="Connector 14"/>
          <p:cNvCxnSpPr/>
          <p:nvPr/>
        </p:nvCxnSpPr>
        <p:spPr>
          <a:xfrm>
            <a:off x="11155680" y="2990088"/>
            <a:ext cx="0" cy="146304"/>
          </a:xfrm>
          <a:prstGeom prst="line">
            <a:avLst/>
          </a:prstGeom>
          <a:ln w="15875">
            <a:solidFill>
              <a:srgbClr val="23232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789919" y="3246120"/>
            <a:ext cx="731520" cy="274320"/>
          </a:xfrm>
          <a:prstGeom prst="rect">
            <a:avLst/>
          </a:prstGeom>
          <a:noFill/>
        </p:spPr>
        <p:txBody>
          <a:bodyPr wrap="square" lIns="0" rIns="0" tIns="0" bIns="0" anchor="t">
            <a:spAutoFit/>
          </a:bodyPr>
          <a:lstStyle/>
          <a:p>
            <a:pPr algn="ctr"/>
            <a:r>
              <a:rPr sz="1200" b="0" i="0">
                <a:solidFill>
                  <a:srgbClr val="5F5F5B"/>
                </a:solidFill>
                <a:latin typeface="Arial"/>
              </a:rPr>
              <a:t>+3</a:t>
            </a:r>
          </a:p>
        </p:txBody>
      </p:sp>
      <p:sp>
        <p:nvSpPr>
          <p:cNvPr id="17" name="TextBox 16"/>
          <p:cNvSpPr txBox="1"/>
          <p:nvPr/>
        </p:nvSpPr>
        <p:spPr>
          <a:xfrm>
            <a:off x="9875519" y="3520440"/>
            <a:ext cx="1463040" cy="274320"/>
          </a:xfrm>
          <a:prstGeom prst="rect">
            <a:avLst/>
          </a:prstGeom>
          <a:noFill/>
        </p:spPr>
        <p:txBody>
          <a:bodyPr wrap="square" lIns="0" rIns="0" tIns="0" bIns="0" anchor="t">
            <a:spAutoFit/>
          </a:bodyPr>
          <a:lstStyle/>
          <a:p>
            <a:pPr algn="r"/>
            <a:r>
              <a:rPr sz="1100" b="0" i="0">
                <a:solidFill>
                  <a:srgbClr val="5F5F5B"/>
                </a:solidFill>
                <a:latin typeface="Arial"/>
              </a:rPr>
              <a:t>desvios-padrão</a:t>
            </a:r>
          </a:p>
        </p:txBody>
      </p:sp>
      <p:sp>
        <p:nvSpPr>
          <p:cNvPr id="18" name="Oval 17"/>
          <p:cNvSpPr/>
          <p:nvPr/>
        </p:nvSpPr>
        <p:spPr>
          <a:xfrm>
            <a:off x="2320161" y="2980944"/>
            <a:ext cx="164592" cy="164592"/>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2402457" y="2651760"/>
            <a:ext cx="0" cy="283464"/>
          </a:xfrm>
          <a:prstGeom prst="line">
            <a:avLst/>
          </a:prstGeom>
          <a:ln w="15875">
            <a:solidFill>
              <a:srgbClr val="0F5E6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56537" y="1965960"/>
            <a:ext cx="3291840" cy="411480"/>
          </a:xfrm>
          <a:prstGeom prst="rect">
            <a:avLst/>
          </a:prstGeom>
          <a:noFill/>
        </p:spPr>
        <p:txBody>
          <a:bodyPr wrap="square" lIns="0" rIns="0" tIns="0" bIns="0" anchor="t">
            <a:spAutoFit/>
          </a:bodyPr>
          <a:lstStyle/>
          <a:p>
            <a:pPr algn="ctr"/>
            <a:r>
              <a:rPr sz="1600" b="1" i="0">
                <a:solidFill>
                  <a:srgbClr val="0F5E66"/>
                </a:solidFill>
                <a:latin typeface="Arial"/>
              </a:rPr>
              <a:t>0 a 30 dias</a:t>
            </a:r>
          </a:p>
        </p:txBody>
      </p:sp>
      <p:sp>
        <p:nvSpPr>
          <p:cNvPr id="21" name="TextBox 20"/>
          <p:cNvSpPr txBox="1"/>
          <p:nvPr/>
        </p:nvSpPr>
        <p:spPr>
          <a:xfrm>
            <a:off x="756537" y="2286000"/>
            <a:ext cx="3291840" cy="365760"/>
          </a:xfrm>
          <a:prstGeom prst="rect">
            <a:avLst/>
          </a:prstGeom>
          <a:noFill/>
        </p:spPr>
        <p:txBody>
          <a:bodyPr wrap="square" lIns="0" rIns="0" tIns="0" bIns="0" anchor="t">
            <a:spAutoFit/>
          </a:bodyPr>
          <a:lstStyle/>
          <a:p>
            <a:pPr algn="ctr"/>
            <a:r>
              <a:rPr sz="1300" b="0" i="0">
                <a:solidFill>
                  <a:srgbClr val="5F5F5B"/>
                </a:solidFill>
                <a:latin typeface="Arial"/>
              </a:rPr>
              <a:t>cabem em 0,0084 desvio-padrão</a:t>
            </a:r>
          </a:p>
        </p:txBody>
      </p:sp>
      <p:sp>
        <p:nvSpPr>
          <p:cNvPr id="22" name="Oval 21"/>
          <p:cNvSpPr/>
          <p:nvPr/>
        </p:nvSpPr>
        <p:spPr>
          <a:xfrm>
            <a:off x="9514917" y="2980944"/>
            <a:ext cx="164592" cy="164592"/>
          </a:xfrm>
          <a:prstGeom prst="ellipse">
            <a:avLst/>
          </a:prstGeom>
          <a:solidFill>
            <a:srgbClr val="B3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9597213" y="2651760"/>
            <a:ext cx="0" cy="283464"/>
          </a:xfrm>
          <a:prstGeom prst="line">
            <a:avLst/>
          </a:prstGeom>
          <a:ln w="15875">
            <a:solidFill>
              <a:srgbClr val="B3412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08493" y="1965960"/>
            <a:ext cx="2377440" cy="411480"/>
          </a:xfrm>
          <a:prstGeom prst="rect">
            <a:avLst/>
          </a:prstGeom>
          <a:noFill/>
        </p:spPr>
        <p:txBody>
          <a:bodyPr wrap="square" lIns="0" rIns="0" tIns="0" bIns="0" anchor="t">
            <a:spAutoFit/>
          </a:bodyPr>
          <a:lstStyle/>
          <a:p>
            <a:pPr algn="ctr"/>
            <a:r>
              <a:rPr sz="1600" b="1" i="0">
                <a:solidFill>
                  <a:srgbClr val="B3412E"/>
                </a:solidFill>
                <a:latin typeface="Arial"/>
              </a:rPr>
              <a:t>9999 = sem nota</a:t>
            </a:r>
          </a:p>
        </p:txBody>
      </p:sp>
      <p:sp>
        <p:nvSpPr>
          <p:cNvPr id="25" name="TextBox 24"/>
          <p:cNvSpPr txBox="1"/>
          <p:nvPr/>
        </p:nvSpPr>
        <p:spPr>
          <a:xfrm>
            <a:off x="8408493" y="2286000"/>
            <a:ext cx="2377440" cy="365760"/>
          </a:xfrm>
          <a:prstGeom prst="rect">
            <a:avLst/>
          </a:prstGeom>
          <a:noFill/>
        </p:spPr>
        <p:txBody>
          <a:bodyPr wrap="square" lIns="0" rIns="0" tIns="0" bIns="0" anchor="t">
            <a:spAutoFit/>
          </a:bodyPr>
          <a:lstStyle/>
          <a:p>
            <a:pPr algn="ctr"/>
            <a:r>
              <a:rPr sz="1300" b="0" i="0">
                <a:solidFill>
                  <a:srgbClr val="5F5F5B"/>
                </a:solidFill>
                <a:latin typeface="Arial"/>
              </a:rPr>
              <a:t>sozinha em +2,39</a:t>
            </a:r>
          </a:p>
        </p:txBody>
      </p:sp>
      <p:sp>
        <p:nvSpPr>
          <p:cNvPr id="26" name="Rounded Rectangle 25"/>
          <p:cNvSpPr/>
          <p:nvPr/>
        </p:nvSpPr>
        <p:spPr>
          <a:xfrm>
            <a:off x="548640" y="3977639"/>
            <a:ext cx="5349240" cy="178308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4114800"/>
            <a:ext cx="2103120" cy="640080"/>
          </a:xfrm>
          <a:prstGeom prst="rect">
            <a:avLst/>
          </a:prstGeom>
          <a:noFill/>
        </p:spPr>
        <p:txBody>
          <a:bodyPr wrap="square" lIns="0" rIns="0" tIns="0" bIns="0" anchor="t">
            <a:spAutoFit/>
          </a:bodyPr>
          <a:lstStyle/>
          <a:p>
            <a:pPr algn="l"/>
            <a:r>
              <a:rPr sz="3000" b="1" i="0">
                <a:solidFill>
                  <a:srgbClr val="B3412E"/>
                </a:solidFill>
                <a:latin typeface="Arial"/>
              </a:rPr>
              <a:t>128 / 128</a:t>
            </a:r>
          </a:p>
        </p:txBody>
      </p:sp>
      <p:sp>
        <p:nvSpPr>
          <p:cNvPr id="28" name="TextBox 27"/>
          <p:cNvSpPr txBox="1"/>
          <p:nvPr/>
        </p:nvSpPr>
        <p:spPr>
          <a:xfrm>
            <a:off x="2880360" y="4160520"/>
            <a:ext cx="2834640" cy="640080"/>
          </a:xfrm>
          <a:prstGeom prst="rect">
            <a:avLst/>
          </a:prstGeom>
          <a:noFill/>
        </p:spPr>
        <p:txBody>
          <a:bodyPr wrap="square" lIns="0" rIns="0" tIns="0" bIns="0" anchor="t">
            <a:spAutoFit/>
          </a:bodyPr>
          <a:lstStyle/>
          <a:p>
            <a:pPr algn="l"/>
            <a:r>
              <a:rPr sz="1400" b="1" i="0">
                <a:solidFill>
                  <a:srgbClr val="232322"/>
                </a:solidFill>
                <a:latin typeface="Arial"/>
              </a:rPr>
              <a:t>falsos positivos eram divergências de data</a:t>
            </a:r>
          </a:p>
        </p:txBody>
      </p:sp>
      <p:sp>
        <p:nvSpPr>
          <p:cNvPr id="29" name="TextBox 28"/>
          <p:cNvSpPr txBox="1"/>
          <p:nvPr/>
        </p:nvSpPr>
        <p:spPr>
          <a:xfrm>
            <a:off x="822959" y="4846320"/>
            <a:ext cx="4846320" cy="822960"/>
          </a:xfrm>
          <a:prstGeom prst="rect">
            <a:avLst/>
          </a:prstGeom>
          <a:noFill/>
        </p:spPr>
        <p:txBody>
          <a:bodyPr wrap="square" lIns="0" rIns="0" tIns="0" bIns="0" anchor="t">
            <a:spAutoFit/>
          </a:bodyPr>
          <a:lstStyle/>
          <a:p>
            <a:pPr algn="l"/>
            <a:r>
              <a:rPr sz="1400" b="0" i="0">
                <a:solidFill>
                  <a:srgbClr val="5F5F5B"/>
                </a:solidFill>
                <a:latin typeface="Arial"/>
              </a:rPr>
              <a:t>Para o SVM e a Regressão Logística, pagar no dia certo ou 30 dias depois ficou indistinguível.</a:t>
            </a:r>
          </a:p>
        </p:txBody>
      </p:sp>
      <p:sp>
        <p:nvSpPr>
          <p:cNvPr id="30" name="Rounded Rectangle 29"/>
          <p:cNvSpPr/>
          <p:nvPr/>
        </p:nvSpPr>
        <p:spPr>
          <a:xfrm>
            <a:off x="6080759" y="3977639"/>
            <a:ext cx="5349240" cy="178308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79" y="4114800"/>
            <a:ext cx="2103120" cy="640080"/>
          </a:xfrm>
          <a:prstGeom prst="rect">
            <a:avLst/>
          </a:prstGeom>
          <a:noFill/>
        </p:spPr>
        <p:txBody>
          <a:bodyPr wrap="square" lIns="0" rIns="0" tIns="0" bIns="0" anchor="t">
            <a:spAutoFit/>
          </a:bodyPr>
          <a:lstStyle/>
          <a:p>
            <a:pPr algn="l"/>
            <a:r>
              <a:rPr sz="3000" b="1" i="0">
                <a:solidFill>
                  <a:srgbClr val="0F5E66"/>
                </a:solidFill>
                <a:latin typeface="Arial"/>
              </a:rPr>
              <a:t>1,00</a:t>
            </a:r>
          </a:p>
        </p:txBody>
      </p:sp>
      <p:sp>
        <p:nvSpPr>
          <p:cNvPr id="32" name="TextBox 31"/>
          <p:cNvSpPr txBox="1"/>
          <p:nvPr/>
        </p:nvSpPr>
        <p:spPr>
          <a:xfrm>
            <a:off x="8412480" y="4160520"/>
            <a:ext cx="2834640" cy="640080"/>
          </a:xfrm>
          <a:prstGeom prst="rect">
            <a:avLst/>
          </a:prstGeom>
          <a:noFill/>
        </p:spPr>
        <p:txBody>
          <a:bodyPr wrap="square" lIns="0" rIns="0" tIns="0" bIns="0" anchor="t">
            <a:spAutoFit/>
          </a:bodyPr>
          <a:lstStyle/>
          <a:p>
            <a:pPr algn="l"/>
            <a:r>
              <a:rPr sz="1400" b="1" i="0">
                <a:solidFill>
                  <a:srgbClr val="232322"/>
                </a:solidFill>
                <a:latin typeface="Arial"/>
              </a:rPr>
              <a:t>para os três algoritmos, com indicador explícito</a:t>
            </a:r>
          </a:p>
        </p:txBody>
      </p:sp>
      <p:sp>
        <p:nvSpPr>
          <p:cNvPr id="33" name="TextBox 32"/>
          <p:cNvSpPr txBox="1"/>
          <p:nvPr/>
        </p:nvSpPr>
        <p:spPr>
          <a:xfrm>
            <a:off x="6355079" y="4846320"/>
            <a:ext cx="4846320" cy="822960"/>
          </a:xfrm>
          <a:prstGeom prst="rect">
            <a:avLst/>
          </a:prstGeom>
          <a:noFill/>
        </p:spPr>
        <p:txBody>
          <a:bodyPr wrap="square" lIns="0" rIns="0" tIns="0" bIns="0" anchor="t">
            <a:spAutoFit/>
          </a:bodyPr>
          <a:lstStyle/>
          <a:p>
            <a:pPr algn="l"/>
            <a:r>
              <a:rPr sz="1400" b="0" i="0">
                <a:solidFill>
                  <a:srgbClr val="5F5F5B"/>
                </a:solidFill>
                <a:latin typeface="Arial"/>
              </a:rPr>
              <a:t>Trocando a sentinela por “tem nota: sim/não”, a vantagem de 11 pontos da Random Forest desaparece.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O erro que importa</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417320"/>
            <a:ext cx="10972800" cy="457200"/>
          </a:xfrm>
          <a:prstGeom prst="rect">
            <a:avLst/>
          </a:prstGeom>
          <a:noFill/>
        </p:spPr>
        <p:txBody>
          <a:bodyPr wrap="square" lIns="0" rIns="0" tIns="0" bIns="0" anchor="t">
            <a:spAutoFit/>
          </a:bodyPr>
          <a:lstStyle/>
          <a:p>
            <a:pPr algn="l"/>
            <a:r>
              <a:rPr sz="1700" b="0" i="0">
                <a:solidFill>
                  <a:srgbClr val="5F5F5B"/>
                </a:solidFill>
                <a:latin typeface="Arial"/>
              </a:rPr>
              <a:t>SVM e RL: </a:t>
            </a:r>
            <a:r>
              <a:rPr sz="1700" b="1" i="0">
                <a:solidFill>
                  <a:srgbClr val="B3412E"/>
                </a:solidFill>
                <a:latin typeface="Arial"/>
              </a:rPr>
              <a:t>128 falsos positivos</a:t>
            </a:r>
            <a:r>
              <a:rPr sz="1700" b="0" i="0">
                <a:solidFill>
                  <a:srgbClr val="5F5F5B"/>
                </a:solidFill>
                <a:latin typeface="Arial"/>
              </a:rPr>
              <a:t> e </a:t>
            </a:r>
            <a:r>
              <a:rPr sz="1700" b="1" i="0">
                <a:solidFill>
                  <a:srgbClr val="232322"/>
                </a:solidFill>
                <a:latin typeface="Arial"/>
              </a:rPr>
              <a:t>0 falsos negativos</a:t>
            </a:r>
            <a:r>
              <a:rPr sz="1700" b="0" i="0">
                <a:solidFill>
                  <a:srgbClr val="5F5F5B"/>
                </a:solidFill>
                <a:latin typeface="Arial"/>
              </a:rPr>
              <a:t>. Os dois erros não têm o mesmo peso.</a:t>
            </a:r>
          </a:p>
        </p:txBody>
      </p:sp>
      <p:sp>
        <p:nvSpPr>
          <p:cNvPr id="6" name="Rounded Rectangle 5"/>
          <p:cNvSpPr/>
          <p:nvPr/>
        </p:nvSpPr>
        <p:spPr>
          <a:xfrm>
            <a:off x="548640" y="2103120"/>
            <a:ext cx="5349240" cy="242316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377440"/>
            <a:ext cx="777240" cy="77724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Eye_white.png"/>
          <p:cNvPicPr>
            <a:picLocks noChangeAspect="1"/>
          </p:cNvPicPr>
          <p:nvPr/>
        </p:nvPicPr>
        <p:blipFill>
          <a:blip r:embed="rId3"/>
          <a:stretch>
            <a:fillRect/>
          </a:stretch>
        </p:blipFill>
        <p:spPr>
          <a:xfrm>
            <a:off x="1062989" y="2571750"/>
            <a:ext cx="388620" cy="388620"/>
          </a:xfrm>
          <a:prstGeom prst="rect">
            <a:avLst/>
          </a:prstGeom>
        </p:spPr>
      </p:pic>
      <p:sp>
        <p:nvSpPr>
          <p:cNvPr id="9" name="TextBox 8"/>
          <p:cNvSpPr txBox="1"/>
          <p:nvPr/>
        </p:nvSpPr>
        <p:spPr>
          <a:xfrm>
            <a:off x="1874519" y="2514600"/>
            <a:ext cx="3749039" cy="457200"/>
          </a:xfrm>
          <a:prstGeom prst="rect">
            <a:avLst/>
          </a:prstGeom>
          <a:noFill/>
        </p:spPr>
        <p:txBody>
          <a:bodyPr wrap="square" lIns="0" rIns="0" tIns="0" bIns="0" anchor="t">
            <a:spAutoFit/>
          </a:bodyPr>
          <a:lstStyle/>
          <a:p>
            <a:pPr algn="l"/>
            <a:r>
              <a:rPr sz="2000" b="1" i="0">
                <a:solidFill>
                  <a:srgbClr val="0F5E66"/>
                </a:solidFill>
                <a:latin typeface="Arial"/>
              </a:rPr>
              <a:t>Falso negativo</a:t>
            </a:r>
          </a:p>
        </p:txBody>
      </p:sp>
      <p:sp>
        <p:nvSpPr>
          <p:cNvPr id="10" name="TextBox 9"/>
          <p:cNvSpPr txBox="1"/>
          <p:nvPr/>
        </p:nvSpPr>
        <p:spPr>
          <a:xfrm>
            <a:off x="868680" y="3337560"/>
            <a:ext cx="4754880" cy="822960"/>
          </a:xfrm>
          <a:prstGeom prst="rect">
            <a:avLst/>
          </a:prstGeom>
          <a:noFill/>
        </p:spPr>
        <p:txBody>
          <a:bodyPr wrap="square" lIns="0" rIns="0" tIns="0" bIns="0" anchor="t">
            <a:spAutoFit/>
          </a:bodyPr>
          <a:lstStyle/>
          <a:p>
            <a:pPr algn="l"/>
            <a:r>
              <a:rPr sz="1500" b="0" i="0">
                <a:solidFill>
                  <a:srgbClr val="232322"/>
                </a:solidFill>
                <a:latin typeface="Arial"/>
              </a:rPr>
              <a:t>Um pagamento correto vai para revisão manual. Gera trabalho, mas o controle continua íntegro.</a:t>
            </a:r>
          </a:p>
        </p:txBody>
      </p:sp>
      <p:sp>
        <p:nvSpPr>
          <p:cNvPr id="11" name="TextBox 10"/>
          <p:cNvSpPr txBox="1"/>
          <p:nvPr/>
        </p:nvSpPr>
        <p:spPr>
          <a:xfrm>
            <a:off x="868680" y="4069080"/>
            <a:ext cx="4754880" cy="365760"/>
          </a:xfrm>
          <a:prstGeom prst="rect">
            <a:avLst/>
          </a:prstGeom>
          <a:noFill/>
        </p:spPr>
        <p:txBody>
          <a:bodyPr wrap="square" lIns="0" rIns="0" tIns="0" bIns="0" anchor="t">
            <a:spAutoFit/>
          </a:bodyPr>
          <a:lstStyle/>
          <a:p>
            <a:pPr algn="l"/>
            <a:r>
              <a:rPr sz="1400" b="1" i="0">
                <a:solidFill>
                  <a:srgbClr val="0F5E66"/>
                </a:solidFill>
                <a:latin typeface="Arial"/>
              </a:rPr>
              <a:t>Afeta a eficiência</a:t>
            </a:r>
          </a:p>
        </p:txBody>
      </p:sp>
      <p:sp>
        <p:nvSpPr>
          <p:cNvPr id="12" name="Rounded Rectangle 11"/>
          <p:cNvSpPr/>
          <p:nvPr/>
        </p:nvSpPr>
        <p:spPr>
          <a:xfrm>
            <a:off x="6080759" y="2103120"/>
            <a:ext cx="5349240" cy="2423160"/>
          </a:xfrm>
          <a:prstGeom prst="roundRect">
            <a:avLst>
              <a:gd name="adj" fmla="val 8000"/>
            </a:avLst>
          </a:prstGeom>
          <a:solidFill>
            <a:srgbClr val="F7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0799" y="2377440"/>
            <a:ext cx="777240" cy="777240"/>
          </a:xfrm>
          <a:prstGeom prst="ellipse">
            <a:avLst/>
          </a:prstGeom>
          <a:solidFill>
            <a:srgbClr val="B3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EyeSlash_white.png"/>
          <p:cNvPicPr>
            <a:picLocks noChangeAspect="1"/>
          </p:cNvPicPr>
          <p:nvPr/>
        </p:nvPicPr>
        <p:blipFill>
          <a:blip r:embed="rId4"/>
          <a:stretch>
            <a:fillRect/>
          </a:stretch>
        </p:blipFill>
        <p:spPr>
          <a:xfrm>
            <a:off x="6595109" y="2571750"/>
            <a:ext cx="388620" cy="388620"/>
          </a:xfrm>
          <a:prstGeom prst="rect">
            <a:avLst/>
          </a:prstGeom>
        </p:spPr>
      </p:pic>
      <p:sp>
        <p:nvSpPr>
          <p:cNvPr id="15" name="TextBox 14"/>
          <p:cNvSpPr txBox="1"/>
          <p:nvPr/>
        </p:nvSpPr>
        <p:spPr>
          <a:xfrm>
            <a:off x="7406640" y="2514600"/>
            <a:ext cx="3749039" cy="457200"/>
          </a:xfrm>
          <a:prstGeom prst="rect">
            <a:avLst/>
          </a:prstGeom>
          <a:noFill/>
        </p:spPr>
        <p:txBody>
          <a:bodyPr wrap="square" lIns="0" rIns="0" tIns="0" bIns="0" anchor="t">
            <a:spAutoFit/>
          </a:bodyPr>
          <a:lstStyle/>
          <a:p>
            <a:pPr algn="l"/>
            <a:r>
              <a:rPr sz="2000" b="1" i="0">
                <a:solidFill>
                  <a:srgbClr val="B3412E"/>
                </a:solidFill>
                <a:latin typeface="Arial"/>
              </a:rPr>
              <a:t>Falso positivo</a:t>
            </a:r>
          </a:p>
        </p:txBody>
      </p:sp>
      <p:sp>
        <p:nvSpPr>
          <p:cNvPr id="16" name="TextBox 15"/>
          <p:cNvSpPr txBox="1"/>
          <p:nvPr/>
        </p:nvSpPr>
        <p:spPr>
          <a:xfrm>
            <a:off x="6400799" y="3337560"/>
            <a:ext cx="4754880" cy="822960"/>
          </a:xfrm>
          <a:prstGeom prst="rect">
            <a:avLst/>
          </a:prstGeom>
          <a:noFill/>
        </p:spPr>
        <p:txBody>
          <a:bodyPr wrap="square" lIns="0" rIns="0" tIns="0" bIns="0" anchor="t">
            <a:spAutoFit/>
          </a:bodyPr>
          <a:lstStyle/>
          <a:p>
            <a:pPr algn="l"/>
            <a:r>
              <a:rPr sz="1500" b="0" i="0">
                <a:solidFill>
                  <a:srgbClr val="232322"/>
                </a:solidFill>
                <a:latin typeface="Arial"/>
              </a:rPr>
              <a:t>Uma divergência é aprovada automaticamente e ninguém mais olha para ela: fica silenciada.</a:t>
            </a:r>
          </a:p>
        </p:txBody>
      </p:sp>
      <p:sp>
        <p:nvSpPr>
          <p:cNvPr id="17" name="TextBox 16"/>
          <p:cNvSpPr txBox="1"/>
          <p:nvPr/>
        </p:nvSpPr>
        <p:spPr>
          <a:xfrm>
            <a:off x="6400799" y="4069080"/>
            <a:ext cx="4754880" cy="365760"/>
          </a:xfrm>
          <a:prstGeom prst="rect">
            <a:avLst/>
          </a:prstGeom>
          <a:noFill/>
        </p:spPr>
        <p:txBody>
          <a:bodyPr wrap="square" lIns="0" rIns="0" tIns="0" bIns="0" anchor="t">
            <a:spAutoFit/>
          </a:bodyPr>
          <a:lstStyle/>
          <a:p>
            <a:pPr algn="l"/>
            <a:r>
              <a:rPr sz="1400" b="1" i="0">
                <a:solidFill>
                  <a:srgbClr val="B3412E"/>
                </a:solidFill>
                <a:latin typeface="Arial"/>
              </a:rPr>
              <a:t>Afeta a eficácia do controle</a:t>
            </a:r>
          </a:p>
        </p:txBody>
      </p:sp>
      <p:sp>
        <p:nvSpPr>
          <p:cNvPr id="18" name="Rounded Rectangle 17"/>
          <p:cNvSpPr/>
          <p:nvPr/>
        </p:nvSpPr>
        <p:spPr>
          <a:xfrm>
            <a:off x="548640" y="4846320"/>
            <a:ext cx="10881360" cy="9144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846320"/>
            <a:ext cx="10332720" cy="914400"/>
          </a:xfrm>
          <a:prstGeom prst="rect">
            <a:avLst/>
          </a:prstGeom>
          <a:noFill/>
        </p:spPr>
        <p:txBody>
          <a:bodyPr wrap="square" lIns="0" rIns="0" tIns="0" bIns="0" anchor="ctr">
            <a:spAutoFit/>
          </a:bodyPr>
          <a:lstStyle/>
          <a:p>
            <a:pPr algn="l"/>
            <a:r>
              <a:rPr sz="1500" b="1" i="0">
                <a:solidFill>
                  <a:srgbClr val="0F5E66"/>
                </a:solidFill>
                <a:latin typeface="Arial"/>
              </a:rPr>
              <a:t>Métrica certa: </a:t>
            </a:r>
            <a:r>
              <a:rPr sz="1500" b="0" i="0">
                <a:solidFill>
                  <a:srgbClr val="232322"/>
                </a:solidFill>
                <a:latin typeface="Arial"/>
              </a:rPr>
              <a:t>recall da classe de exceção sob precisão mínima, não acurácia nem F1. A NBC TA 530 faz a mesma distinção.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Experimento 3: uma comparação justa</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Rounded Rectangle 4"/>
          <p:cNvSpPr/>
          <p:nvPr/>
        </p:nvSpPr>
        <p:spPr>
          <a:xfrm>
            <a:off x="548640" y="1463040"/>
            <a:ext cx="6583680" cy="11887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9164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Database_white.png"/>
          <p:cNvPicPr>
            <a:picLocks noChangeAspect="1"/>
          </p:cNvPicPr>
          <p:nvPr/>
        </p:nvPicPr>
        <p:blipFill>
          <a:blip r:embed="rId3"/>
          <a:stretch>
            <a:fillRect/>
          </a:stretch>
        </p:blipFill>
        <p:spPr>
          <a:xfrm>
            <a:off x="960120" y="1874520"/>
            <a:ext cx="365760" cy="365760"/>
          </a:xfrm>
          <a:prstGeom prst="rect">
            <a:avLst/>
          </a:prstGeom>
        </p:spPr>
      </p:pic>
      <p:sp>
        <p:nvSpPr>
          <p:cNvPr id="8" name="TextBox 7"/>
          <p:cNvSpPr txBox="1"/>
          <p:nvPr/>
        </p:nvSpPr>
        <p:spPr>
          <a:xfrm>
            <a:off x="1783080" y="1618488"/>
            <a:ext cx="5120640" cy="365760"/>
          </a:xfrm>
          <a:prstGeom prst="rect">
            <a:avLst/>
          </a:prstGeom>
          <a:noFill/>
        </p:spPr>
        <p:txBody>
          <a:bodyPr wrap="square" lIns="0" rIns="0" tIns="0" bIns="0" anchor="t">
            <a:spAutoFit/>
          </a:bodyPr>
          <a:lstStyle/>
          <a:p>
            <a:pPr algn="l"/>
            <a:r>
              <a:rPr sz="1600" b="1" i="0">
                <a:solidFill>
                  <a:srgbClr val="232322"/>
                </a:solidFill>
                <a:latin typeface="Arial"/>
              </a:rPr>
              <a:t>1. Rótulo vem do gerador</a:t>
            </a:r>
          </a:p>
        </p:txBody>
      </p:sp>
      <p:sp>
        <p:nvSpPr>
          <p:cNvPr id="9" name="TextBox 8"/>
          <p:cNvSpPr txBox="1"/>
          <p:nvPr/>
        </p:nvSpPr>
        <p:spPr>
          <a:xfrm>
            <a:off x="1783080" y="1984248"/>
            <a:ext cx="5120640" cy="640080"/>
          </a:xfrm>
          <a:prstGeom prst="rect">
            <a:avLst/>
          </a:prstGeom>
          <a:noFill/>
        </p:spPr>
        <p:txBody>
          <a:bodyPr wrap="square" lIns="0" rIns="0" tIns="0" bIns="0" anchor="t">
            <a:spAutoFit/>
          </a:bodyPr>
          <a:lstStyle/>
          <a:p>
            <a:pPr algn="l"/>
            <a:r>
              <a:rPr sz="1400" b="0" i="0">
                <a:solidFill>
                  <a:srgbClr val="5F5F5B"/>
                </a:solidFill>
                <a:latin typeface="Arial"/>
              </a:rPr>
              <a:t>Ele sabe qual pagamento quita qual nota. Nenhuma regra sobre os atributos.</a:t>
            </a:r>
          </a:p>
        </p:txBody>
      </p:sp>
      <p:sp>
        <p:nvSpPr>
          <p:cNvPr id="10" name="Rounded Rectangle 9"/>
          <p:cNvSpPr/>
          <p:nvPr/>
        </p:nvSpPr>
        <p:spPr>
          <a:xfrm>
            <a:off x="548640" y="2834640"/>
            <a:ext cx="6583680" cy="11887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06324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Receipt_white.png"/>
          <p:cNvPicPr>
            <a:picLocks noChangeAspect="1"/>
          </p:cNvPicPr>
          <p:nvPr/>
        </p:nvPicPr>
        <p:blipFill>
          <a:blip r:embed="rId4"/>
          <a:stretch>
            <a:fillRect/>
          </a:stretch>
        </p:blipFill>
        <p:spPr>
          <a:xfrm>
            <a:off x="960120" y="3246120"/>
            <a:ext cx="365760" cy="365760"/>
          </a:xfrm>
          <a:prstGeom prst="rect">
            <a:avLst/>
          </a:prstGeom>
        </p:spPr>
      </p:pic>
      <p:sp>
        <p:nvSpPr>
          <p:cNvPr id="13" name="TextBox 12"/>
          <p:cNvSpPr txBox="1"/>
          <p:nvPr/>
        </p:nvSpPr>
        <p:spPr>
          <a:xfrm>
            <a:off x="1783080" y="2990088"/>
            <a:ext cx="5120640" cy="365760"/>
          </a:xfrm>
          <a:prstGeom prst="rect">
            <a:avLst/>
          </a:prstGeom>
          <a:noFill/>
        </p:spPr>
        <p:txBody>
          <a:bodyPr wrap="square" lIns="0" rIns="0" tIns="0" bIns="0" anchor="t">
            <a:spAutoFit/>
          </a:bodyPr>
          <a:lstStyle/>
          <a:p>
            <a:pPr algn="l"/>
            <a:r>
              <a:rPr sz="1600" b="1" i="0">
                <a:solidFill>
                  <a:srgbClr val="232322"/>
                </a:solidFill>
                <a:latin typeface="Arial"/>
              </a:rPr>
              <a:t>2. Pares verdadeiros não são cópias</a:t>
            </a:r>
          </a:p>
        </p:txBody>
      </p:sp>
      <p:sp>
        <p:nvSpPr>
          <p:cNvPr id="14" name="TextBox 13"/>
          <p:cNvSpPr txBox="1"/>
          <p:nvPr/>
        </p:nvSpPr>
        <p:spPr>
          <a:xfrm>
            <a:off x="1783080" y="3355848"/>
            <a:ext cx="5120640" cy="640080"/>
          </a:xfrm>
          <a:prstGeom prst="rect">
            <a:avLst/>
          </a:prstGeom>
          <a:noFill/>
        </p:spPr>
        <p:txBody>
          <a:bodyPr wrap="square" lIns="0" rIns="0" tIns="0" bIns="0" anchor="t">
            <a:spAutoFit/>
          </a:bodyPr>
          <a:lstStyle/>
          <a:p>
            <a:pPr algn="l"/>
            <a:r>
              <a:rPr sz="1400" b="0" i="0">
                <a:solidFill>
                  <a:srgbClr val="5F5F5B"/>
                </a:solidFill>
                <a:latin typeface="Arial"/>
              </a:rPr>
              <a:t>Retenções reais (IRRF, CSRF, ISS, INSS) e prazo típico de cada fornecedor.</a:t>
            </a:r>
          </a:p>
        </p:txBody>
      </p:sp>
      <p:sp>
        <p:nvSpPr>
          <p:cNvPr id="15" name="Rounded Rectangle 14"/>
          <p:cNvSpPr/>
          <p:nvPr/>
        </p:nvSpPr>
        <p:spPr>
          <a:xfrm>
            <a:off x="548640" y="4206240"/>
            <a:ext cx="6583680" cy="11887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443484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Bullseye_white.png"/>
          <p:cNvPicPr>
            <a:picLocks noChangeAspect="1"/>
          </p:cNvPicPr>
          <p:nvPr/>
        </p:nvPicPr>
        <p:blipFill>
          <a:blip r:embed="rId5"/>
          <a:stretch>
            <a:fillRect/>
          </a:stretch>
        </p:blipFill>
        <p:spPr>
          <a:xfrm>
            <a:off x="960120" y="4617720"/>
            <a:ext cx="365760" cy="365760"/>
          </a:xfrm>
          <a:prstGeom prst="rect">
            <a:avLst/>
          </a:prstGeom>
        </p:spPr>
      </p:pic>
      <p:sp>
        <p:nvSpPr>
          <p:cNvPr id="18" name="TextBox 17"/>
          <p:cNvSpPr txBox="1"/>
          <p:nvPr/>
        </p:nvSpPr>
        <p:spPr>
          <a:xfrm>
            <a:off x="1783080" y="4361688"/>
            <a:ext cx="5120640" cy="365760"/>
          </a:xfrm>
          <a:prstGeom prst="rect">
            <a:avLst/>
          </a:prstGeom>
          <a:noFill/>
        </p:spPr>
        <p:txBody>
          <a:bodyPr wrap="square" lIns="0" rIns="0" tIns="0" bIns="0" anchor="t">
            <a:spAutoFit/>
          </a:bodyPr>
          <a:lstStyle/>
          <a:p>
            <a:pPr algn="l"/>
            <a:r>
              <a:rPr sz="1600" b="1" i="0">
                <a:solidFill>
                  <a:srgbClr val="232322"/>
                </a:solidFill>
                <a:latin typeface="Arial"/>
              </a:rPr>
              <a:t>3. Seleção pelo objetivo de controle</a:t>
            </a:r>
          </a:p>
        </p:txBody>
      </p:sp>
      <p:sp>
        <p:nvSpPr>
          <p:cNvPr id="19" name="TextBox 18"/>
          <p:cNvSpPr txBox="1"/>
          <p:nvPr/>
        </p:nvSpPr>
        <p:spPr>
          <a:xfrm>
            <a:off x="1783080" y="4727448"/>
            <a:ext cx="5120640" cy="640080"/>
          </a:xfrm>
          <a:prstGeom prst="rect">
            <a:avLst/>
          </a:prstGeom>
          <a:noFill/>
        </p:spPr>
        <p:txBody>
          <a:bodyPr wrap="square" lIns="0" rIns="0" tIns="0" bIns="0" anchor="t">
            <a:spAutoFit/>
          </a:bodyPr>
          <a:lstStyle/>
          <a:p>
            <a:pPr algn="l"/>
            <a:r>
              <a:rPr sz="1400" b="0" i="0">
                <a:solidFill>
                  <a:srgbClr val="5F5F5B"/>
                </a:solidFill>
                <a:latin typeface="Arial"/>
              </a:rPr>
              <a:t>Maior recall de exceções com precisão mínima de 90%.</a:t>
            </a:r>
          </a:p>
        </p:txBody>
      </p:sp>
      <p:sp>
        <p:nvSpPr>
          <p:cNvPr id="20" name="Rounded Rectangle 19"/>
          <p:cNvSpPr/>
          <p:nvPr/>
        </p:nvSpPr>
        <p:spPr>
          <a:xfrm>
            <a:off x="7498079" y="1463040"/>
            <a:ext cx="3977639" cy="393192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0" y="1737360"/>
            <a:ext cx="731520" cy="73152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aShieldHalved_white.png"/>
          <p:cNvPicPr>
            <a:picLocks noChangeAspect="1"/>
          </p:cNvPicPr>
          <p:nvPr/>
        </p:nvPicPr>
        <p:blipFill>
          <a:blip r:embed="rId6"/>
          <a:stretch>
            <a:fillRect/>
          </a:stretch>
        </p:blipFill>
        <p:spPr>
          <a:xfrm>
            <a:off x="7955279" y="1920240"/>
            <a:ext cx="365760" cy="365760"/>
          </a:xfrm>
          <a:prstGeom prst="rect">
            <a:avLst/>
          </a:prstGeom>
        </p:spPr>
      </p:pic>
      <p:sp>
        <p:nvSpPr>
          <p:cNvPr id="23" name="TextBox 22"/>
          <p:cNvSpPr txBox="1"/>
          <p:nvPr/>
        </p:nvSpPr>
        <p:spPr>
          <a:xfrm>
            <a:off x="7772400" y="2651760"/>
            <a:ext cx="3474720" cy="365760"/>
          </a:xfrm>
          <a:prstGeom prst="rect">
            <a:avLst/>
          </a:prstGeom>
          <a:noFill/>
        </p:spPr>
        <p:txBody>
          <a:bodyPr wrap="square" lIns="0" rIns="0" tIns="0" bIns="0" anchor="t">
            <a:spAutoFit/>
          </a:bodyPr>
          <a:lstStyle/>
          <a:p>
            <a:pPr algn="l"/>
            <a:r>
              <a:rPr sz="1700" b="1" i="0">
                <a:solidFill>
                  <a:srgbClr val="0F5E66"/>
                </a:solidFill>
                <a:latin typeface="Arial"/>
              </a:rPr>
              <a:t>Guarda anti-vazamento</a:t>
            </a:r>
          </a:p>
        </p:txBody>
      </p:sp>
      <p:sp>
        <p:nvSpPr>
          <p:cNvPr id="24" name="TextBox 23"/>
          <p:cNvSpPr txBox="1"/>
          <p:nvPr/>
        </p:nvSpPr>
        <p:spPr>
          <a:xfrm>
            <a:off x="7772400" y="3063240"/>
            <a:ext cx="3474720" cy="914400"/>
          </a:xfrm>
          <a:prstGeom prst="rect">
            <a:avLst/>
          </a:prstGeom>
          <a:noFill/>
        </p:spPr>
        <p:txBody>
          <a:bodyPr wrap="square" lIns="0" rIns="0" tIns="0" bIns="0" anchor="t">
            <a:spAutoFit/>
          </a:bodyPr>
          <a:lstStyle/>
          <a:p>
            <a:pPr algn="l"/>
            <a:r>
              <a:rPr sz="1400" b="0" i="0">
                <a:solidFill>
                  <a:srgbClr val="232322"/>
                </a:solidFill>
                <a:latin typeface="Arial"/>
              </a:rPr>
              <a:t>Testa cada variável sozinha e interrompe a execução se alguma passar de 95% de acurácia.</a:t>
            </a:r>
          </a:p>
        </p:txBody>
      </p:sp>
      <p:sp>
        <p:nvSpPr>
          <p:cNvPr id="25" name="TextBox 24"/>
          <p:cNvSpPr txBox="1"/>
          <p:nvPr/>
        </p:nvSpPr>
        <p:spPr>
          <a:xfrm>
            <a:off x="7772400" y="4114800"/>
            <a:ext cx="3474720" cy="731520"/>
          </a:xfrm>
          <a:prstGeom prst="rect">
            <a:avLst/>
          </a:prstGeom>
          <a:noFill/>
        </p:spPr>
        <p:txBody>
          <a:bodyPr wrap="square" lIns="0" rIns="0" tIns="0" bIns="0" anchor="t">
            <a:spAutoFit/>
          </a:bodyPr>
          <a:lstStyle/>
          <a:p>
            <a:pPr algn="l"/>
            <a:r>
              <a:rPr sz="3400" b="1" i="0">
                <a:solidFill>
                  <a:srgbClr val="0F5E66"/>
                </a:solidFill>
                <a:latin typeface="Arial"/>
              </a:rPr>
              <a:t>0,82</a:t>
            </a:r>
            <a:r>
              <a:rPr sz="1400" b="0" i="0">
                <a:solidFill>
                  <a:srgbClr val="5F5F5B"/>
                </a:solidFill>
                <a:latin typeface="Arial"/>
              </a:rPr>
              <a:t>  melhor variável isolada</a:t>
            </a:r>
          </a:p>
        </p:txBody>
      </p:sp>
      <p:sp>
        <p:nvSpPr>
          <p:cNvPr id="26" name="TextBox 25"/>
          <p:cNvSpPr txBox="1"/>
          <p:nvPr/>
        </p:nvSpPr>
        <p:spPr>
          <a:xfrm>
            <a:off x="7772400" y="4846320"/>
            <a:ext cx="3474720" cy="457200"/>
          </a:xfrm>
          <a:prstGeom prst="rect">
            <a:avLst/>
          </a:prstGeom>
          <a:noFill/>
        </p:spPr>
        <p:txBody>
          <a:bodyPr wrap="square" lIns="0" rIns="0" tIns="0" bIns="0" anchor="t">
            <a:spAutoFit/>
          </a:bodyPr>
          <a:lstStyle/>
          <a:p>
            <a:pPr algn="l"/>
            <a:r>
              <a:rPr sz="1400" b="1" i="0">
                <a:solidFill>
                  <a:srgbClr val="232322"/>
                </a:solidFill>
                <a:latin typeface="Arial"/>
              </a:rPr>
              <a:t>A tarefa é genuína.</a:t>
            </a:r>
          </a:p>
        </p:txBody>
      </p:sp>
      <p:sp>
        <p:nvSpPr>
          <p:cNvPr id="27" name="TextBox 26"/>
          <p:cNvSpPr txBox="1"/>
          <p:nvPr/>
        </p:nvSpPr>
        <p:spPr>
          <a:xfrm>
            <a:off x="548640" y="5596128"/>
            <a:ext cx="10972800" cy="365760"/>
          </a:xfrm>
          <a:prstGeom prst="rect">
            <a:avLst/>
          </a:prstGeom>
          <a:noFill/>
        </p:spPr>
        <p:txBody>
          <a:bodyPr wrap="square" lIns="0" rIns="0" tIns="0" bIns="0" anchor="t">
            <a:spAutoFit/>
          </a:bodyPr>
          <a:lstStyle/>
          <a:p>
            <a:pPr algn="l"/>
            <a:r>
              <a:rPr sz="1300" b="0" i="0">
                <a:solidFill>
                  <a:srgbClr val="5F5F5B"/>
                </a:solidFill>
                <a:latin typeface="Arial"/>
              </a:rPr>
              <a:t>10 bases independentes · 7.500 pagamentos cada · 30% de exceções · testes de Friedman e Wilcoxon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Resultado: a Random Forest detecta mais exceções</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graphicFrame>
        <p:nvGraphicFramePr>
          <p:cNvPr id="5" name="Chart 4"/>
          <p:cNvGraphicFramePr>
            <a:graphicFrameLocks noGrp="1"/>
          </p:cNvGraphicFramePr>
          <p:nvPr/>
        </p:nvGraphicFramePr>
        <p:xfrm>
          <a:off x="457200" y="1417320"/>
          <a:ext cx="6766560" cy="4023360"/>
        </p:xfrm>
        <a:graphic>
          <a:graphicData uri="http://schemas.openxmlformats.org/drawingml/2006/chart">
            <c:chart xmlns:c="http://schemas.openxmlformats.org/drawingml/2006/chart" r:id="rId3"/>
          </a:graphicData>
        </a:graphic>
      </p:graphicFrame>
      <p:sp>
        <p:nvSpPr>
          <p:cNvPr id="6" name="Rounded Rectangle 5"/>
          <p:cNvSpPr/>
          <p:nvPr/>
        </p:nvSpPr>
        <p:spPr>
          <a:xfrm>
            <a:off x="7635240" y="1508760"/>
            <a:ext cx="3840480" cy="11430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618488"/>
            <a:ext cx="3383280" cy="548640"/>
          </a:xfrm>
          <a:prstGeom prst="rect">
            <a:avLst/>
          </a:prstGeom>
          <a:noFill/>
        </p:spPr>
        <p:txBody>
          <a:bodyPr wrap="square" lIns="0" rIns="0" tIns="0" bIns="0" anchor="t">
            <a:spAutoFit/>
          </a:bodyPr>
          <a:lstStyle/>
          <a:p>
            <a:pPr algn="l"/>
            <a:r>
              <a:rPr sz="2600" b="1" i="0">
                <a:solidFill>
                  <a:srgbClr val="0F5E66"/>
                </a:solidFill>
                <a:latin typeface="Arial"/>
              </a:rPr>
              <a:t>p &lt; 0,001</a:t>
            </a:r>
          </a:p>
        </p:txBody>
      </p:sp>
      <p:sp>
        <p:nvSpPr>
          <p:cNvPr id="8" name="TextBox 7"/>
          <p:cNvSpPr txBox="1"/>
          <p:nvPr/>
        </p:nvSpPr>
        <p:spPr>
          <a:xfrm>
            <a:off x="7909560" y="2167128"/>
            <a:ext cx="3383280" cy="411480"/>
          </a:xfrm>
          <a:prstGeom prst="rect">
            <a:avLst/>
          </a:prstGeom>
          <a:noFill/>
        </p:spPr>
        <p:txBody>
          <a:bodyPr wrap="square" lIns="0" rIns="0" tIns="0" bIns="0" anchor="t">
            <a:spAutoFit/>
          </a:bodyPr>
          <a:lstStyle/>
          <a:p>
            <a:pPr algn="l"/>
            <a:r>
              <a:rPr sz="1300" b="0" i="0">
                <a:solidFill>
                  <a:srgbClr val="5F5F5B"/>
                </a:solidFill>
                <a:latin typeface="Arial"/>
              </a:rPr>
              <a:t>Friedman rejeita a equivalência no recall</a:t>
            </a:r>
          </a:p>
        </p:txBody>
      </p:sp>
      <p:sp>
        <p:nvSpPr>
          <p:cNvPr id="9" name="Rounded Rectangle 8"/>
          <p:cNvSpPr/>
          <p:nvPr/>
        </p:nvSpPr>
        <p:spPr>
          <a:xfrm>
            <a:off x="7635240" y="2834639"/>
            <a:ext cx="3840480" cy="11430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2944368"/>
            <a:ext cx="3383280" cy="548640"/>
          </a:xfrm>
          <a:prstGeom prst="rect">
            <a:avLst/>
          </a:prstGeom>
          <a:noFill/>
        </p:spPr>
        <p:txBody>
          <a:bodyPr wrap="square" lIns="0" rIns="0" tIns="0" bIns="0" anchor="t">
            <a:spAutoFit/>
          </a:bodyPr>
          <a:lstStyle/>
          <a:p>
            <a:pPr algn="l"/>
            <a:r>
              <a:rPr sz="2600" b="1" i="0">
                <a:solidFill>
                  <a:srgbClr val="0F5E66"/>
                </a:solidFill>
                <a:latin typeface="Arial"/>
              </a:rPr>
              <a:t>p = 0,12</a:t>
            </a:r>
          </a:p>
        </p:txBody>
      </p:sp>
      <p:sp>
        <p:nvSpPr>
          <p:cNvPr id="11" name="TextBox 10"/>
          <p:cNvSpPr txBox="1"/>
          <p:nvPr/>
        </p:nvSpPr>
        <p:spPr>
          <a:xfrm>
            <a:off x="7909560" y="3493007"/>
            <a:ext cx="3383280" cy="411480"/>
          </a:xfrm>
          <a:prstGeom prst="rect">
            <a:avLst/>
          </a:prstGeom>
          <a:noFill/>
        </p:spPr>
        <p:txBody>
          <a:bodyPr wrap="square" lIns="0" rIns="0" tIns="0" bIns="0" anchor="t">
            <a:spAutoFit/>
          </a:bodyPr>
          <a:lstStyle/>
          <a:p>
            <a:pPr algn="l"/>
            <a:r>
              <a:rPr sz="1300" b="0" i="0">
                <a:solidFill>
                  <a:srgbClr val="5F5F5B"/>
                </a:solidFill>
                <a:latin typeface="Arial"/>
              </a:rPr>
              <a:t>precisão: os três são equivalentes</a:t>
            </a:r>
          </a:p>
        </p:txBody>
      </p:sp>
      <p:sp>
        <p:nvSpPr>
          <p:cNvPr id="12" name="Rounded Rectangle 11"/>
          <p:cNvSpPr/>
          <p:nvPr/>
        </p:nvSpPr>
        <p:spPr>
          <a:xfrm>
            <a:off x="7635240" y="4160520"/>
            <a:ext cx="3840480" cy="114300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4270248"/>
            <a:ext cx="3383280" cy="548640"/>
          </a:xfrm>
          <a:prstGeom prst="rect">
            <a:avLst/>
          </a:prstGeom>
          <a:noFill/>
        </p:spPr>
        <p:txBody>
          <a:bodyPr wrap="square" lIns="0" rIns="0" tIns="0" bIns="0" anchor="t">
            <a:spAutoFit/>
          </a:bodyPr>
          <a:lstStyle/>
          <a:p>
            <a:pPr algn="l"/>
            <a:r>
              <a:rPr sz="2600" b="1" i="0">
                <a:solidFill>
                  <a:srgbClr val="0F5E66"/>
                </a:solidFill>
                <a:latin typeface="Arial"/>
              </a:rPr>
              <a:t>27,6%</a:t>
            </a:r>
          </a:p>
        </p:txBody>
      </p:sp>
      <p:sp>
        <p:nvSpPr>
          <p:cNvPr id="14" name="TextBox 13"/>
          <p:cNvSpPr txBox="1"/>
          <p:nvPr/>
        </p:nvSpPr>
        <p:spPr>
          <a:xfrm>
            <a:off x="7909560" y="4818888"/>
            <a:ext cx="3383280" cy="411480"/>
          </a:xfrm>
          <a:prstGeom prst="rect">
            <a:avLst/>
          </a:prstGeom>
          <a:noFill/>
        </p:spPr>
        <p:txBody>
          <a:bodyPr wrap="square" lIns="0" rIns="0" tIns="0" bIns="0" anchor="t">
            <a:spAutoFit/>
          </a:bodyPr>
          <a:lstStyle/>
          <a:p>
            <a:pPr algn="l"/>
            <a:r>
              <a:rPr sz="1300" b="0" i="0">
                <a:solidFill>
                  <a:srgbClr val="5F5F5B"/>
                </a:solidFill>
                <a:latin typeface="Arial"/>
              </a:rPr>
              <a:t>dos registros vão para revisão manual</a:t>
            </a:r>
          </a:p>
        </p:txBody>
      </p:sp>
      <p:sp>
        <p:nvSpPr>
          <p:cNvPr id="15" name="TextBox 14"/>
          <p:cNvSpPr txBox="1"/>
          <p:nvPr/>
        </p:nvSpPr>
        <p:spPr>
          <a:xfrm>
            <a:off x="548640" y="5577840"/>
            <a:ext cx="10972800" cy="365760"/>
          </a:xfrm>
          <a:prstGeom prst="rect">
            <a:avLst/>
          </a:prstGeom>
          <a:noFill/>
        </p:spPr>
        <p:txBody>
          <a:bodyPr wrap="square" lIns="0" rIns="0" tIns="0" bIns="0" anchor="t">
            <a:spAutoFit/>
          </a:bodyPr>
          <a:lstStyle/>
          <a:p>
            <a:pPr algn="l"/>
            <a:r>
              <a:rPr sz="1300" b="0" i="0">
                <a:solidFill>
                  <a:srgbClr val="5F5F5B"/>
                </a:solidFill>
                <a:latin typeface="Arial"/>
              </a:rPr>
              <a:t>Precisão mínima de 90% calibrada na validação. A vantagem não veio às custas de precisão.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Em unidades de controle interno</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417320"/>
            <a:ext cx="10972800" cy="457200"/>
          </a:xfrm>
          <a:prstGeom prst="rect">
            <a:avLst/>
          </a:prstGeom>
          <a:noFill/>
        </p:spPr>
        <p:txBody>
          <a:bodyPr wrap="square" lIns="0" rIns="0" tIns="0" bIns="0" anchor="t">
            <a:spAutoFit/>
          </a:bodyPr>
          <a:lstStyle/>
          <a:p>
            <a:pPr algn="l"/>
            <a:r>
              <a:rPr sz="1600" b="0" i="0">
                <a:solidFill>
                  <a:srgbClr val="5F5F5B"/>
                </a:solidFill>
                <a:latin typeface="Arial"/>
              </a:rPr>
              <a:t>Divergências silenciadas em 15.000 pagamentos de teste (4.500 exceções, 10 execuções)</a:t>
            </a:r>
          </a:p>
        </p:txBody>
      </p:sp>
      <p:sp>
        <p:nvSpPr>
          <p:cNvPr id="6" name="Rounded Rectangle 5"/>
          <p:cNvSpPr/>
          <p:nvPr/>
        </p:nvSpPr>
        <p:spPr>
          <a:xfrm>
            <a:off x="548640" y="2011680"/>
            <a:ext cx="3474720" cy="21031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48840"/>
            <a:ext cx="2926080" cy="365760"/>
          </a:xfrm>
          <a:prstGeom prst="rect">
            <a:avLst/>
          </a:prstGeom>
          <a:noFill/>
        </p:spPr>
        <p:txBody>
          <a:bodyPr wrap="square" lIns="0" rIns="0" tIns="0" bIns="0" anchor="t">
            <a:spAutoFit/>
          </a:bodyPr>
          <a:lstStyle/>
          <a:p>
            <a:pPr algn="l"/>
            <a:r>
              <a:rPr sz="1600" b="1" i="0">
                <a:solidFill>
                  <a:srgbClr val="232322"/>
                </a:solidFill>
                <a:latin typeface="Arial"/>
              </a:rPr>
              <a:t>Random Forest</a:t>
            </a:r>
          </a:p>
        </p:txBody>
      </p:sp>
      <p:sp>
        <p:nvSpPr>
          <p:cNvPr id="8" name="TextBox 7"/>
          <p:cNvSpPr txBox="1"/>
          <p:nvPr/>
        </p:nvSpPr>
        <p:spPr>
          <a:xfrm>
            <a:off x="822959" y="2560320"/>
            <a:ext cx="2926080" cy="914400"/>
          </a:xfrm>
          <a:prstGeom prst="rect">
            <a:avLst/>
          </a:prstGeom>
          <a:noFill/>
        </p:spPr>
        <p:txBody>
          <a:bodyPr wrap="square" lIns="0" rIns="0" tIns="0" bIns="0" anchor="t">
            <a:spAutoFit/>
          </a:bodyPr>
          <a:lstStyle/>
          <a:p>
            <a:pPr algn="l"/>
            <a:r>
              <a:rPr sz="5400" b="1" i="0">
                <a:solidFill>
                  <a:srgbClr val="B3412E"/>
                </a:solidFill>
                <a:latin typeface="Arial"/>
              </a:rPr>
              <a:t>803</a:t>
            </a:r>
          </a:p>
        </p:txBody>
      </p:sp>
      <p:sp>
        <p:nvSpPr>
          <p:cNvPr id="9" name="TextBox 8"/>
          <p:cNvSpPr txBox="1"/>
          <p:nvPr/>
        </p:nvSpPr>
        <p:spPr>
          <a:xfrm>
            <a:off x="822959" y="3474720"/>
            <a:ext cx="3017520" cy="548640"/>
          </a:xfrm>
          <a:prstGeom prst="rect">
            <a:avLst/>
          </a:prstGeom>
          <a:noFill/>
        </p:spPr>
        <p:txBody>
          <a:bodyPr wrap="square" lIns="0" rIns="0" tIns="0" bIns="0" anchor="t">
            <a:spAutoFit/>
          </a:bodyPr>
          <a:lstStyle/>
          <a:p>
            <a:pPr algn="l"/>
            <a:r>
              <a:rPr sz="1300" b="0" i="0">
                <a:solidFill>
                  <a:srgbClr val="5F5F5B"/>
                </a:solidFill>
                <a:latin typeface="Arial"/>
              </a:rPr>
              <a:t>divergências silenciadas</a:t>
            </a:r>
          </a:p>
          <a:p>
            <a:pPr algn="l"/>
            <a:r>
              <a:rPr sz="1300" b="0" i="0">
                <a:solidFill>
                  <a:srgbClr val="5F5F5B"/>
                </a:solidFill>
                <a:latin typeface="Arial"/>
              </a:rPr>
              <a:t>446 revisões redundantes</a:t>
            </a:r>
          </a:p>
        </p:txBody>
      </p:sp>
      <p:sp>
        <p:nvSpPr>
          <p:cNvPr id="10" name="Rounded Rectangle 9"/>
          <p:cNvSpPr/>
          <p:nvPr/>
        </p:nvSpPr>
        <p:spPr>
          <a:xfrm>
            <a:off x="4251959" y="2011680"/>
            <a:ext cx="3474720" cy="210312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2148840"/>
            <a:ext cx="2926080" cy="365760"/>
          </a:xfrm>
          <a:prstGeom prst="rect">
            <a:avLst/>
          </a:prstGeom>
          <a:noFill/>
        </p:spPr>
        <p:txBody>
          <a:bodyPr wrap="square" lIns="0" rIns="0" tIns="0" bIns="0" anchor="t">
            <a:spAutoFit/>
          </a:bodyPr>
          <a:lstStyle/>
          <a:p>
            <a:pPr algn="l"/>
            <a:r>
              <a:rPr sz="1600" b="1" i="0">
                <a:solidFill>
                  <a:srgbClr val="232322"/>
                </a:solidFill>
                <a:latin typeface="Arial"/>
              </a:rPr>
              <a:t>SVM</a:t>
            </a:r>
          </a:p>
        </p:txBody>
      </p:sp>
      <p:sp>
        <p:nvSpPr>
          <p:cNvPr id="12" name="TextBox 11"/>
          <p:cNvSpPr txBox="1"/>
          <p:nvPr/>
        </p:nvSpPr>
        <p:spPr>
          <a:xfrm>
            <a:off x="4526279" y="2560320"/>
            <a:ext cx="2926080" cy="914400"/>
          </a:xfrm>
          <a:prstGeom prst="rect">
            <a:avLst/>
          </a:prstGeom>
          <a:noFill/>
        </p:spPr>
        <p:txBody>
          <a:bodyPr wrap="square" lIns="0" rIns="0" tIns="0" bIns="0" anchor="t">
            <a:spAutoFit/>
          </a:bodyPr>
          <a:lstStyle/>
          <a:p>
            <a:pPr algn="l"/>
            <a:r>
              <a:rPr sz="5400" b="1" i="0">
                <a:solidFill>
                  <a:srgbClr val="B3412E"/>
                </a:solidFill>
                <a:latin typeface="Arial"/>
              </a:rPr>
              <a:t>899</a:t>
            </a:r>
          </a:p>
        </p:txBody>
      </p:sp>
      <p:sp>
        <p:nvSpPr>
          <p:cNvPr id="13" name="TextBox 12"/>
          <p:cNvSpPr txBox="1"/>
          <p:nvPr/>
        </p:nvSpPr>
        <p:spPr>
          <a:xfrm>
            <a:off x="4526279" y="3474720"/>
            <a:ext cx="3017520" cy="548640"/>
          </a:xfrm>
          <a:prstGeom prst="rect">
            <a:avLst/>
          </a:prstGeom>
          <a:noFill/>
        </p:spPr>
        <p:txBody>
          <a:bodyPr wrap="square" lIns="0" rIns="0" tIns="0" bIns="0" anchor="t">
            <a:spAutoFit/>
          </a:bodyPr>
          <a:lstStyle/>
          <a:p>
            <a:pPr algn="l"/>
            <a:r>
              <a:rPr sz="1300" b="0" i="0">
                <a:solidFill>
                  <a:srgbClr val="5F5F5B"/>
                </a:solidFill>
                <a:latin typeface="Arial"/>
              </a:rPr>
              <a:t>divergências silenciadas</a:t>
            </a:r>
          </a:p>
          <a:p>
            <a:pPr algn="l"/>
            <a:r>
              <a:rPr sz="1300" b="0" i="0">
                <a:solidFill>
                  <a:srgbClr val="5F5F5B"/>
                </a:solidFill>
                <a:latin typeface="Arial"/>
              </a:rPr>
              <a:t>405 revisões redundantes</a:t>
            </a:r>
          </a:p>
        </p:txBody>
      </p:sp>
      <p:sp>
        <p:nvSpPr>
          <p:cNvPr id="14" name="Rounded Rectangle 13"/>
          <p:cNvSpPr/>
          <p:nvPr/>
        </p:nvSpPr>
        <p:spPr>
          <a:xfrm>
            <a:off x="7955279" y="2011680"/>
            <a:ext cx="3474720" cy="2103120"/>
          </a:xfrm>
          <a:prstGeom prst="roundRect">
            <a:avLst>
              <a:gd name="adj" fmla="val 8000"/>
            </a:avLst>
          </a:prstGeom>
          <a:solidFill>
            <a:srgbClr val="F7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148840"/>
            <a:ext cx="2926080" cy="365760"/>
          </a:xfrm>
          <a:prstGeom prst="rect">
            <a:avLst/>
          </a:prstGeom>
          <a:noFill/>
        </p:spPr>
        <p:txBody>
          <a:bodyPr wrap="square" lIns="0" rIns="0" tIns="0" bIns="0" anchor="t">
            <a:spAutoFit/>
          </a:bodyPr>
          <a:lstStyle/>
          <a:p>
            <a:pPr algn="l"/>
            <a:r>
              <a:rPr sz="1600" b="1" i="0">
                <a:solidFill>
                  <a:srgbClr val="232322"/>
                </a:solidFill>
                <a:latin typeface="Arial"/>
              </a:rPr>
              <a:t>Regressão Logística</a:t>
            </a:r>
          </a:p>
        </p:txBody>
      </p:sp>
      <p:sp>
        <p:nvSpPr>
          <p:cNvPr id="16" name="TextBox 15"/>
          <p:cNvSpPr txBox="1"/>
          <p:nvPr/>
        </p:nvSpPr>
        <p:spPr>
          <a:xfrm>
            <a:off x="8229600" y="2560320"/>
            <a:ext cx="2926080" cy="914400"/>
          </a:xfrm>
          <a:prstGeom prst="rect">
            <a:avLst/>
          </a:prstGeom>
          <a:noFill/>
        </p:spPr>
        <p:txBody>
          <a:bodyPr wrap="square" lIns="0" rIns="0" tIns="0" bIns="0" anchor="t">
            <a:spAutoFit/>
          </a:bodyPr>
          <a:lstStyle/>
          <a:p>
            <a:pPr algn="l"/>
            <a:r>
              <a:rPr sz="5400" b="1" i="0">
                <a:solidFill>
                  <a:srgbClr val="B3412E"/>
                </a:solidFill>
                <a:latin typeface="Arial"/>
              </a:rPr>
              <a:t>1.036</a:t>
            </a:r>
          </a:p>
        </p:txBody>
      </p:sp>
      <p:sp>
        <p:nvSpPr>
          <p:cNvPr id="17" name="TextBox 16"/>
          <p:cNvSpPr txBox="1"/>
          <p:nvPr/>
        </p:nvSpPr>
        <p:spPr>
          <a:xfrm>
            <a:off x="8229600" y="3474720"/>
            <a:ext cx="3017520" cy="548640"/>
          </a:xfrm>
          <a:prstGeom prst="rect">
            <a:avLst/>
          </a:prstGeom>
          <a:noFill/>
        </p:spPr>
        <p:txBody>
          <a:bodyPr wrap="square" lIns="0" rIns="0" tIns="0" bIns="0" anchor="t">
            <a:spAutoFit/>
          </a:bodyPr>
          <a:lstStyle/>
          <a:p>
            <a:pPr algn="l"/>
            <a:r>
              <a:rPr sz="1300" b="0" i="0">
                <a:solidFill>
                  <a:srgbClr val="5F5F5B"/>
                </a:solidFill>
                <a:latin typeface="Arial"/>
              </a:rPr>
              <a:t>divergências silenciadas</a:t>
            </a:r>
          </a:p>
          <a:p>
            <a:pPr algn="l"/>
            <a:r>
              <a:rPr sz="1300" b="0" i="0">
                <a:solidFill>
                  <a:srgbClr val="5F5F5B"/>
                </a:solidFill>
                <a:latin typeface="Arial"/>
              </a:rPr>
              <a:t>374 revisões redundantes</a:t>
            </a:r>
          </a:p>
        </p:txBody>
      </p:sp>
      <p:sp>
        <p:nvSpPr>
          <p:cNvPr id="18" name="Rounded Rectangle 17"/>
          <p:cNvSpPr/>
          <p:nvPr/>
        </p:nvSpPr>
        <p:spPr>
          <a:xfrm>
            <a:off x="548640" y="4434840"/>
            <a:ext cx="7040880" cy="12801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434840"/>
            <a:ext cx="6492240" cy="1280160"/>
          </a:xfrm>
          <a:prstGeom prst="rect">
            <a:avLst/>
          </a:prstGeom>
          <a:noFill/>
        </p:spPr>
        <p:txBody>
          <a:bodyPr wrap="square" lIns="0" rIns="0" tIns="0" bIns="0" anchor="ctr">
            <a:spAutoFit/>
          </a:bodyPr>
          <a:lstStyle/>
          <a:p>
            <a:pPr algn="l"/>
            <a:r>
              <a:rPr sz="1700" b="1" i="0">
                <a:solidFill>
                  <a:srgbClr val="232322"/>
                </a:solidFill>
                <a:latin typeface="Arial"/>
              </a:rPr>
              <a:t>Trocar RF por RL: </a:t>
            </a:r>
            <a:r>
              <a:rPr sz="1700" b="1" i="0">
                <a:solidFill>
                  <a:srgbClr val="B3412E"/>
                </a:solidFill>
                <a:latin typeface="Arial"/>
              </a:rPr>
              <a:t>+233 divergências silenciadas</a:t>
            </a:r>
            <a:r>
              <a:rPr sz="1700" b="0" i="0">
                <a:solidFill>
                  <a:srgbClr val="232322"/>
                </a:solidFill>
                <a:latin typeface="Arial"/>
              </a:rPr>
              <a:t> para poupar 72 revisões manuais.</a:t>
            </a:r>
          </a:p>
        </p:txBody>
      </p:sp>
      <p:sp>
        <p:nvSpPr>
          <p:cNvPr id="20" name="Rounded Rectangle 19"/>
          <p:cNvSpPr/>
          <p:nvPr/>
        </p:nvSpPr>
        <p:spPr>
          <a:xfrm>
            <a:off x="7863840" y="4434840"/>
            <a:ext cx="3566160" cy="128016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4434840"/>
            <a:ext cx="3108960" cy="1280160"/>
          </a:xfrm>
          <a:prstGeom prst="rect">
            <a:avLst/>
          </a:prstGeom>
          <a:noFill/>
        </p:spPr>
        <p:txBody>
          <a:bodyPr wrap="square" lIns="0" rIns="0" tIns="0" bIns="0" anchor="ctr">
            <a:spAutoFit/>
          </a:bodyPr>
          <a:lstStyle/>
          <a:p>
            <a:pPr algn="l"/>
            <a:r>
              <a:rPr sz="1400" b="1" i="0">
                <a:solidFill>
                  <a:srgbClr val="0F5E66"/>
                </a:solidFill>
                <a:latin typeface="Arial"/>
              </a:rPr>
              <a:t>Margem estreita: </a:t>
            </a:r>
            <a:r>
              <a:rPr sz="1400" b="0" i="0">
                <a:solidFill>
                  <a:srgbClr val="232322"/>
                </a:solidFill>
                <a:latin typeface="Arial"/>
              </a:rPr>
              <a:t>~5 pontos entre o melhor e o pior. Interpretabilidade e custo também contam.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Respondendo à pergunta e à hipótese</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Rounded Rectangle 4"/>
          <p:cNvSpPr/>
          <p:nvPr/>
        </p:nvSpPr>
        <p:spPr>
          <a:xfrm>
            <a:off x="548640" y="1463040"/>
            <a:ext cx="10881360" cy="12801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3108960" cy="1280160"/>
          </a:xfrm>
          <a:prstGeom prst="rect">
            <a:avLst/>
          </a:prstGeom>
          <a:noFill/>
        </p:spPr>
        <p:txBody>
          <a:bodyPr wrap="square" lIns="0" rIns="0" tIns="0" bIns="0" anchor="ctr">
            <a:spAutoFit/>
          </a:bodyPr>
          <a:lstStyle/>
          <a:p>
            <a:pPr algn="l"/>
            <a:r>
              <a:rPr sz="1700" b="1" i="0">
                <a:solidFill>
                  <a:srgbClr val="232322"/>
                </a:solidFill>
                <a:latin typeface="Arial"/>
              </a:rPr>
              <a:t>Qual algoritmo?</a:t>
            </a:r>
          </a:p>
        </p:txBody>
      </p:sp>
      <p:sp>
        <p:nvSpPr>
          <p:cNvPr id="7" name="Rounded Rectangle 6"/>
          <p:cNvSpPr/>
          <p:nvPr/>
        </p:nvSpPr>
        <p:spPr>
          <a:xfrm>
            <a:off x="4069080" y="1847088"/>
            <a:ext cx="2103120" cy="512064"/>
          </a:xfrm>
          <a:prstGeom prst="roundRect">
            <a:avLst>
              <a:gd name="adj" fmla="val 50000"/>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69080" y="1847088"/>
            <a:ext cx="2103120" cy="512064"/>
          </a:xfrm>
          <a:prstGeom prst="rect">
            <a:avLst/>
          </a:prstGeom>
          <a:noFill/>
        </p:spPr>
        <p:txBody>
          <a:bodyPr wrap="square" lIns="0" rIns="0" tIns="0" bIns="0" anchor="ctr">
            <a:spAutoFit/>
          </a:bodyPr>
          <a:lstStyle/>
          <a:p>
            <a:pPr algn="ctr"/>
            <a:r>
              <a:rPr sz="1400" b="1" i="0">
                <a:solidFill>
                  <a:srgbClr val="FFFFFF"/>
                </a:solidFill>
                <a:latin typeface="Arial"/>
              </a:rPr>
              <a:t>Random Forest</a:t>
            </a:r>
          </a:p>
        </p:txBody>
      </p:sp>
      <p:sp>
        <p:nvSpPr>
          <p:cNvPr id="9" name="TextBox 8"/>
          <p:cNvSpPr txBox="1"/>
          <p:nvPr/>
        </p:nvSpPr>
        <p:spPr>
          <a:xfrm>
            <a:off x="6446520" y="1463040"/>
            <a:ext cx="4754880" cy="1280160"/>
          </a:xfrm>
          <a:prstGeom prst="rect">
            <a:avLst/>
          </a:prstGeom>
          <a:noFill/>
        </p:spPr>
        <p:txBody>
          <a:bodyPr wrap="square" lIns="0" rIns="0" tIns="0" bIns="0" anchor="ctr">
            <a:spAutoFit/>
          </a:bodyPr>
          <a:lstStyle/>
          <a:p>
            <a:pPr algn="l"/>
            <a:r>
              <a:rPr sz="1400" b="0" i="0">
                <a:solidFill>
                  <a:srgbClr val="232322"/>
                </a:solidFill>
                <a:latin typeface="Arial"/>
              </a:rPr>
              <a:t>Com rótulo independente e o critério certo, por margem estreita.</a:t>
            </a:r>
          </a:p>
        </p:txBody>
      </p:sp>
      <p:sp>
        <p:nvSpPr>
          <p:cNvPr id="10" name="Rounded Rectangle 9"/>
          <p:cNvSpPr/>
          <p:nvPr/>
        </p:nvSpPr>
        <p:spPr>
          <a:xfrm>
            <a:off x="548640" y="2926080"/>
            <a:ext cx="10881360" cy="12801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26080"/>
            <a:ext cx="3108960" cy="1280160"/>
          </a:xfrm>
          <a:prstGeom prst="rect">
            <a:avLst/>
          </a:prstGeom>
          <a:noFill/>
        </p:spPr>
        <p:txBody>
          <a:bodyPr wrap="square" lIns="0" rIns="0" tIns="0" bIns="0" anchor="ctr">
            <a:spAutoFit/>
          </a:bodyPr>
          <a:lstStyle/>
          <a:p>
            <a:pPr algn="l"/>
            <a:r>
              <a:rPr sz="1700" b="1" i="0">
                <a:solidFill>
                  <a:srgbClr val="232322"/>
                </a:solidFill>
                <a:latin typeface="Arial"/>
              </a:rPr>
              <a:t>Algoritmo ou representação?</a:t>
            </a:r>
          </a:p>
        </p:txBody>
      </p:sp>
      <p:sp>
        <p:nvSpPr>
          <p:cNvPr id="12" name="Rounded Rectangle 11"/>
          <p:cNvSpPr/>
          <p:nvPr/>
        </p:nvSpPr>
        <p:spPr>
          <a:xfrm>
            <a:off x="4069080" y="3310128"/>
            <a:ext cx="2103120" cy="512064"/>
          </a:xfrm>
          <a:prstGeom prst="roundRect">
            <a:avLst>
              <a:gd name="adj" fmla="val 50000"/>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9080" y="3310128"/>
            <a:ext cx="2103120" cy="512064"/>
          </a:xfrm>
          <a:prstGeom prst="rect">
            <a:avLst/>
          </a:prstGeom>
          <a:noFill/>
        </p:spPr>
        <p:txBody>
          <a:bodyPr wrap="square" lIns="0" rIns="0" tIns="0" bIns="0" anchor="ctr">
            <a:spAutoFit/>
          </a:bodyPr>
          <a:lstStyle/>
          <a:p>
            <a:pPr algn="ctr"/>
            <a:r>
              <a:rPr sz="1400" b="1" i="0">
                <a:solidFill>
                  <a:srgbClr val="FFFFFF"/>
                </a:solidFill>
                <a:latin typeface="Arial"/>
              </a:rPr>
              <a:t>Representação</a:t>
            </a:r>
          </a:p>
        </p:txBody>
      </p:sp>
      <p:sp>
        <p:nvSpPr>
          <p:cNvPr id="14" name="TextBox 13"/>
          <p:cNvSpPr txBox="1"/>
          <p:nvPr/>
        </p:nvSpPr>
        <p:spPr>
          <a:xfrm>
            <a:off x="6446520" y="2926080"/>
            <a:ext cx="4754880" cy="1280160"/>
          </a:xfrm>
          <a:prstGeom prst="rect">
            <a:avLst/>
          </a:prstGeom>
          <a:noFill/>
        </p:spPr>
        <p:txBody>
          <a:bodyPr wrap="square" lIns="0" rIns="0" tIns="0" bIns="0" anchor="ctr">
            <a:spAutoFit/>
          </a:bodyPr>
          <a:lstStyle/>
          <a:p>
            <a:pPr algn="l"/>
            <a:r>
              <a:rPr sz="1400" b="0" i="0">
                <a:solidFill>
                  <a:srgbClr val="232322"/>
                </a:solidFill>
                <a:latin typeface="Arial"/>
              </a:rPr>
              <a:t>A codificação dos dados e a origem do rótulo pesaram mais. No 1º experimento, toda a diferença vinha da sentinela.</a:t>
            </a:r>
          </a:p>
        </p:txBody>
      </p:sp>
      <p:sp>
        <p:nvSpPr>
          <p:cNvPr id="15" name="Rounded Rectangle 14"/>
          <p:cNvSpPr/>
          <p:nvPr/>
        </p:nvSpPr>
        <p:spPr>
          <a:xfrm>
            <a:off x="548640" y="4389120"/>
            <a:ext cx="10881360" cy="128016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389120"/>
            <a:ext cx="3108960" cy="1280160"/>
          </a:xfrm>
          <a:prstGeom prst="rect">
            <a:avLst/>
          </a:prstGeom>
          <a:noFill/>
        </p:spPr>
        <p:txBody>
          <a:bodyPr wrap="square" lIns="0" rIns="0" tIns="0" bIns="0" anchor="ctr">
            <a:spAutoFit/>
          </a:bodyPr>
          <a:lstStyle/>
          <a:p>
            <a:pPr algn="l"/>
            <a:r>
              <a:rPr sz="1700" b="1" i="0">
                <a:solidFill>
                  <a:srgbClr val="232322"/>
                </a:solidFill>
                <a:latin typeface="Arial"/>
              </a:rPr>
              <a:t>A hipótese se confirmou?</a:t>
            </a:r>
          </a:p>
        </p:txBody>
      </p:sp>
      <p:sp>
        <p:nvSpPr>
          <p:cNvPr id="17" name="Rounded Rectangle 16"/>
          <p:cNvSpPr/>
          <p:nvPr/>
        </p:nvSpPr>
        <p:spPr>
          <a:xfrm>
            <a:off x="4069080" y="4773168"/>
            <a:ext cx="2103120" cy="512064"/>
          </a:xfrm>
          <a:prstGeom prst="roundRect">
            <a:avLst>
              <a:gd name="adj" fmla="val 50000"/>
            </a:avLst>
          </a:prstGeom>
          <a:solidFill>
            <a:srgbClr val="B3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69080" y="4773168"/>
            <a:ext cx="2103120" cy="512064"/>
          </a:xfrm>
          <a:prstGeom prst="rect">
            <a:avLst/>
          </a:prstGeom>
          <a:noFill/>
        </p:spPr>
        <p:txBody>
          <a:bodyPr wrap="square" lIns="0" rIns="0" tIns="0" bIns="0" anchor="ctr">
            <a:spAutoFit/>
          </a:bodyPr>
          <a:lstStyle/>
          <a:p>
            <a:pPr algn="ctr"/>
            <a:r>
              <a:rPr sz="1400" b="1" i="0">
                <a:solidFill>
                  <a:srgbClr val="FFFFFF"/>
                </a:solidFill>
                <a:latin typeface="Arial"/>
              </a:rPr>
              <a:t>Em parte</a:t>
            </a:r>
          </a:p>
        </p:txBody>
      </p:sp>
      <p:sp>
        <p:nvSpPr>
          <p:cNvPr id="19" name="TextBox 18"/>
          <p:cNvSpPr txBox="1"/>
          <p:nvPr/>
        </p:nvSpPr>
        <p:spPr>
          <a:xfrm>
            <a:off x="6446520" y="4389120"/>
            <a:ext cx="4754880" cy="1280160"/>
          </a:xfrm>
          <a:prstGeom prst="rect">
            <a:avLst/>
          </a:prstGeom>
          <a:noFill/>
        </p:spPr>
        <p:txBody>
          <a:bodyPr wrap="square" lIns="0" rIns="0" tIns="0" bIns="0" anchor="ctr">
            <a:spAutoFit/>
          </a:bodyPr>
          <a:lstStyle/>
          <a:p>
            <a:pPr algn="l"/>
            <a:r>
              <a:rPr sz="1400" b="0" i="0">
                <a:solidFill>
                  <a:srgbClr val="232322"/>
                </a:solidFill>
                <a:latin typeface="Arial"/>
              </a:rPr>
              <a:t>Com regra conhecida, o ML só a reproduziu, com mais custo e opacidade. Com evidência ambígua, automatizou a triagem de exceções, mas faltou comparar com uma solução por regras.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O que se leva para a prática</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Rounded Rectangle 4"/>
          <p:cNvSpPr/>
          <p:nvPr/>
        </p:nvSpPr>
        <p:spPr>
          <a:xfrm>
            <a:off x="548640" y="1463040"/>
            <a:ext cx="4937760" cy="420624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4389120" cy="1188720"/>
          </a:xfrm>
          <a:prstGeom prst="rect">
            <a:avLst/>
          </a:prstGeom>
          <a:noFill/>
        </p:spPr>
        <p:txBody>
          <a:bodyPr wrap="square" lIns="0" rIns="0" tIns="0" bIns="0" anchor="t">
            <a:spAutoFit/>
          </a:bodyPr>
          <a:lstStyle/>
          <a:p>
            <a:pPr algn="l"/>
            <a:r>
              <a:rPr sz="2400" b="1" i="0">
                <a:solidFill>
                  <a:srgbClr val="0F5E66"/>
                </a:solidFill>
                <a:latin typeface="Arial"/>
              </a:rPr>
              <a:t>Se a regra é conhecida, implemente a regra.</a:t>
            </a:r>
          </a:p>
        </p:txBody>
      </p:sp>
      <p:sp>
        <p:nvSpPr>
          <p:cNvPr id="7" name="TextBox 6"/>
          <p:cNvSpPr txBox="1"/>
          <p:nvPr/>
        </p:nvSpPr>
        <p:spPr>
          <a:xfrm>
            <a:off x="868680" y="2926080"/>
            <a:ext cx="4389120" cy="457200"/>
          </a:xfrm>
          <a:prstGeom prst="rect">
            <a:avLst/>
          </a:prstGeom>
          <a:noFill/>
        </p:spPr>
        <p:txBody>
          <a:bodyPr wrap="square" lIns="0" rIns="0" tIns="0" bIns="0" anchor="t">
            <a:spAutoFit/>
          </a:bodyPr>
          <a:lstStyle/>
          <a:p>
            <a:pPr algn="l"/>
            <a:r>
              <a:rPr sz="1400" b="0" i="0">
                <a:solidFill>
                  <a:srgbClr val="5F5F5B"/>
                </a:solidFill>
                <a:latin typeface="Arial"/>
              </a:rPr>
              <a:t>ML vale a pena onde a regra é desconhecida, instável ou difícil de escrever:</a:t>
            </a:r>
          </a:p>
        </p:txBody>
      </p:sp>
      <p:sp>
        <p:nvSpPr>
          <p:cNvPr id="8" name="Oval 7"/>
          <p:cNvSpPr/>
          <p:nvPr/>
        </p:nvSpPr>
        <p:spPr>
          <a:xfrm>
            <a:off x="868680" y="3611880"/>
            <a:ext cx="347472" cy="347472"/>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Check_white.png"/>
          <p:cNvPicPr>
            <a:picLocks noChangeAspect="1"/>
          </p:cNvPicPr>
          <p:nvPr/>
        </p:nvPicPr>
        <p:blipFill>
          <a:blip r:embed="rId3"/>
          <a:stretch>
            <a:fillRect/>
          </a:stretch>
        </p:blipFill>
        <p:spPr>
          <a:xfrm>
            <a:off x="955547" y="3698748"/>
            <a:ext cx="173736" cy="173736"/>
          </a:xfrm>
          <a:prstGeom prst="rect">
            <a:avLst/>
          </a:prstGeom>
        </p:spPr>
      </p:pic>
      <p:sp>
        <p:nvSpPr>
          <p:cNvPr id="10" name="TextBox 9"/>
          <p:cNvSpPr txBox="1"/>
          <p:nvPr/>
        </p:nvSpPr>
        <p:spPr>
          <a:xfrm>
            <a:off x="1371600" y="3611880"/>
            <a:ext cx="3931920" cy="365760"/>
          </a:xfrm>
          <a:prstGeom prst="rect">
            <a:avLst/>
          </a:prstGeom>
          <a:noFill/>
        </p:spPr>
        <p:txBody>
          <a:bodyPr wrap="square" lIns="0" rIns="0" tIns="0" bIns="0" anchor="ctr">
            <a:spAutoFit/>
          </a:bodyPr>
          <a:lstStyle/>
          <a:p>
            <a:pPr algn="l"/>
            <a:r>
              <a:rPr sz="1500" b="0" i="0">
                <a:solidFill>
                  <a:srgbClr val="232322"/>
                </a:solidFill>
                <a:latin typeface="Arial"/>
              </a:rPr>
              <a:t>Textos livres, como no caso Swift</a:t>
            </a:r>
          </a:p>
        </p:txBody>
      </p:sp>
      <p:sp>
        <p:nvSpPr>
          <p:cNvPr id="11" name="Oval 10"/>
          <p:cNvSpPr/>
          <p:nvPr/>
        </p:nvSpPr>
        <p:spPr>
          <a:xfrm>
            <a:off x="868680" y="4178808"/>
            <a:ext cx="347472" cy="347472"/>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Check_white.png"/>
          <p:cNvPicPr>
            <a:picLocks noChangeAspect="1"/>
          </p:cNvPicPr>
          <p:nvPr/>
        </p:nvPicPr>
        <p:blipFill>
          <a:blip r:embed="rId3"/>
          <a:stretch>
            <a:fillRect/>
          </a:stretch>
        </p:blipFill>
        <p:spPr>
          <a:xfrm>
            <a:off x="955547" y="4265676"/>
            <a:ext cx="173736" cy="173736"/>
          </a:xfrm>
          <a:prstGeom prst="rect">
            <a:avLst/>
          </a:prstGeom>
        </p:spPr>
      </p:pic>
      <p:sp>
        <p:nvSpPr>
          <p:cNvPr id="13" name="TextBox 12"/>
          <p:cNvSpPr txBox="1"/>
          <p:nvPr/>
        </p:nvSpPr>
        <p:spPr>
          <a:xfrm>
            <a:off x="1371600" y="4178808"/>
            <a:ext cx="3931920" cy="365760"/>
          </a:xfrm>
          <a:prstGeom prst="rect">
            <a:avLst/>
          </a:prstGeom>
          <a:noFill/>
        </p:spPr>
        <p:txBody>
          <a:bodyPr wrap="square" lIns="0" rIns="0" tIns="0" bIns="0" anchor="ctr">
            <a:spAutoFit/>
          </a:bodyPr>
          <a:lstStyle/>
          <a:p>
            <a:pPr algn="l"/>
            <a:r>
              <a:rPr sz="1500" b="0" i="0">
                <a:solidFill>
                  <a:srgbClr val="232322"/>
                </a:solidFill>
                <a:latin typeface="Arial"/>
              </a:rPr>
              <a:t>Pareamento de muitos-para-muitos</a:t>
            </a:r>
          </a:p>
        </p:txBody>
      </p:sp>
      <p:sp>
        <p:nvSpPr>
          <p:cNvPr id="14" name="Oval 13"/>
          <p:cNvSpPr/>
          <p:nvPr/>
        </p:nvSpPr>
        <p:spPr>
          <a:xfrm>
            <a:off x="868680" y="4745736"/>
            <a:ext cx="347472" cy="347472"/>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Check_white.png"/>
          <p:cNvPicPr>
            <a:picLocks noChangeAspect="1"/>
          </p:cNvPicPr>
          <p:nvPr/>
        </p:nvPicPr>
        <p:blipFill>
          <a:blip r:embed="rId3"/>
          <a:stretch>
            <a:fillRect/>
          </a:stretch>
        </p:blipFill>
        <p:spPr>
          <a:xfrm>
            <a:off x="955547" y="4832604"/>
            <a:ext cx="173736" cy="173736"/>
          </a:xfrm>
          <a:prstGeom prst="rect">
            <a:avLst/>
          </a:prstGeom>
        </p:spPr>
      </p:pic>
      <p:sp>
        <p:nvSpPr>
          <p:cNvPr id="16" name="TextBox 15"/>
          <p:cNvSpPr txBox="1"/>
          <p:nvPr/>
        </p:nvSpPr>
        <p:spPr>
          <a:xfrm>
            <a:off x="1371600" y="4745736"/>
            <a:ext cx="3931920" cy="365760"/>
          </a:xfrm>
          <a:prstGeom prst="rect">
            <a:avLst/>
          </a:prstGeom>
          <a:noFill/>
        </p:spPr>
        <p:txBody>
          <a:bodyPr wrap="square" lIns="0" rIns="0" tIns="0" bIns="0" anchor="ctr">
            <a:spAutoFit/>
          </a:bodyPr>
          <a:lstStyle/>
          <a:p>
            <a:pPr algn="l"/>
            <a:r>
              <a:rPr sz="1500" b="0" i="0">
                <a:solidFill>
                  <a:srgbClr val="232322"/>
                </a:solidFill>
                <a:latin typeface="Arial"/>
              </a:rPr>
              <a:t>Priorizar exceções por risco</a:t>
            </a:r>
          </a:p>
        </p:txBody>
      </p:sp>
      <p:sp>
        <p:nvSpPr>
          <p:cNvPr id="17" name="Rounded Rectangle 16"/>
          <p:cNvSpPr/>
          <p:nvPr/>
        </p:nvSpPr>
        <p:spPr>
          <a:xfrm>
            <a:off x="5806440" y="1463040"/>
            <a:ext cx="5669280" cy="713232"/>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1463040"/>
            <a:ext cx="457200" cy="713232"/>
          </a:xfrm>
          <a:prstGeom prst="rect">
            <a:avLst/>
          </a:prstGeom>
          <a:noFill/>
        </p:spPr>
        <p:txBody>
          <a:bodyPr wrap="square" lIns="0" rIns="0" tIns="0" bIns="0" anchor="ctr">
            <a:spAutoFit/>
          </a:bodyPr>
          <a:lstStyle/>
          <a:p>
            <a:pPr algn="l"/>
            <a:r>
              <a:rPr sz="2000" b="1" i="0">
                <a:solidFill>
                  <a:srgbClr val="0F5E66"/>
                </a:solidFill>
                <a:latin typeface="Arial"/>
              </a:rPr>
              <a:t>1</a:t>
            </a:r>
          </a:p>
        </p:txBody>
      </p:sp>
      <p:sp>
        <p:nvSpPr>
          <p:cNvPr id="19" name="TextBox 18"/>
          <p:cNvSpPr txBox="1"/>
          <p:nvPr/>
        </p:nvSpPr>
        <p:spPr>
          <a:xfrm>
            <a:off x="6446520" y="1463040"/>
            <a:ext cx="4846320" cy="713232"/>
          </a:xfrm>
          <a:prstGeom prst="rect">
            <a:avLst/>
          </a:prstGeom>
          <a:noFill/>
        </p:spPr>
        <p:txBody>
          <a:bodyPr wrap="square" lIns="0" rIns="0" tIns="0" bIns="0" anchor="ctr">
            <a:spAutoFit/>
          </a:bodyPr>
          <a:lstStyle/>
          <a:p>
            <a:pPr algn="l"/>
            <a:r>
              <a:rPr sz="1400" b="0" i="0">
                <a:solidFill>
                  <a:srgbClr val="232322"/>
                </a:solidFill>
                <a:latin typeface="Arial"/>
              </a:rPr>
              <a:t>Acurácia muito alta dispara uma auditoria do rótulo, não uma comemoração.</a:t>
            </a:r>
          </a:p>
        </p:txBody>
      </p:sp>
      <p:sp>
        <p:nvSpPr>
          <p:cNvPr id="20" name="Rounded Rectangle 19"/>
          <p:cNvSpPr/>
          <p:nvPr/>
        </p:nvSpPr>
        <p:spPr>
          <a:xfrm>
            <a:off x="5806440" y="2313432"/>
            <a:ext cx="5669280" cy="713232"/>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313432"/>
            <a:ext cx="457200" cy="713232"/>
          </a:xfrm>
          <a:prstGeom prst="rect">
            <a:avLst/>
          </a:prstGeom>
          <a:noFill/>
        </p:spPr>
        <p:txBody>
          <a:bodyPr wrap="square" lIns="0" rIns="0" tIns="0" bIns="0" anchor="ctr">
            <a:spAutoFit/>
          </a:bodyPr>
          <a:lstStyle/>
          <a:p>
            <a:pPr algn="l"/>
            <a:r>
              <a:rPr sz="2000" b="1" i="0">
                <a:solidFill>
                  <a:srgbClr val="0F5E66"/>
                </a:solidFill>
                <a:latin typeface="Arial"/>
              </a:rPr>
              <a:t>2</a:t>
            </a:r>
          </a:p>
        </p:txBody>
      </p:sp>
      <p:sp>
        <p:nvSpPr>
          <p:cNvPr id="22" name="TextBox 21"/>
          <p:cNvSpPr txBox="1"/>
          <p:nvPr/>
        </p:nvSpPr>
        <p:spPr>
          <a:xfrm>
            <a:off x="6446520" y="2313432"/>
            <a:ext cx="4846320" cy="713232"/>
          </a:xfrm>
          <a:prstGeom prst="rect">
            <a:avLst/>
          </a:prstGeom>
          <a:noFill/>
        </p:spPr>
        <p:txBody>
          <a:bodyPr wrap="square" lIns="0" rIns="0" tIns="0" bIns="0" anchor="ctr">
            <a:spAutoFit/>
          </a:bodyPr>
          <a:lstStyle/>
          <a:p>
            <a:pPr algn="l"/>
            <a:r>
              <a:rPr sz="1400" b="0" i="0">
                <a:solidFill>
                  <a:srgbClr val="232322"/>
                </a:solidFill>
                <a:latin typeface="Arial"/>
              </a:rPr>
              <a:t>Nenhuma variável usada para gerar o rótulo entra como atributo.</a:t>
            </a:r>
          </a:p>
        </p:txBody>
      </p:sp>
      <p:sp>
        <p:nvSpPr>
          <p:cNvPr id="23" name="Rounded Rectangle 22"/>
          <p:cNvSpPr/>
          <p:nvPr/>
        </p:nvSpPr>
        <p:spPr>
          <a:xfrm>
            <a:off x="5806440" y="3163824"/>
            <a:ext cx="5669280" cy="713232"/>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163824"/>
            <a:ext cx="457200" cy="713232"/>
          </a:xfrm>
          <a:prstGeom prst="rect">
            <a:avLst/>
          </a:prstGeom>
          <a:noFill/>
        </p:spPr>
        <p:txBody>
          <a:bodyPr wrap="square" lIns="0" rIns="0" tIns="0" bIns="0" anchor="ctr">
            <a:spAutoFit/>
          </a:bodyPr>
          <a:lstStyle/>
          <a:p>
            <a:pPr algn="l"/>
            <a:r>
              <a:rPr sz="2000" b="1" i="0">
                <a:solidFill>
                  <a:srgbClr val="0F5E66"/>
                </a:solidFill>
                <a:latin typeface="Arial"/>
              </a:rPr>
              <a:t>3</a:t>
            </a:r>
          </a:p>
        </p:txBody>
      </p:sp>
      <p:sp>
        <p:nvSpPr>
          <p:cNvPr id="25" name="TextBox 24"/>
          <p:cNvSpPr txBox="1"/>
          <p:nvPr/>
        </p:nvSpPr>
        <p:spPr>
          <a:xfrm>
            <a:off x="6446520" y="3163824"/>
            <a:ext cx="4846320" cy="713232"/>
          </a:xfrm>
          <a:prstGeom prst="rect">
            <a:avLst/>
          </a:prstGeom>
          <a:noFill/>
        </p:spPr>
        <p:txBody>
          <a:bodyPr wrap="square" lIns="0" rIns="0" tIns="0" bIns="0" anchor="ctr">
            <a:spAutoFit/>
          </a:bodyPr>
          <a:lstStyle/>
          <a:p>
            <a:pPr algn="l"/>
            <a:r>
              <a:rPr sz="1400" b="0" i="0">
                <a:solidFill>
                  <a:srgbClr val="232322"/>
                </a:solidFill>
                <a:latin typeface="Arial"/>
              </a:rPr>
              <a:t>Use um indicador explícito para “não encontrado”, não valores-sentinela.</a:t>
            </a:r>
          </a:p>
        </p:txBody>
      </p:sp>
      <p:sp>
        <p:nvSpPr>
          <p:cNvPr id="26" name="Rounded Rectangle 25"/>
          <p:cNvSpPr/>
          <p:nvPr/>
        </p:nvSpPr>
        <p:spPr>
          <a:xfrm>
            <a:off x="5806440" y="4014216"/>
            <a:ext cx="5669280" cy="713232"/>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4014216"/>
            <a:ext cx="457200" cy="713232"/>
          </a:xfrm>
          <a:prstGeom prst="rect">
            <a:avLst/>
          </a:prstGeom>
          <a:noFill/>
        </p:spPr>
        <p:txBody>
          <a:bodyPr wrap="square" lIns="0" rIns="0" tIns="0" bIns="0" anchor="ctr">
            <a:spAutoFit/>
          </a:bodyPr>
          <a:lstStyle/>
          <a:p>
            <a:pPr algn="l"/>
            <a:r>
              <a:rPr sz="2000" b="1" i="0">
                <a:solidFill>
                  <a:srgbClr val="0F5E66"/>
                </a:solidFill>
                <a:latin typeface="Arial"/>
              </a:rPr>
              <a:t>4</a:t>
            </a:r>
          </a:p>
        </p:txBody>
      </p:sp>
      <p:sp>
        <p:nvSpPr>
          <p:cNvPr id="28" name="TextBox 27"/>
          <p:cNvSpPr txBox="1"/>
          <p:nvPr/>
        </p:nvSpPr>
        <p:spPr>
          <a:xfrm>
            <a:off x="6446520" y="4014216"/>
            <a:ext cx="4846320" cy="713232"/>
          </a:xfrm>
          <a:prstGeom prst="rect">
            <a:avLst/>
          </a:prstGeom>
          <a:noFill/>
        </p:spPr>
        <p:txBody>
          <a:bodyPr wrap="square" lIns="0" rIns="0" tIns="0" bIns="0" anchor="ctr">
            <a:spAutoFit/>
          </a:bodyPr>
          <a:lstStyle/>
          <a:p>
            <a:pPr algn="l"/>
            <a:r>
              <a:rPr sz="1400" b="0" i="0">
                <a:solidFill>
                  <a:srgbClr val="232322"/>
                </a:solidFill>
                <a:latin typeface="Arial"/>
              </a:rPr>
              <a:t>Escolha o modelo pelo recall de exceções, sob precisão mínima.</a:t>
            </a:r>
          </a:p>
        </p:txBody>
      </p:sp>
      <p:sp>
        <p:nvSpPr>
          <p:cNvPr id="29" name="Rounded Rectangle 28"/>
          <p:cNvSpPr/>
          <p:nvPr/>
        </p:nvSpPr>
        <p:spPr>
          <a:xfrm>
            <a:off x="5806440" y="4864608"/>
            <a:ext cx="5669280" cy="713232"/>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4864608"/>
            <a:ext cx="457200" cy="713232"/>
          </a:xfrm>
          <a:prstGeom prst="rect">
            <a:avLst/>
          </a:prstGeom>
          <a:noFill/>
        </p:spPr>
        <p:txBody>
          <a:bodyPr wrap="square" lIns="0" rIns="0" tIns="0" bIns="0" anchor="ctr">
            <a:spAutoFit/>
          </a:bodyPr>
          <a:lstStyle/>
          <a:p>
            <a:pPr algn="l"/>
            <a:r>
              <a:rPr sz="2000" b="1" i="0">
                <a:solidFill>
                  <a:srgbClr val="0F5E66"/>
                </a:solidFill>
                <a:latin typeface="Arial"/>
              </a:rPr>
              <a:t>5</a:t>
            </a:r>
          </a:p>
        </p:txBody>
      </p:sp>
      <p:sp>
        <p:nvSpPr>
          <p:cNvPr id="31" name="TextBox 30"/>
          <p:cNvSpPr txBox="1"/>
          <p:nvPr/>
        </p:nvSpPr>
        <p:spPr>
          <a:xfrm>
            <a:off x="6446520" y="4864608"/>
            <a:ext cx="4846320" cy="713232"/>
          </a:xfrm>
          <a:prstGeom prst="rect">
            <a:avLst/>
          </a:prstGeom>
          <a:noFill/>
        </p:spPr>
        <p:txBody>
          <a:bodyPr wrap="square" lIns="0" rIns="0" tIns="0" bIns="0" anchor="ctr">
            <a:spAutoFit/>
          </a:bodyPr>
          <a:lstStyle/>
          <a:p>
            <a:pPr algn="l"/>
            <a:r>
              <a:rPr sz="1400" b="0" i="0">
                <a:solidFill>
                  <a:srgbClr val="232322"/>
                </a:solidFill>
                <a:latin typeface="Arial"/>
              </a:rPr>
              <a:t>Olhe a matriz de confusão, não só as métricas agregadas.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Limitações e próximos passos</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Rounded Rectangle 4"/>
          <p:cNvSpPr/>
          <p:nvPr/>
        </p:nvSpPr>
        <p:spPr>
          <a:xfrm>
            <a:off x="548640" y="1463040"/>
            <a:ext cx="3474720" cy="292608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737360"/>
            <a:ext cx="777240" cy="77724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Flask_white.png"/>
          <p:cNvPicPr>
            <a:picLocks noChangeAspect="1"/>
          </p:cNvPicPr>
          <p:nvPr/>
        </p:nvPicPr>
        <p:blipFill>
          <a:blip r:embed="rId3"/>
          <a:stretch>
            <a:fillRect/>
          </a:stretch>
        </p:blipFill>
        <p:spPr>
          <a:xfrm>
            <a:off x="1017269" y="1931669"/>
            <a:ext cx="388620" cy="388620"/>
          </a:xfrm>
          <a:prstGeom prst="rect">
            <a:avLst/>
          </a:prstGeom>
        </p:spPr>
      </p:pic>
      <p:sp>
        <p:nvSpPr>
          <p:cNvPr id="8" name="TextBox 7"/>
          <p:cNvSpPr txBox="1"/>
          <p:nvPr/>
        </p:nvSpPr>
        <p:spPr>
          <a:xfrm>
            <a:off x="822959" y="2743200"/>
            <a:ext cx="2926080" cy="411480"/>
          </a:xfrm>
          <a:prstGeom prst="rect">
            <a:avLst/>
          </a:prstGeom>
          <a:noFill/>
        </p:spPr>
        <p:txBody>
          <a:bodyPr wrap="square" lIns="0" rIns="0" tIns="0" bIns="0" anchor="t">
            <a:spAutoFit/>
          </a:bodyPr>
          <a:lstStyle/>
          <a:p>
            <a:pPr algn="l"/>
            <a:r>
              <a:rPr sz="1800" b="1" i="0">
                <a:solidFill>
                  <a:srgbClr val="232322"/>
                </a:solidFill>
                <a:latin typeface="Arial"/>
              </a:rPr>
              <a:t>Dados simulados</a:t>
            </a:r>
          </a:p>
        </p:txBody>
      </p:sp>
      <p:sp>
        <p:nvSpPr>
          <p:cNvPr id="9" name="TextBox 8"/>
          <p:cNvSpPr txBox="1"/>
          <p:nvPr/>
        </p:nvSpPr>
        <p:spPr>
          <a:xfrm>
            <a:off x="822959" y="3200400"/>
            <a:ext cx="2926080" cy="1097280"/>
          </a:xfrm>
          <a:prstGeom prst="rect">
            <a:avLst/>
          </a:prstGeom>
          <a:noFill/>
        </p:spPr>
        <p:txBody>
          <a:bodyPr wrap="square" lIns="0" rIns="0" tIns="0" bIns="0" anchor="t">
            <a:spAutoFit/>
          </a:bodyPr>
          <a:lstStyle/>
          <a:p>
            <a:pPr algn="l"/>
            <a:r>
              <a:rPr sz="1400" b="1" i="0">
                <a:solidFill>
                  <a:srgbClr val="0F5E66"/>
                </a:solidFill>
                <a:latin typeface="Arial"/>
              </a:rPr>
              <a:t>Próximo passo: </a:t>
            </a:r>
            <a:r>
              <a:rPr sz="1400" b="0" i="0">
                <a:solidFill>
                  <a:srgbClr val="232322"/>
                </a:solidFill>
                <a:latin typeface="Arial"/>
              </a:rPr>
              <a:t>Validar com base real, rotulada por especialistas.</a:t>
            </a:r>
          </a:p>
        </p:txBody>
      </p:sp>
      <p:sp>
        <p:nvSpPr>
          <p:cNvPr id="10" name="Rounded Rectangle 9"/>
          <p:cNvSpPr/>
          <p:nvPr/>
        </p:nvSpPr>
        <p:spPr>
          <a:xfrm>
            <a:off x="4251959" y="1463040"/>
            <a:ext cx="3474720" cy="292608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79" y="1737360"/>
            <a:ext cx="777240" cy="77724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Shuffle_white.png"/>
          <p:cNvPicPr>
            <a:picLocks noChangeAspect="1"/>
          </p:cNvPicPr>
          <p:nvPr/>
        </p:nvPicPr>
        <p:blipFill>
          <a:blip r:embed="rId4"/>
          <a:stretch>
            <a:fillRect/>
          </a:stretch>
        </p:blipFill>
        <p:spPr>
          <a:xfrm>
            <a:off x="4720590" y="1931669"/>
            <a:ext cx="388620" cy="388620"/>
          </a:xfrm>
          <a:prstGeom prst="rect">
            <a:avLst/>
          </a:prstGeom>
        </p:spPr>
      </p:pic>
      <p:sp>
        <p:nvSpPr>
          <p:cNvPr id="13" name="TextBox 12"/>
          <p:cNvSpPr txBox="1"/>
          <p:nvPr/>
        </p:nvSpPr>
        <p:spPr>
          <a:xfrm>
            <a:off x="4526279" y="2743200"/>
            <a:ext cx="2926080" cy="411480"/>
          </a:xfrm>
          <a:prstGeom prst="rect">
            <a:avLst/>
          </a:prstGeom>
          <a:noFill/>
        </p:spPr>
        <p:txBody>
          <a:bodyPr wrap="square" lIns="0" rIns="0" tIns="0" bIns="0" anchor="t">
            <a:spAutoFit/>
          </a:bodyPr>
          <a:lstStyle/>
          <a:p>
            <a:pPr algn="l"/>
            <a:r>
              <a:rPr sz="1800" b="1" i="0">
                <a:solidFill>
                  <a:srgbClr val="232322"/>
                </a:solidFill>
                <a:latin typeface="Arial"/>
              </a:rPr>
              <a:t>Pareamento um-para-um</a:t>
            </a:r>
          </a:p>
        </p:txBody>
      </p:sp>
      <p:sp>
        <p:nvSpPr>
          <p:cNvPr id="14" name="TextBox 13"/>
          <p:cNvSpPr txBox="1"/>
          <p:nvPr/>
        </p:nvSpPr>
        <p:spPr>
          <a:xfrm>
            <a:off x="4526279" y="3200400"/>
            <a:ext cx="2926080" cy="1097280"/>
          </a:xfrm>
          <a:prstGeom prst="rect">
            <a:avLst/>
          </a:prstGeom>
          <a:noFill/>
        </p:spPr>
        <p:txBody>
          <a:bodyPr wrap="square" lIns="0" rIns="0" tIns="0" bIns="0" anchor="t">
            <a:spAutoFit/>
          </a:bodyPr>
          <a:lstStyle/>
          <a:p>
            <a:pPr algn="l"/>
            <a:r>
              <a:rPr sz="1400" b="1" i="0">
                <a:solidFill>
                  <a:srgbClr val="0F5E66"/>
                </a:solidFill>
                <a:latin typeface="Arial"/>
              </a:rPr>
              <a:t>Próximo passo: </a:t>
            </a:r>
            <a:r>
              <a:rPr sz="1400" b="0" i="0">
                <a:solidFill>
                  <a:srgbClr val="232322"/>
                </a:solidFill>
                <a:latin typeface="Arial"/>
              </a:rPr>
              <a:t>Um pagamento pode quitar várias notas, e uma nota ser paga em parcelas.</a:t>
            </a:r>
          </a:p>
        </p:txBody>
      </p:sp>
      <p:sp>
        <p:nvSpPr>
          <p:cNvPr id="15" name="Rounded Rectangle 14"/>
          <p:cNvSpPr/>
          <p:nvPr/>
        </p:nvSpPr>
        <p:spPr>
          <a:xfrm>
            <a:off x="7955279" y="1463040"/>
            <a:ext cx="3474720" cy="2926080"/>
          </a:xfrm>
          <a:prstGeom prst="roundRect">
            <a:avLst>
              <a:gd name="adj" fmla="val 8000"/>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0" y="1737360"/>
            <a:ext cx="777240" cy="777240"/>
          </a:xfrm>
          <a:prstGeom prst="ellipse">
            <a:avLst/>
          </a:prstGeom>
          <a:solidFill>
            <a:srgbClr val="0F5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ScaleBalanced_white.png"/>
          <p:cNvPicPr>
            <a:picLocks noChangeAspect="1"/>
          </p:cNvPicPr>
          <p:nvPr/>
        </p:nvPicPr>
        <p:blipFill>
          <a:blip r:embed="rId5"/>
          <a:stretch>
            <a:fillRect/>
          </a:stretch>
        </p:blipFill>
        <p:spPr>
          <a:xfrm>
            <a:off x="8423910" y="1931669"/>
            <a:ext cx="388620" cy="388620"/>
          </a:xfrm>
          <a:prstGeom prst="rect">
            <a:avLst/>
          </a:prstGeom>
        </p:spPr>
      </p:pic>
      <p:sp>
        <p:nvSpPr>
          <p:cNvPr id="18" name="TextBox 17"/>
          <p:cNvSpPr txBox="1"/>
          <p:nvPr/>
        </p:nvSpPr>
        <p:spPr>
          <a:xfrm>
            <a:off x="8229600" y="2743200"/>
            <a:ext cx="2926080" cy="411480"/>
          </a:xfrm>
          <a:prstGeom prst="rect">
            <a:avLst/>
          </a:prstGeom>
          <a:noFill/>
        </p:spPr>
        <p:txBody>
          <a:bodyPr wrap="square" lIns="0" rIns="0" tIns="0" bIns="0" anchor="t">
            <a:spAutoFit/>
          </a:bodyPr>
          <a:lstStyle/>
          <a:p>
            <a:pPr algn="l"/>
            <a:r>
              <a:rPr sz="1800" b="1" i="0">
                <a:solidFill>
                  <a:srgbClr val="232322"/>
                </a:solidFill>
                <a:latin typeface="Arial"/>
              </a:rPr>
              <a:t>Sem linha de base</a:t>
            </a:r>
          </a:p>
        </p:txBody>
      </p:sp>
      <p:sp>
        <p:nvSpPr>
          <p:cNvPr id="19" name="TextBox 18"/>
          <p:cNvSpPr txBox="1"/>
          <p:nvPr/>
        </p:nvSpPr>
        <p:spPr>
          <a:xfrm>
            <a:off x="8229600" y="3200400"/>
            <a:ext cx="2926080" cy="1097280"/>
          </a:xfrm>
          <a:prstGeom prst="rect">
            <a:avLst/>
          </a:prstGeom>
          <a:noFill/>
        </p:spPr>
        <p:txBody>
          <a:bodyPr wrap="square" lIns="0" rIns="0" tIns="0" bIns="0" anchor="t">
            <a:spAutoFit/>
          </a:bodyPr>
          <a:lstStyle/>
          <a:p>
            <a:pPr algn="l"/>
            <a:r>
              <a:rPr sz="1400" b="1" i="0">
                <a:solidFill>
                  <a:srgbClr val="0F5E66"/>
                </a:solidFill>
                <a:latin typeface="Arial"/>
              </a:rPr>
              <a:t>Próximo passo: </a:t>
            </a:r>
            <a:r>
              <a:rPr sz="1400" b="0" i="0">
                <a:solidFill>
                  <a:srgbClr val="232322"/>
                </a:solidFill>
                <a:latin typeface="Arial"/>
              </a:rPr>
              <a:t>Comparar com regras e com detecção de anomalias, que dispensa rótulo.</a:t>
            </a:r>
          </a:p>
        </p:txBody>
      </p:sp>
      <p:sp>
        <p:nvSpPr>
          <p:cNvPr id="20" name="Rounded Rectangle 19"/>
          <p:cNvSpPr/>
          <p:nvPr/>
        </p:nvSpPr>
        <p:spPr>
          <a:xfrm>
            <a:off x="548640" y="4663440"/>
            <a:ext cx="10881360" cy="1051560"/>
          </a:xfrm>
          <a:prstGeom prst="roundRect">
            <a:avLst>
              <a:gd name="adj" fmla="val 8000"/>
            </a:avLst>
          </a:prstGeom>
          <a:solidFill>
            <a:srgbClr val="E4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663440"/>
            <a:ext cx="10332720" cy="1051560"/>
          </a:xfrm>
          <a:prstGeom prst="rect">
            <a:avLst/>
          </a:prstGeom>
          <a:noFill/>
        </p:spPr>
        <p:txBody>
          <a:bodyPr wrap="square" lIns="0" rIns="0" tIns="0" bIns="0" anchor="ctr">
            <a:spAutoFit/>
          </a:bodyPr>
          <a:lstStyle/>
          <a:p>
            <a:pPr algn="l"/>
            <a:r>
              <a:rPr sz="1500" b="1" i="0">
                <a:solidFill>
                  <a:srgbClr val="0F5E66"/>
                </a:solidFill>
                <a:latin typeface="Arial"/>
              </a:rPr>
              <a:t>Lição de método: </a:t>
            </a:r>
            <a:r>
              <a:rPr sz="1500" b="0" i="0">
                <a:solidFill>
                  <a:srgbClr val="232322"/>
                </a:solidFill>
                <a:latin typeface="Arial"/>
              </a:rPr>
              <a:t>cada verificação só enxerga a falha para a qual foi construída. O guarda anti-vazamento não pegou outros dois defeitos; a revisão crítica do código continua insubstituível.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57200"/>
            <a:ext cx="11064240" cy="685800"/>
          </a:xfrm>
        </p:spPr>
        <p:txBody>
          <a:bodyPr lIns="0"/>
          <a:lstStyle/>
          <a:p>
            <a:r>
              <a:rPr sz="3000" b="1">
                <a:latin typeface="Arial"/>
              </a:rPr>
              <a:t>Conclusão</a:t>
            </a:r>
          </a:p>
        </p:txBody>
      </p:sp>
      <p:sp>
        <p:nvSpPr>
          <p:cNvPr id="4" name="Espaço Reservado para Número de Slide 3">
            <a:extLst>
              <a:ext uri="{FF2B5EF4-FFF2-40B4-BE49-F238E27FC236}">
                <a16:creationId xmlns:a16="http://schemas.microsoft.com/office/drawing/2014/main" id="{2AD74168-744F-E3BB-D5BF-25F23C756AEB}"/>
              </a:ext>
            </a:extLst>
          </p:cNvPr>
          <p:cNvSpPr>
            <a:spLocks noGrp="1"/>
          </p:cNvSpPr>
          <p:nvPr>
            <p:ph type="sldNum" sz="quarter" idx="4"/>
          </p:nvPr>
        </p:nvSpPr>
        <p:spPr/>
        <p:txBody>
          <a:bodyPr/>
          <a:lstStyle/>
          <a:p>
            <a:fld id="{7B58D627-8645-4500-8107-4CE8680A0AB8}" type="slidenum">
              <a:rPr lang="pt-BR" smtClean="0"/>
              <a:pPr/>
              <a:t>2</a:t>
            </a:fld>
            <a:endParaRPr lang="pt-BR"/>
          </a:p>
        </p:txBody>
      </p:sp>
      <p:sp>
        <p:nvSpPr>
          <p:cNvPr id="5" name="TextBox 4"/>
          <p:cNvSpPr txBox="1"/>
          <p:nvPr/>
        </p:nvSpPr>
        <p:spPr>
          <a:xfrm>
            <a:off x="548640" y="1737360"/>
            <a:ext cx="10515600" cy="2377440"/>
          </a:xfrm>
          <a:prstGeom prst="rect">
            <a:avLst/>
          </a:prstGeom>
          <a:noFill/>
        </p:spPr>
        <p:txBody>
          <a:bodyPr wrap="square" lIns="0" rIns="0" tIns="0" bIns="0" anchor="t">
            <a:spAutoFit/>
          </a:bodyPr>
          <a:lstStyle/>
          <a:p>
            <a:pPr algn="l"/>
            <a:r>
              <a:rPr sz="3600" b="1" i="0">
                <a:solidFill>
                  <a:srgbClr val="232322"/>
                </a:solidFill>
                <a:latin typeface="Arial"/>
              </a:rPr>
              <a:t>Na conciliação automatizada, </a:t>
            </a:r>
            <a:r>
              <a:rPr sz="3600" b="1" i="0">
                <a:solidFill>
                  <a:srgbClr val="0F5E66"/>
                </a:solidFill>
                <a:latin typeface="Arial"/>
              </a:rPr>
              <a:t>a representação dos dados</a:t>
            </a:r>
            <a:r>
              <a:rPr sz="3600" b="1" i="0">
                <a:solidFill>
                  <a:srgbClr val="232322"/>
                </a:solidFill>
                <a:latin typeface="Arial"/>
              </a:rPr>
              <a:t> e </a:t>
            </a:r>
            <a:r>
              <a:rPr sz="3600" b="1" i="0">
                <a:solidFill>
                  <a:srgbClr val="0F5E66"/>
                </a:solidFill>
                <a:latin typeface="Arial"/>
              </a:rPr>
              <a:t>a origem do rótulo</a:t>
            </a:r>
            <a:r>
              <a:rPr sz="3600" b="1" i="0">
                <a:solidFill>
                  <a:srgbClr val="232322"/>
                </a:solidFill>
                <a:latin typeface="Arial"/>
              </a:rPr>
              <a:t> pesam mais do que a escolha do algoritmo.</a:t>
            </a:r>
          </a:p>
        </p:txBody>
      </p:sp>
      <p:sp>
        <p:nvSpPr>
          <p:cNvPr id="6" name="TextBox 5"/>
          <p:cNvSpPr txBox="1"/>
          <p:nvPr/>
        </p:nvSpPr>
        <p:spPr>
          <a:xfrm>
            <a:off x="548640" y="4343400"/>
            <a:ext cx="10058400" cy="914400"/>
          </a:xfrm>
          <a:prstGeom prst="rect">
            <a:avLst/>
          </a:prstGeom>
          <a:noFill/>
        </p:spPr>
        <p:txBody>
          <a:bodyPr wrap="square" lIns="0" rIns="0" tIns="0" bIns="0" anchor="t">
            <a:spAutoFit/>
          </a:bodyPr>
          <a:lstStyle/>
          <a:p>
            <a:pPr algn="l"/>
            <a:r>
              <a:rPr sz="1800" b="0" i="0">
                <a:solidFill>
                  <a:srgbClr val="5F5F5B"/>
                </a:solidFill>
                <a:latin typeface="Arial"/>
              </a:rPr>
              <a:t>O melhor algoritmo foi a Random Forest. A lição mais importante foi outra.</a:t>
            </a:r>
          </a:p>
        </p:txBody>
      </p:sp>
    </p:spTree>
  </p:cSld>
  <p:clrMapOvr>
    <a:masterClrMapping/>
  </p:clrMapOvr>
</p:sld>
</file>

<file path=ppt/theme/theme1.xml><?xml version="1.0" encoding="utf-8"?>
<a:theme xmlns:a="http://schemas.openxmlformats.org/drawingml/2006/main" name="Tema do Office">
  <a:themeElements>
    <a:clrScheme name="Paleta MBX">
      <a:dk1>
        <a:srgbClr val="232322"/>
      </a:dk1>
      <a:lt1>
        <a:srgbClr val="FDFDFB"/>
      </a:lt1>
      <a:dk2>
        <a:srgbClr val="232323"/>
      </a:dk2>
      <a:lt2>
        <a:srgbClr val="F5F5F5"/>
      </a:lt2>
      <a:accent1>
        <a:srgbClr val="FEC900"/>
      </a:accent1>
      <a:accent2>
        <a:srgbClr val="2DBA2E"/>
      </a:accent2>
      <a:accent3>
        <a:srgbClr val="40C9D9"/>
      </a:accent3>
      <a:accent4>
        <a:srgbClr val="0558FF"/>
      </a:accent4>
      <a:accent5>
        <a:srgbClr val="9B45FE"/>
      </a:accent5>
      <a:accent6>
        <a:srgbClr val="F23300"/>
      </a:accent6>
      <a:hlink>
        <a:srgbClr val="2547C2"/>
      </a:hlink>
      <a:folHlink>
        <a:srgbClr val="4580C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e7d8aaf-77fb-4419-819f-502bcc31ffe3">
      <Terms xmlns="http://schemas.microsoft.com/office/infopath/2007/PartnerControls"/>
    </lcf76f155ced4ddcb4097134ff3c332f>
    <TaxCatchAll xmlns="2c89dc19-a755-4b1f-8ccb-ddc282e0297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08CFA7B293EDBE4DB98FBC161D82B39F" ma:contentTypeVersion="15" ma:contentTypeDescription="Crie um novo documento." ma:contentTypeScope="" ma:versionID="ed78836dbbd60ef5b47f46abba0ddc66">
  <xsd:schema xmlns:xsd="http://www.w3.org/2001/XMLSchema" xmlns:xs="http://www.w3.org/2001/XMLSchema" xmlns:p="http://schemas.microsoft.com/office/2006/metadata/properties" xmlns:ns2="2c89dc19-a755-4b1f-8ccb-ddc282e02978" xmlns:ns3="1e7d8aaf-77fb-4419-819f-502bcc31ffe3" targetNamespace="http://schemas.microsoft.com/office/2006/metadata/properties" ma:root="true" ma:fieldsID="f28b1225859e7fd7734d1009df438026" ns2:_="" ns3:_="">
    <xsd:import namespace="2c89dc19-a755-4b1f-8ccb-ddc282e02978"/>
    <xsd:import namespace="1e7d8aaf-77fb-4419-819f-502bcc31ffe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Location"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89dc19-a755-4b1f-8ccb-ddc282e02978"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1b121cd5-3768-42a0-b312-b7830db9b9b1}" ma:internalName="TaxCatchAll" ma:showField="CatchAllData" ma:web="2c89dc19-a755-4b1f-8ccb-ddc282e029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e7d8aaf-77fb-4419-819f-502bcc31ffe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cf329bc3-ce7e-4e75-9c56-962f8f350e4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C896A0-78C2-4ABD-87A4-739E33B2CADD}">
  <ds:schemaRefs>
    <ds:schemaRef ds:uri="http://purl.org/dc/elements/1.1/"/>
    <ds:schemaRef ds:uri="http://www.w3.org/XML/1998/namespace"/>
    <ds:schemaRef ds:uri="http://purl.org/dc/terms/"/>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45bd9b4a-47bd-4c71-9096-100877aa1038"/>
    <ds:schemaRef ds:uri="5e253ad8-99bc-4895-b377-eab5d2679348"/>
  </ds:schemaRefs>
</ds:datastoreItem>
</file>

<file path=customXml/itemProps2.xml><?xml version="1.0" encoding="utf-8"?>
<ds:datastoreItem xmlns:ds="http://schemas.openxmlformats.org/officeDocument/2006/customXml" ds:itemID="{A886447D-945F-422F-90FA-B1337CE301C2}"/>
</file>

<file path=customXml/itemProps3.xml><?xml version="1.0" encoding="utf-8"?>
<ds:datastoreItem xmlns:ds="http://schemas.openxmlformats.org/officeDocument/2006/customXml" ds:itemID="{116E03E0-DC46-4B42-8158-11F6D08360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254</TotalTime>
  <Words>18</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3</vt:i4>
      </vt:variant>
    </vt:vector>
  </HeadingPairs>
  <TitlesOfParts>
    <vt:vector size="6" baseType="lpstr">
      <vt:lpstr>Aptos</vt:lpstr>
      <vt:lpstr>Arial</vt:lpstr>
      <vt:lpstr>Tema do Office</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Augusto Murbach Neto</dc:creator>
  <cp:lastModifiedBy>Alline Mariá Schumann</cp:lastModifiedBy>
  <cp:revision>3</cp:revision>
  <dcterms:created xsi:type="dcterms:W3CDTF">2025-04-23T12:30:03Z</dcterms:created>
  <dcterms:modified xsi:type="dcterms:W3CDTF">2025-09-29T18:00:09Z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0x01010008CFA7B293EDBE4DB98FBC161D82B39F</vt:lpwstr>
  </property>
</Properties>
</file>